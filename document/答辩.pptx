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51"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7" r:id="rId20"/>
    <p:sldId id="278" r:id="rId21"/>
    <p:sldId id="279" r:id="rId22"/>
    <p:sldId id="280" r:id="rId23"/>
    <p:sldId id="275" r:id="rId24"/>
    <p:sldId id="271" r:id="rId25"/>
    <p:sldId id="272" r:id="rId26"/>
    <p:sldId id="273" r:id="rId27"/>
  </p:sldIdLst>
  <p:sldSz cx="12192000" cy="6858000"/>
  <p:notesSz cx="6858000" cy="12192000"/>
  <p:embeddedFontLst>
    <p:embeddedFont>
      <p:font typeface="MiSans" pitchFamily="34" charset="-122"/>
      <p:regular r:id="rId31"/>
    </p:embeddedFont>
    <p:embeddedFont>
      <p:font typeface="MiSans" pitchFamily="34" charset="-120"/>
      <p:regular r:id="rId32"/>
    </p:embeddedFont>
    <p:embeddedFont>
      <p:font typeface="Calibri" panose="020F0502020204030204" charset="0"/>
      <p:regular r:id="rId33"/>
      <p:bold r:id="rId34"/>
      <p:italic r:id="rId35"/>
      <p:boldItalic r:id="rId36"/>
    </p:embeddedFont>
    <p:embeddedFont>
      <p:font typeface="等线" panose="02010600030101010101" charset="-122"/>
      <p:regular r:id="rId3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7" Type="http://schemas.openxmlformats.org/officeDocument/2006/relationships/font" Target="fonts/font7.fntdata"/><Relationship Id="rId36" Type="http://schemas.openxmlformats.org/officeDocument/2006/relationships/font" Target="fonts/font6.fntdata"/><Relationship Id="rId35" Type="http://schemas.openxmlformats.org/officeDocument/2006/relationships/font" Target="fonts/font5.fntdata"/><Relationship Id="rId34" Type="http://schemas.openxmlformats.org/officeDocument/2006/relationships/font" Target="fonts/font4.fntdata"/><Relationship Id="rId33" Type="http://schemas.openxmlformats.org/officeDocument/2006/relationships/font" Target="fonts/font3.fntdata"/><Relationship Id="rId32" Type="http://schemas.openxmlformats.org/officeDocument/2006/relationships/font" Target="fonts/font2.fntdata"/><Relationship Id="rId31" Type="http://schemas.openxmlformats.org/officeDocument/2006/relationships/font" Target="fonts/font1.fntdata"/><Relationship Id="rId30" Type="http://schemas.openxmlformats.org/officeDocument/2006/relationships/tableStyles" Target="tableStyles.xml"/><Relationship Id="rId3" Type="http://schemas.openxmlformats.org/officeDocument/2006/relationships/slideMaster" Target="slideMasters/slideMaster2.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1"/>
    <p:sldLayoutId id="2147483653"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slideLayout" Target="../slideLayouts/slideLayout1.xml"/><Relationship Id="rId7" Type="http://schemas.openxmlformats.org/officeDocument/2006/relationships/image" Target="../media/image3.png"/><Relationship Id="rId6" Type="http://schemas.openxmlformats.org/officeDocument/2006/relationships/image" Target="../media/image2.png"/><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image" Target="../media/image5.png"/><Relationship Id="rId2" Type="http://schemas.openxmlformats.org/officeDocument/2006/relationships/tags" Target="../tags/tag5.xml"/><Relationship Id="rId16" Type="http://schemas.openxmlformats.org/officeDocument/2006/relationships/notesSlide" Target="../notesSlides/notesSlide2.xml"/><Relationship Id="rId15" Type="http://schemas.openxmlformats.org/officeDocument/2006/relationships/slideLayout" Target="../slideLayouts/slideLayout1.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xml"/><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image" Target="../media/image13.png"/></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tags" Target="../tags/tag15.xml"/><Relationship Id="rId3" Type="http://schemas.openxmlformats.org/officeDocument/2006/relationships/image" Target="../media/image11.png"/><Relationship Id="rId2" Type="http://schemas.openxmlformats.org/officeDocument/2006/relationships/image" Target="../media/image14.png"/><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16.jpe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image" Target="../media/image17.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xml"/><Relationship Id="rId3" Type="http://schemas.openxmlformats.org/officeDocument/2006/relationships/image" Target="../media/image11.png"/><Relationship Id="rId2" Type="http://schemas.openxmlformats.org/officeDocument/2006/relationships/image" Target="../media/image19.png"/><Relationship Id="rId1" Type="http://schemas.openxmlformats.org/officeDocument/2006/relationships/image" Target="../media/image18.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image" Target="../media/image11.png"/><Relationship Id="rId1" Type="http://schemas.openxmlformats.org/officeDocument/2006/relationships/image" Target="../media/image20.png"/></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1.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image" Target="../media/image11.png"/><Relationship Id="rId2" Type="http://schemas.openxmlformats.org/officeDocument/2006/relationships/image" Target="../media/image22.png"/><Relationship Id="rId1" Type="http://schemas.openxmlformats.org/officeDocument/2006/relationships/image" Target="../media/image21.jpe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xml"/><Relationship Id="rId4" Type="http://schemas.openxmlformats.org/officeDocument/2006/relationships/image" Target="../media/image11.png"/><Relationship Id="rId3" Type="http://schemas.openxmlformats.org/officeDocument/2006/relationships/image" Target="../media/image25.jpeg"/><Relationship Id="rId2" Type="http://schemas.openxmlformats.org/officeDocument/2006/relationships/image" Target="../media/image24.png"/><Relationship Id="rId1" Type="http://schemas.openxmlformats.org/officeDocument/2006/relationships/image" Target="../media/image23.jpe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xml"/><Relationship Id="rId3" Type="http://schemas.openxmlformats.org/officeDocument/2006/relationships/image" Target="../media/image11.png"/><Relationship Id="rId2" Type="http://schemas.openxmlformats.org/officeDocument/2006/relationships/image" Target="../media/image27.jpeg"/><Relationship Id="rId1" Type="http://schemas.openxmlformats.org/officeDocument/2006/relationships/image" Target="../media/image26.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image" Target="../media/image28.png"/><Relationship Id="rId12" Type="http://schemas.openxmlformats.org/officeDocument/2006/relationships/slideLayout" Target="../slideLayouts/slideLayout1.xml"/><Relationship Id="rId11" Type="http://schemas.openxmlformats.org/officeDocument/2006/relationships/tags" Target="../tags/tag28.xml"/><Relationship Id="rId10" Type="http://schemas.openxmlformats.org/officeDocument/2006/relationships/tags" Target="../tags/tag27.xml"/><Relationship Id="rId1"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11.png"/></Relationships>
</file>

<file path=ppt/slides/_rels/slide18.xml.rels><?xml version="1.0" encoding="UTF-8" standalone="yes"?>
<Relationships xmlns="http://schemas.openxmlformats.org/package/2006/relationships"><Relationship Id="rId9" Type="http://schemas.openxmlformats.org/officeDocument/2006/relationships/tags" Target="../tags/tag36.xml"/><Relationship Id="rId8" Type="http://schemas.openxmlformats.org/officeDocument/2006/relationships/tags" Target="../tags/tag35.xml"/><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0" Type="http://schemas.openxmlformats.org/officeDocument/2006/relationships/slideLayout" Target="../slideLayouts/slideLayout1.xml"/><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9.png"/><Relationship Id="rId1" Type="http://schemas.openxmlformats.org/officeDocument/2006/relationships/image" Target="../media/image11.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3.xml"/><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9" Type="http://schemas.openxmlformats.org/officeDocument/2006/relationships/tags" Target="../tags/tag44.xml"/><Relationship Id="rId8" Type="http://schemas.openxmlformats.org/officeDocument/2006/relationships/tags" Target="../tags/tag43.xml"/><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image" Target="../media/image11.png"/><Relationship Id="rId4" Type="http://schemas.openxmlformats.org/officeDocument/2006/relationships/tags" Target="../tags/tag40.xml"/><Relationship Id="rId3" Type="http://schemas.openxmlformats.org/officeDocument/2006/relationships/tags" Target="../tags/tag39.xml"/><Relationship Id="rId2" Type="http://schemas.openxmlformats.org/officeDocument/2006/relationships/tags" Target="../tags/tag38.xml"/><Relationship Id="rId14" Type="http://schemas.openxmlformats.org/officeDocument/2006/relationships/notesSlide" Target="../notesSlides/notesSlide17.xml"/><Relationship Id="rId13" Type="http://schemas.openxmlformats.org/officeDocument/2006/relationships/slideLayout" Target="../slideLayouts/slideLayout1.xml"/><Relationship Id="rId12" Type="http://schemas.openxmlformats.org/officeDocument/2006/relationships/image" Target="../media/image3.png"/><Relationship Id="rId11" Type="http://schemas.openxmlformats.org/officeDocument/2006/relationships/tags" Target="../tags/tag46.xml"/><Relationship Id="rId10" Type="http://schemas.openxmlformats.org/officeDocument/2006/relationships/tags" Target="../tags/tag45.xml"/><Relationship Id="rId1" Type="http://schemas.openxmlformats.org/officeDocument/2006/relationships/tags" Target="../tags/tag37.xml"/></Relationships>
</file>

<file path=ppt/slides/_rels/slide22.xml.rels><?xml version="1.0" encoding="UTF-8" standalone="yes"?>
<Relationships xmlns="http://schemas.openxmlformats.org/package/2006/relationships"><Relationship Id="rId9" Type="http://schemas.openxmlformats.org/officeDocument/2006/relationships/tags" Target="../tags/tag53.xml"/><Relationship Id="rId8" Type="http://schemas.openxmlformats.org/officeDocument/2006/relationships/tags" Target="../tags/tag52.xml"/><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image" Target="../media/image11.png"/><Relationship Id="rId2" Type="http://schemas.openxmlformats.org/officeDocument/2006/relationships/image" Target="../media/image30.png"/><Relationship Id="rId11" Type="http://schemas.openxmlformats.org/officeDocument/2006/relationships/notesSlide" Target="../notesSlides/notesSlide18.xml"/><Relationship Id="rId10" Type="http://schemas.openxmlformats.org/officeDocument/2006/relationships/slideLayout" Target="../slideLayouts/slideLayout1.xml"/><Relationship Id="rId1" Type="http://schemas.openxmlformats.org/officeDocument/2006/relationships/tags" Target="../tags/tag47.xml"/></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8-12:55:42-d2v63jlnfo2stf9dk4s0.jpg"/>
          <p:cNvPicPr>
            <a:picLocks noChangeAspect="1"/>
          </p:cNvPicPr>
          <p:nvPr/>
        </p:nvPicPr>
        <p:blipFill>
          <a:blip r:embed="rId1"/>
          <a:srcRect l="2846" t="2254" r="3013" b="8961"/>
          <a:stretch>
            <a:fillRect/>
          </a:stretch>
        </p:blipFill>
        <p:spPr>
          <a:xfrm rot="21600000">
            <a:off x="-21590" y="0"/>
            <a:ext cx="12213590" cy="6870700"/>
          </a:xfrm>
          <a:prstGeom prst="rect">
            <a:avLst/>
          </a:prstGeom>
        </p:spPr>
      </p:pic>
      <p:sp>
        <p:nvSpPr>
          <p:cNvPr id="3" name="Text 0"/>
          <p:cNvSpPr/>
          <p:nvPr/>
        </p:nvSpPr>
        <p:spPr>
          <a:xfrm>
            <a:off x="2140585" y="1882140"/>
            <a:ext cx="7750810" cy="2122805"/>
          </a:xfrm>
          <a:prstGeom prst="rect">
            <a:avLst/>
          </a:prstGeom>
          <a:noFill/>
        </p:spPr>
        <p:txBody>
          <a:bodyPr wrap="square" lIns="91440" tIns="45720" rIns="91440" bIns="45720" rtlCol="0" anchor="t">
            <a:spAutoFit/>
          </a:bodyPr>
          <a:lstStyle/>
          <a:p>
            <a:pPr algn="ctr">
              <a:lnSpc>
                <a:spcPct val="100000"/>
              </a:lnSpc>
            </a:pPr>
            <a:r>
              <a:rPr lang="zh-CN" altLang="en-US" sz="6600" b="1" dirty="0">
                <a:solidFill>
                  <a:srgbClr val="015DBB"/>
                </a:solidFill>
                <a:latin typeface="MiSans" pitchFamily="34" charset="-122"/>
                <a:ea typeface="MiSans" pitchFamily="34" charset="-122"/>
                <a:cs typeface="MiSans" pitchFamily="34" charset="-120"/>
              </a:rPr>
              <a:t>自动化创新实践项目答辩</a:t>
            </a:r>
            <a:endParaRPr lang="zh-CN" altLang="en-US" sz="6600" b="1" dirty="0">
              <a:solidFill>
                <a:srgbClr val="015DBB"/>
              </a:solidFill>
              <a:latin typeface="MiSans" pitchFamily="34" charset="-122"/>
              <a:ea typeface="MiSans" pitchFamily="34" charset="-122"/>
              <a:cs typeface="MiSans" pitchFamily="34" charset="-120"/>
            </a:endParaRPr>
          </a:p>
        </p:txBody>
      </p:sp>
      <p:sp>
        <p:nvSpPr>
          <p:cNvPr id="4" name="Shape 1"/>
          <p:cNvSpPr/>
          <p:nvPr>
            <p:custDataLst>
              <p:tags r:id="rId2"/>
            </p:custDataLst>
          </p:nvPr>
        </p:nvSpPr>
        <p:spPr>
          <a:xfrm>
            <a:off x="3490595" y="4424045"/>
            <a:ext cx="2311400" cy="502920"/>
          </a:xfrm>
          <a:prstGeom prst="roundRect">
            <a:avLst>
              <a:gd name="adj" fmla="val 50000"/>
            </a:avLst>
          </a:prstGeom>
          <a:solidFill>
            <a:srgbClr val="015DBB"/>
          </a:solidFill>
        </p:spPr>
        <p:txBody>
          <a:bodyPr/>
          <a:p>
            <a:endParaRPr lang="zh-CN" altLang="en-US"/>
          </a:p>
        </p:txBody>
      </p:sp>
      <p:sp>
        <p:nvSpPr>
          <p:cNvPr id="5" name="Text 2"/>
          <p:cNvSpPr/>
          <p:nvPr/>
        </p:nvSpPr>
        <p:spPr>
          <a:xfrm>
            <a:off x="3490595" y="4424045"/>
            <a:ext cx="2311400" cy="502920"/>
          </a:xfrm>
          <a:prstGeom prst="rect">
            <a:avLst/>
          </a:prstGeom>
          <a:noFill/>
        </p:spPr>
        <p:txBody>
          <a:bodyPr wrap="square" lIns="45720" tIns="91440" rIns="91440" bIns="45720" rtlCol="0" anchor="ctr"/>
          <a:lstStyle/>
          <a:p>
            <a:pPr>
              <a:lnSpc>
                <a:spcPct val="100000"/>
              </a:lnSpc>
            </a:pPr>
            <a:endParaRPr lang="en-US" sz="1600" dirty="0"/>
          </a:p>
        </p:txBody>
      </p:sp>
      <p:sp>
        <p:nvSpPr>
          <p:cNvPr id="6" name="Text 3"/>
          <p:cNvSpPr/>
          <p:nvPr>
            <p:custDataLst>
              <p:tags r:id="rId3"/>
            </p:custDataLst>
          </p:nvPr>
        </p:nvSpPr>
        <p:spPr>
          <a:xfrm>
            <a:off x="3455670" y="4476115"/>
            <a:ext cx="2385695" cy="398780"/>
          </a:xfrm>
          <a:prstGeom prst="rect">
            <a:avLst/>
          </a:prstGeom>
          <a:noFill/>
        </p:spPr>
        <p:txBody>
          <a:bodyPr wrap="square" lIns="91440" tIns="45720" rIns="91440" bIns="45720" rtlCol="0" anchor="t">
            <a:spAutoFit/>
          </a:bodyPr>
          <a:lstStyle/>
          <a:p>
            <a:pPr algn="ctr">
              <a:lnSpc>
                <a:spcPct val="100000"/>
              </a:lnSpc>
            </a:pPr>
            <a:r>
              <a:rPr lang="en-US" sz="2000" b="1" dirty="0">
                <a:solidFill>
                  <a:srgbClr val="FFFFFF"/>
                </a:solidFill>
                <a:latin typeface="MiSans" pitchFamily="34" charset="-122"/>
                <a:ea typeface="MiSans" pitchFamily="34" charset="-122"/>
                <a:cs typeface="MiSans" pitchFamily="34" charset="-120"/>
              </a:rPr>
              <a:t>汇报人:</a:t>
            </a:r>
            <a:r>
              <a:rPr lang="zh-CN" altLang="en-US" sz="2000" b="1" dirty="0">
                <a:solidFill>
                  <a:srgbClr val="FFFFFF"/>
                </a:solidFill>
                <a:latin typeface="MiSans" pitchFamily="34" charset="-122"/>
                <a:ea typeface="MiSans" pitchFamily="34" charset="-122"/>
                <a:cs typeface="MiSans" pitchFamily="34" charset="-120"/>
              </a:rPr>
              <a:t>郑林郁</a:t>
            </a:r>
            <a:endParaRPr lang="zh-CN" altLang="en-US" sz="2000" b="1" dirty="0">
              <a:solidFill>
                <a:srgbClr val="FFFFFF"/>
              </a:solidFill>
              <a:latin typeface="MiSans" pitchFamily="34" charset="-122"/>
              <a:ea typeface="MiSans" pitchFamily="34" charset="-122"/>
              <a:cs typeface="MiSans" pitchFamily="34" charset="-120"/>
            </a:endParaRPr>
          </a:p>
        </p:txBody>
      </p:sp>
      <p:sp>
        <p:nvSpPr>
          <p:cNvPr id="7" name="Shape 4"/>
          <p:cNvSpPr/>
          <p:nvPr>
            <p:custDataLst>
              <p:tags r:id="rId4"/>
            </p:custDataLst>
          </p:nvPr>
        </p:nvSpPr>
        <p:spPr>
          <a:xfrm>
            <a:off x="6146165" y="4424045"/>
            <a:ext cx="2311400" cy="502920"/>
          </a:xfrm>
          <a:prstGeom prst="roundRect">
            <a:avLst>
              <a:gd name="adj" fmla="val 50000"/>
            </a:avLst>
          </a:prstGeom>
          <a:solidFill>
            <a:srgbClr val="015DBB"/>
          </a:solidFill>
        </p:spPr>
      </p:sp>
      <p:sp>
        <p:nvSpPr>
          <p:cNvPr id="8" name="Text 5"/>
          <p:cNvSpPr/>
          <p:nvPr/>
        </p:nvSpPr>
        <p:spPr>
          <a:xfrm>
            <a:off x="6146165" y="4424045"/>
            <a:ext cx="2311400" cy="502920"/>
          </a:xfrm>
          <a:prstGeom prst="rect">
            <a:avLst/>
          </a:prstGeom>
          <a:noFill/>
        </p:spPr>
        <p:txBody>
          <a:bodyPr wrap="square" lIns="45720" tIns="91440" rIns="91440" bIns="45720" rtlCol="0" anchor="ctr"/>
          <a:lstStyle/>
          <a:p>
            <a:pPr>
              <a:lnSpc>
                <a:spcPct val="100000"/>
              </a:lnSpc>
            </a:pPr>
            <a:endParaRPr lang="en-US" sz="1600" dirty="0"/>
          </a:p>
        </p:txBody>
      </p:sp>
      <p:sp>
        <p:nvSpPr>
          <p:cNvPr id="9" name="Text 6"/>
          <p:cNvSpPr/>
          <p:nvPr>
            <p:custDataLst>
              <p:tags r:id="rId5"/>
            </p:custDataLst>
          </p:nvPr>
        </p:nvSpPr>
        <p:spPr>
          <a:xfrm>
            <a:off x="6111240" y="4476115"/>
            <a:ext cx="2385695" cy="398780"/>
          </a:xfrm>
          <a:prstGeom prst="rect">
            <a:avLst/>
          </a:prstGeom>
          <a:noFill/>
        </p:spPr>
        <p:txBody>
          <a:bodyPr wrap="square" lIns="91440" tIns="45720" rIns="91440" bIns="45720" rtlCol="0" anchor="t">
            <a:spAutoFit/>
          </a:bodyPr>
          <a:lstStyle/>
          <a:p>
            <a:pPr algn="ctr">
              <a:lnSpc>
                <a:spcPct val="100000"/>
              </a:lnSpc>
            </a:pPr>
            <a:r>
              <a:rPr lang="en-US" sz="2000" b="1" dirty="0">
                <a:solidFill>
                  <a:srgbClr val="FFFFFF"/>
                </a:solidFill>
                <a:latin typeface="MiSans" pitchFamily="34" charset="-122"/>
                <a:ea typeface="MiSans" pitchFamily="34" charset="-122"/>
                <a:cs typeface="MiSans" pitchFamily="34" charset="-120"/>
              </a:rPr>
              <a:t>时间:2025/12/27</a:t>
            </a:r>
            <a:endParaRPr lang="en-US" sz="1600" dirty="0"/>
          </a:p>
        </p:txBody>
      </p:sp>
      <p:sp>
        <p:nvSpPr>
          <p:cNvPr id="10" name="Shape 7"/>
          <p:cNvSpPr/>
          <p:nvPr/>
        </p:nvSpPr>
        <p:spPr>
          <a:xfrm>
            <a:off x="893745" y="4728174"/>
            <a:ext cx="1141923" cy="723293"/>
          </a:xfrm>
          <a:custGeom>
            <a:avLst/>
            <a:gdLst/>
            <a:ahLst/>
            <a:cxnLst/>
            <a:rect l="l" t="t" r="r" b="b"/>
            <a:pathLst>
              <a:path w="1141923" h="723293">
                <a:moveTo>
                  <a:pt x="50838" y="25788"/>
                </a:moveTo>
                <a:cubicBezTo>
                  <a:pt x="50838" y="40086"/>
                  <a:pt x="39239" y="51676"/>
                  <a:pt x="24931" y="51676"/>
                </a:cubicBezTo>
                <a:cubicBezTo>
                  <a:pt x="10623" y="51676"/>
                  <a:pt x="-976" y="40086"/>
                  <a:pt x="-976" y="25788"/>
                </a:cubicBezTo>
                <a:cubicBezTo>
                  <a:pt x="-976" y="11490"/>
                  <a:pt x="10623" y="-101"/>
                  <a:pt x="24931" y="-101"/>
                </a:cubicBezTo>
                <a:cubicBezTo>
                  <a:pt x="39233" y="-108"/>
                  <a:pt x="50831" y="11473"/>
                  <a:pt x="50838" y="25763"/>
                </a:cubicBezTo>
                <a:cubicBezTo>
                  <a:pt x="50838" y="25772"/>
                  <a:pt x="50838" y="25780"/>
                  <a:pt x="50838" y="25788"/>
                </a:cubicBezTo>
                <a:close/>
                <a:moveTo>
                  <a:pt x="269068" y="25788"/>
                </a:moveTo>
                <a:cubicBezTo>
                  <a:pt x="269068" y="40086"/>
                  <a:pt x="257469" y="51676"/>
                  <a:pt x="243160" y="51676"/>
                </a:cubicBezTo>
                <a:cubicBezTo>
                  <a:pt x="228853" y="51676"/>
                  <a:pt x="217253" y="40086"/>
                  <a:pt x="217253" y="25788"/>
                </a:cubicBezTo>
                <a:cubicBezTo>
                  <a:pt x="217253" y="11490"/>
                  <a:pt x="228853" y="-101"/>
                  <a:pt x="243160" y="-101"/>
                </a:cubicBezTo>
                <a:cubicBezTo>
                  <a:pt x="257461" y="-84"/>
                  <a:pt x="269051" y="11497"/>
                  <a:pt x="269068" y="25788"/>
                </a:cubicBezTo>
                <a:close/>
                <a:moveTo>
                  <a:pt x="487237" y="25788"/>
                </a:moveTo>
                <a:cubicBezTo>
                  <a:pt x="487237" y="40086"/>
                  <a:pt x="475637" y="51676"/>
                  <a:pt x="461329" y="51676"/>
                </a:cubicBezTo>
                <a:cubicBezTo>
                  <a:pt x="447021" y="51676"/>
                  <a:pt x="435422" y="40086"/>
                  <a:pt x="435422" y="25788"/>
                </a:cubicBezTo>
                <a:cubicBezTo>
                  <a:pt x="435422" y="11490"/>
                  <a:pt x="447021" y="-101"/>
                  <a:pt x="461329" y="-101"/>
                </a:cubicBezTo>
                <a:cubicBezTo>
                  <a:pt x="475631" y="-108"/>
                  <a:pt x="487229" y="11473"/>
                  <a:pt x="487237" y="25763"/>
                </a:cubicBezTo>
                <a:cubicBezTo>
                  <a:pt x="487237" y="25772"/>
                  <a:pt x="487237" y="25780"/>
                  <a:pt x="487237" y="25788"/>
                </a:cubicBezTo>
                <a:close/>
                <a:moveTo>
                  <a:pt x="705466" y="25788"/>
                </a:moveTo>
                <a:cubicBezTo>
                  <a:pt x="705466" y="40086"/>
                  <a:pt x="693867" y="51676"/>
                  <a:pt x="679559" y="51676"/>
                </a:cubicBezTo>
                <a:cubicBezTo>
                  <a:pt x="665250" y="51676"/>
                  <a:pt x="653652" y="40086"/>
                  <a:pt x="653652" y="25788"/>
                </a:cubicBezTo>
                <a:cubicBezTo>
                  <a:pt x="653652" y="11490"/>
                  <a:pt x="665250" y="-101"/>
                  <a:pt x="679559" y="-101"/>
                </a:cubicBezTo>
                <a:cubicBezTo>
                  <a:pt x="693861" y="-108"/>
                  <a:pt x="705458" y="11473"/>
                  <a:pt x="705466" y="25763"/>
                </a:cubicBezTo>
                <a:cubicBezTo>
                  <a:pt x="705466" y="25772"/>
                  <a:pt x="705466" y="25780"/>
                  <a:pt x="705466" y="25788"/>
                </a:cubicBezTo>
                <a:close/>
                <a:moveTo>
                  <a:pt x="923695" y="25788"/>
                </a:moveTo>
                <a:cubicBezTo>
                  <a:pt x="923695" y="40086"/>
                  <a:pt x="912096" y="51676"/>
                  <a:pt x="897788" y="51676"/>
                </a:cubicBezTo>
                <a:cubicBezTo>
                  <a:pt x="883481" y="51676"/>
                  <a:pt x="871881" y="40086"/>
                  <a:pt x="871881" y="25788"/>
                </a:cubicBezTo>
                <a:cubicBezTo>
                  <a:pt x="871881" y="11490"/>
                  <a:pt x="883481" y="-101"/>
                  <a:pt x="897788" y="-101"/>
                </a:cubicBezTo>
                <a:cubicBezTo>
                  <a:pt x="912090" y="-108"/>
                  <a:pt x="923688" y="11473"/>
                  <a:pt x="923695" y="25763"/>
                </a:cubicBezTo>
                <a:cubicBezTo>
                  <a:pt x="923695" y="25772"/>
                  <a:pt x="923695" y="25780"/>
                  <a:pt x="923695" y="25788"/>
                </a:cubicBezTo>
                <a:close/>
                <a:moveTo>
                  <a:pt x="1141923" y="25788"/>
                </a:moveTo>
                <a:cubicBezTo>
                  <a:pt x="1141923" y="40086"/>
                  <a:pt x="1130324" y="51676"/>
                  <a:pt x="1116016" y="51676"/>
                </a:cubicBezTo>
                <a:cubicBezTo>
                  <a:pt x="1101708" y="51676"/>
                  <a:pt x="1090109" y="40086"/>
                  <a:pt x="1090109" y="25788"/>
                </a:cubicBezTo>
                <a:cubicBezTo>
                  <a:pt x="1090109" y="11490"/>
                  <a:pt x="1101708" y="-101"/>
                  <a:pt x="1116016" y="-101"/>
                </a:cubicBezTo>
                <a:cubicBezTo>
                  <a:pt x="1130316" y="-84"/>
                  <a:pt x="1141907" y="11497"/>
                  <a:pt x="1141923" y="25788"/>
                </a:cubicBezTo>
                <a:close/>
                <a:moveTo>
                  <a:pt x="50838" y="193692"/>
                </a:moveTo>
                <a:cubicBezTo>
                  <a:pt x="50838" y="207990"/>
                  <a:pt x="39239" y="219580"/>
                  <a:pt x="24931" y="219580"/>
                </a:cubicBezTo>
                <a:cubicBezTo>
                  <a:pt x="10623" y="219580"/>
                  <a:pt x="-976" y="207990"/>
                  <a:pt x="-976" y="193692"/>
                </a:cubicBezTo>
                <a:cubicBezTo>
                  <a:pt x="-976" y="179394"/>
                  <a:pt x="10623" y="167803"/>
                  <a:pt x="24931" y="167803"/>
                </a:cubicBezTo>
                <a:cubicBezTo>
                  <a:pt x="39233" y="167796"/>
                  <a:pt x="50831" y="179377"/>
                  <a:pt x="50838" y="193668"/>
                </a:cubicBezTo>
                <a:cubicBezTo>
                  <a:pt x="50838" y="193676"/>
                  <a:pt x="50838" y="193684"/>
                  <a:pt x="50838" y="193692"/>
                </a:cubicBezTo>
                <a:close/>
                <a:moveTo>
                  <a:pt x="269068" y="193692"/>
                </a:moveTo>
                <a:cubicBezTo>
                  <a:pt x="269068" y="207990"/>
                  <a:pt x="257469" y="219580"/>
                  <a:pt x="243160" y="219580"/>
                </a:cubicBezTo>
                <a:cubicBezTo>
                  <a:pt x="228853" y="219580"/>
                  <a:pt x="217253" y="207990"/>
                  <a:pt x="217253" y="193692"/>
                </a:cubicBezTo>
                <a:cubicBezTo>
                  <a:pt x="217253" y="179394"/>
                  <a:pt x="228853" y="167803"/>
                  <a:pt x="243160" y="167803"/>
                </a:cubicBezTo>
                <a:cubicBezTo>
                  <a:pt x="257461" y="167820"/>
                  <a:pt x="269051" y="179401"/>
                  <a:pt x="269068" y="193692"/>
                </a:cubicBezTo>
                <a:close/>
                <a:moveTo>
                  <a:pt x="487237" y="193692"/>
                </a:moveTo>
                <a:cubicBezTo>
                  <a:pt x="487237" y="207990"/>
                  <a:pt x="475637" y="219580"/>
                  <a:pt x="461329" y="219580"/>
                </a:cubicBezTo>
                <a:cubicBezTo>
                  <a:pt x="447021" y="219580"/>
                  <a:pt x="435422" y="207990"/>
                  <a:pt x="435422" y="193692"/>
                </a:cubicBezTo>
                <a:cubicBezTo>
                  <a:pt x="435422" y="179394"/>
                  <a:pt x="447021" y="167803"/>
                  <a:pt x="461329" y="167803"/>
                </a:cubicBezTo>
                <a:cubicBezTo>
                  <a:pt x="475631" y="167796"/>
                  <a:pt x="487229" y="179377"/>
                  <a:pt x="487237" y="193668"/>
                </a:cubicBezTo>
                <a:cubicBezTo>
                  <a:pt x="487237" y="193676"/>
                  <a:pt x="487237" y="193684"/>
                  <a:pt x="487237" y="193692"/>
                </a:cubicBezTo>
                <a:close/>
                <a:moveTo>
                  <a:pt x="705466" y="193692"/>
                </a:moveTo>
                <a:cubicBezTo>
                  <a:pt x="705466" y="207990"/>
                  <a:pt x="693867" y="219580"/>
                  <a:pt x="679559" y="219580"/>
                </a:cubicBezTo>
                <a:cubicBezTo>
                  <a:pt x="665250" y="219580"/>
                  <a:pt x="653652" y="207990"/>
                  <a:pt x="653652" y="193692"/>
                </a:cubicBezTo>
                <a:cubicBezTo>
                  <a:pt x="653652" y="179394"/>
                  <a:pt x="665250" y="167803"/>
                  <a:pt x="679559" y="167803"/>
                </a:cubicBezTo>
                <a:cubicBezTo>
                  <a:pt x="693861" y="167796"/>
                  <a:pt x="705458" y="179377"/>
                  <a:pt x="705466" y="193668"/>
                </a:cubicBezTo>
                <a:cubicBezTo>
                  <a:pt x="705466" y="193676"/>
                  <a:pt x="705466" y="193684"/>
                  <a:pt x="705466" y="193692"/>
                </a:cubicBezTo>
                <a:close/>
                <a:moveTo>
                  <a:pt x="923695" y="193692"/>
                </a:moveTo>
                <a:cubicBezTo>
                  <a:pt x="923695" y="207990"/>
                  <a:pt x="912096" y="219580"/>
                  <a:pt x="897788" y="219580"/>
                </a:cubicBezTo>
                <a:cubicBezTo>
                  <a:pt x="883481" y="219580"/>
                  <a:pt x="871881" y="207990"/>
                  <a:pt x="871881" y="193692"/>
                </a:cubicBezTo>
                <a:cubicBezTo>
                  <a:pt x="871881" y="179394"/>
                  <a:pt x="883481" y="167803"/>
                  <a:pt x="897788" y="167803"/>
                </a:cubicBezTo>
                <a:cubicBezTo>
                  <a:pt x="912090" y="167796"/>
                  <a:pt x="923688" y="179377"/>
                  <a:pt x="923695" y="193668"/>
                </a:cubicBezTo>
                <a:cubicBezTo>
                  <a:pt x="923695" y="193676"/>
                  <a:pt x="923695" y="193684"/>
                  <a:pt x="923695" y="193692"/>
                </a:cubicBezTo>
                <a:close/>
                <a:moveTo>
                  <a:pt x="1141923" y="193692"/>
                </a:moveTo>
                <a:cubicBezTo>
                  <a:pt x="1141923" y="207990"/>
                  <a:pt x="1130324" y="219580"/>
                  <a:pt x="1116016" y="219580"/>
                </a:cubicBezTo>
                <a:cubicBezTo>
                  <a:pt x="1101708" y="219580"/>
                  <a:pt x="1090109" y="207990"/>
                  <a:pt x="1090109" y="193692"/>
                </a:cubicBezTo>
                <a:cubicBezTo>
                  <a:pt x="1090109" y="179394"/>
                  <a:pt x="1101708" y="167803"/>
                  <a:pt x="1116016" y="167803"/>
                </a:cubicBezTo>
                <a:cubicBezTo>
                  <a:pt x="1130316" y="167820"/>
                  <a:pt x="1141907" y="179401"/>
                  <a:pt x="1141923" y="193692"/>
                </a:cubicBezTo>
                <a:close/>
                <a:moveTo>
                  <a:pt x="50838" y="361596"/>
                </a:moveTo>
                <a:cubicBezTo>
                  <a:pt x="50838" y="375894"/>
                  <a:pt x="39239" y="387485"/>
                  <a:pt x="24931" y="387485"/>
                </a:cubicBezTo>
                <a:cubicBezTo>
                  <a:pt x="10623" y="387485"/>
                  <a:pt x="-976" y="375894"/>
                  <a:pt x="-976" y="361596"/>
                </a:cubicBezTo>
                <a:cubicBezTo>
                  <a:pt x="-976" y="347298"/>
                  <a:pt x="10623" y="335707"/>
                  <a:pt x="24931" y="335707"/>
                </a:cubicBezTo>
                <a:cubicBezTo>
                  <a:pt x="39233" y="335700"/>
                  <a:pt x="50831" y="347280"/>
                  <a:pt x="50838" y="361571"/>
                </a:cubicBezTo>
                <a:cubicBezTo>
                  <a:pt x="50838" y="361579"/>
                  <a:pt x="50838" y="361588"/>
                  <a:pt x="50838" y="361596"/>
                </a:cubicBezTo>
                <a:close/>
                <a:moveTo>
                  <a:pt x="269068" y="361596"/>
                </a:moveTo>
                <a:cubicBezTo>
                  <a:pt x="269068" y="375894"/>
                  <a:pt x="257469" y="387485"/>
                  <a:pt x="243160" y="387485"/>
                </a:cubicBezTo>
                <a:cubicBezTo>
                  <a:pt x="228853" y="387485"/>
                  <a:pt x="217253" y="375894"/>
                  <a:pt x="217253" y="361596"/>
                </a:cubicBezTo>
                <a:cubicBezTo>
                  <a:pt x="217253" y="347298"/>
                  <a:pt x="228853" y="335707"/>
                  <a:pt x="243160" y="335707"/>
                </a:cubicBezTo>
                <a:cubicBezTo>
                  <a:pt x="257461" y="335724"/>
                  <a:pt x="269051" y="347305"/>
                  <a:pt x="269068" y="361596"/>
                </a:cubicBezTo>
                <a:close/>
                <a:moveTo>
                  <a:pt x="487237" y="361596"/>
                </a:moveTo>
                <a:cubicBezTo>
                  <a:pt x="487237" y="375894"/>
                  <a:pt x="475637" y="387485"/>
                  <a:pt x="461329" y="387485"/>
                </a:cubicBezTo>
                <a:cubicBezTo>
                  <a:pt x="447021" y="387485"/>
                  <a:pt x="435422" y="375894"/>
                  <a:pt x="435422" y="361596"/>
                </a:cubicBezTo>
                <a:cubicBezTo>
                  <a:pt x="435422" y="347298"/>
                  <a:pt x="447021" y="335707"/>
                  <a:pt x="461329" y="335707"/>
                </a:cubicBezTo>
                <a:cubicBezTo>
                  <a:pt x="475631" y="335700"/>
                  <a:pt x="487229" y="347280"/>
                  <a:pt x="487237" y="361571"/>
                </a:cubicBezTo>
                <a:cubicBezTo>
                  <a:pt x="487237" y="361579"/>
                  <a:pt x="487237" y="361588"/>
                  <a:pt x="487237" y="361596"/>
                </a:cubicBezTo>
                <a:close/>
                <a:moveTo>
                  <a:pt x="705466" y="361596"/>
                </a:moveTo>
                <a:cubicBezTo>
                  <a:pt x="705466" y="375894"/>
                  <a:pt x="693867" y="387485"/>
                  <a:pt x="679559" y="387485"/>
                </a:cubicBezTo>
                <a:cubicBezTo>
                  <a:pt x="665250" y="387485"/>
                  <a:pt x="653652" y="375894"/>
                  <a:pt x="653652" y="361596"/>
                </a:cubicBezTo>
                <a:cubicBezTo>
                  <a:pt x="653652" y="347298"/>
                  <a:pt x="665250" y="335707"/>
                  <a:pt x="679559" y="335707"/>
                </a:cubicBezTo>
                <a:cubicBezTo>
                  <a:pt x="693861" y="335700"/>
                  <a:pt x="705458" y="347280"/>
                  <a:pt x="705466" y="361571"/>
                </a:cubicBezTo>
                <a:cubicBezTo>
                  <a:pt x="705466" y="361579"/>
                  <a:pt x="705466" y="361588"/>
                  <a:pt x="705466" y="361596"/>
                </a:cubicBezTo>
                <a:close/>
                <a:moveTo>
                  <a:pt x="923695" y="361596"/>
                </a:moveTo>
                <a:cubicBezTo>
                  <a:pt x="923695" y="375894"/>
                  <a:pt x="912096" y="387485"/>
                  <a:pt x="897788" y="387485"/>
                </a:cubicBezTo>
                <a:cubicBezTo>
                  <a:pt x="883481" y="387485"/>
                  <a:pt x="871881" y="375894"/>
                  <a:pt x="871881" y="361596"/>
                </a:cubicBezTo>
                <a:cubicBezTo>
                  <a:pt x="871881" y="347298"/>
                  <a:pt x="883481" y="335707"/>
                  <a:pt x="897788" y="335707"/>
                </a:cubicBezTo>
                <a:cubicBezTo>
                  <a:pt x="912090" y="335700"/>
                  <a:pt x="923688" y="347280"/>
                  <a:pt x="923695" y="361571"/>
                </a:cubicBezTo>
                <a:cubicBezTo>
                  <a:pt x="923695" y="361579"/>
                  <a:pt x="923695" y="361588"/>
                  <a:pt x="923695" y="361596"/>
                </a:cubicBezTo>
                <a:close/>
                <a:moveTo>
                  <a:pt x="1141923" y="361596"/>
                </a:moveTo>
                <a:cubicBezTo>
                  <a:pt x="1141923" y="375894"/>
                  <a:pt x="1130324" y="387485"/>
                  <a:pt x="1116016" y="387485"/>
                </a:cubicBezTo>
                <a:cubicBezTo>
                  <a:pt x="1101708" y="387485"/>
                  <a:pt x="1090109" y="375894"/>
                  <a:pt x="1090109" y="361596"/>
                </a:cubicBezTo>
                <a:cubicBezTo>
                  <a:pt x="1090109" y="347298"/>
                  <a:pt x="1101708" y="335707"/>
                  <a:pt x="1116016" y="335707"/>
                </a:cubicBezTo>
                <a:cubicBezTo>
                  <a:pt x="1130316" y="335724"/>
                  <a:pt x="1141907" y="347305"/>
                  <a:pt x="1141923" y="361596"/>
                </a:cubicBezTo>
                <a:close/>
                <a:moveTo>
                  <a:pt x="50838" y="529500"/>
                </a:moveTo>
                <a:cubicBezTo>
                  <a:pt x="50838" y="543798"/>
                  <a:pt x="39239" y="555389"/>
                  <a:pt x="24931" y="555389"/>
                </a:cubicBezTo>
                <a:cubicBezTo>
                  <a:pt x="10623" y="555389"/>
                  <a:pt x="-976" y="543798"/>
                  <a:pt x="-976" y="529500"/>
                </a:cubicBezTo>
                <a:cubicBezTo>
                  <a:pt x="-976" y="515202"/>
                  <a:pt x="10623" y="503612"/>
                  <a:pt x="24931" y="503612"/>
                </a:cubicBezTo>
                <a:cubicBezTo>
                  <a:pt x="39233" y="503605"/>
                  <a:pt x="50831" y="515184"/>
                  <a:pt x="50838" y="529475"/>
                </a:cubicBezTo>
                <a:cubicBezTo>
                  <a:pt x="50838" y="529484"/>
                  <a:pt x="50838" y="529492"/>
                  <a:pt x="50838" y="529500"/>
                </a:cubicBezTo>
                <a:close/>
                <a:moveTo>
                  <a:pt x="269068" y="529500"/>
                </a:moveTo>
                <a:cubicBezTo>
                  <a:pt x="269068" y="543798"/>
                  <a:pt x="257469" y="555389"/>
                  <a:pt x="243160" y="555389"/>
                </a:cubicBezTo>
                <a:cubicBezTo>
                  <a:pt x="228853" y="555389"/>
                  <a:pt x="217253" y="543798"/>
                  <a:pt x="217253" y="529500"/>
                </a:cubicBezTo>
                <a:cubicBezTo>
                  <a:pt x="217253" y="515202"/>
                  <a:pt x="228853" y="503612"/>
                  <a:pt x="243160" y="503612"/>
                </a:cubicBezTo>
                <a:cubicBezTo>
                  <a:pt x="257461" y="503629"/>
                  <a:pt x="269051" y="515209"/>
                  <a:pt x="269068" y="529500"/>
                </a:cubicBezTo>
                <a:close/>
                <a:moveTo>
                  <a:pt x="487237" y="529500"/>
                </a:moveTo>
                <a:cubicBezTo>
                  <a:pt x="487237" y="543798"/>
                  <a:pt x="475637" y="555389"/>
                  <a:pt x="461329" y="555389"/>
                </a:cubicBezTo>
                <a:cubicBezTo>
                  <a:pt x="447021" y="555389"/>
                  <a:pt x="435422" y="543798"/>
                  <a:pt x="435422" y="529500"/>
                </a:cubicBezTo>
                <a:cubicBezTo>
                  <a:pt x="435422" y="515202"/>
                  <a:pt x="447021" y="503612"/>
                  <a:pt x="461329" y="503612"/>
                </a:cubicBezTo>
                <a:cubicBezTo>
                  <a:pt x="475631" y="503605"/>
                  <a:pt x="487229" y="515184"/>
                  <a:pt x="487237" y="529475"/>
                </a:cubicBezTo>
                <a:cubicBezTo>
                  <a:pt x="487237" y="529484"/>
                  <a:pt x="487237" y="529492"/>
                  <a:pt x="487237" y="529500"/>
                </a:cubicBezTo>
                <a:close/>
                <a:moveTo>
                  <a:pt x="705466" y="529500"/>
                </a:moveTo>
                <a:cubicBezTo>
                  <a:pt x="705466" y="543798"/>
                  <a:pt x="693867" y="555389"/>
                  <a:pt x="679559" y="555389"/>
                </a:cubicBezTo>
                <a:cubicBezTo>
                  <a:pt x="665250" y="555389"/>
                  <a:pt x="653652" y="543798"/>
                  <a:pt x="653652" y="529500"/>
                </a:cubicBezTo>
                <a:cubicBezTo>
                  <a:pt x="653652" y="515202"/>
                  <a:pt x="665250" y="503612"/>
                  <a:pt x="679559" y="503612"/>
                </a:cubicBezTo>
                <a:cubicBezTo>
                  <a:pt x="693861" y="503605"/>
                  <a:pt x="705458" y="515184"/>
                  <a:pt x="705466" y="529475"/>
                </a:cubicBezTo>
                <a:cubicBezTo>
                  <a:pt x="705466" y="529484"/>
                  <a:pt x="705466" y="529492"/>
                  <a:pt x="705466" y="529500"/>
                </a:cubicBezTo>
                <a:close/>
                <a:moveTo>
                  <a:pt x="923695" y="529500"/>
                </a:moveTo>
                <a:cubicBezTo>
                  <a:pt x="923695" y="543798"/>
                  <a:pt x="912096" y="555389"/>
                  <a:pt x="897788" y="555389"/>
                </a:cubicBezTo>
                <a:cubicBezTo>
                  <a:pt x="883481" y="555389"/>
                  <a:pt x="871881" y="543798"/>
                  <a:pt x="871881" y="529500"/>
                </a:cubicBezTo>
                <a:cubicBezTo>
                  <a:pt x="871881" y="515202"/>
                  <a:pt x="883481" y="503612"/>
                  <a:pt x="897788" y="503612"/>
                </a:cubicBezTo>
                <a:cubicBezTo>
                  <a:pt x="912090" y="503605"/>
                  <a:pt x="923688" y="515184"/>
                  <a:pt x="923695" y="529475"/>
                </a:cubicBezTo>
                <a:cubicBezTo>
                  <a:pt x="923695" y="529484"/>
                  <a:pt x="923695" y="529492"/>
                  <a:pt x="923695" y="529500"/>
                </a:cubicBezTo>
                <a:close/>
                <a:moveTo>
                  <a:pt x="1141923" y="529500"/>
                </a:moveTo>
                <a:cubicBezTo>
                  <a:pt x="1141923" y="543798"/>
                  <a:pt x="1130324" y="555389"/>
                  <a:pt x="1116016" y="555389"/>
                </a:cubicBezTo>
                <a:cubicBezTo>
                  <a:pt x="1101708" y="555389"/>
                  <a:pt x="1090109" y="543798"/>
                  <a:pt x="1090109" y="529500"/>
                </a:cubicBezTo>
                <a:cubicBezTo>
                  <a:pt x="1090109" y="515202"/>
                  <a:pt x="1101708" y="503612"/>
                  <a:pt x="1116016" y="503612"/>
                </a:cubicBezTo>
                <a:cubicBezTo>
                  <a:pt x="1130316" y="503629"/>
                  <a:pt x="1141907" y="515209"/>
                  <a:pt x="1141923" y="529500"/>
                </a:cubicBezTo>
                <a:close/>
                <a:moveTo>
                  <a:pt x="50838" y="697404"/>
                </a:moveTo>
                <a:cubicBezTo>
                  <a:pt x="50838" y="711702"/>
                  <a:pt x="39239" y="723293"/>
                  <a:pt x="24931" y="723293"/>
                </a:cubicBezTo>
                <a:cubicBezTo>
                  <a:pt x="10623" y="723293"/>
                  <a:pt x="-976" y="711702"/>
                  <a:pt x="-976" y="697404"/>
                </a:cubicBezTo>
                <a:cubicBezTo>
                  <a:pt x="-976" y="683106"/>
                  <a:pt x="10623" y="671516"/>
                  <a:pt x="24931" y="671516"/>
                </a:cubicBezTo>
                <a:cubicBezTo>
                  <a:pt x="39233" y="671509"/>
                  <a:pt x="50831" y="683088"/>
                  <a:pt x="50838" y="697379"/>
                </a:cubicBezTo>
                <a:cubicBezTo>
                  <a:pt x="50838" y="697387"/>
                  <a:pt x="50838" y="697395"/>
                  <a:pt x="50838" y="697404"/>
                </a:cubicBezTo>
                <a:close/>
                <a:moveTo>
                  <a:pt x="269068" y="697404"/>
                </a:moveTo>
                <a:cubicBezTo>
                  <a:pt x="269068" y="711702"/>
                  <a:pt x="257469" y="723293"/>
                  <a:pt x="243160" y="723293"/>
                </a:cubicBezTo>
                <a:cubicBezTo>
                  <a:pt x="228853" y="723293"/>
                  <a:pt x="217253" y="711702"/>
                  <a:pt x="217253" y="697404"/>
                </a:cubicBezTo>
                <a:cubicBezTo>
                  <a:pt x="217253" y="683106"/>
                  <a:pt x="228853" y="671516"/>
                  <a:pt x="243160" y="671516"/>
                </a:cubicBezTo>
                <a:cubicBezTo>
                  <a:pt x="257461" y="671532"/>
                  <a:pt x="269051" y="683113"/>
                  <a:pt x="269068" y="697404"/>
                </a:cubicBezTo>
                <a:close/>
                <a:moveTo>
                  <a:pt x="487237" y="697404"/>
                </a:moveTo>
                <a:cubicBezTo>
                  <a:pt x="487237" y="711702"/>
                  <a:pt x="475637" y="723293"/>
                  <a:pt x="461329" y="723293"/>
                </a:cubicBezTo>
                <a:cubicBezTo>
                  <a:pt x="447021" y="723293"/>
                  <a:pt x="435422" y="711702"/>
                  <a:pt x="435422" y="697404"/>
                </a:cubicBezTo>
                <a:cubicBezTo>
                  <a:pt x="435422" y="683106"/>
                  <a:pt x="447021" y="671516"/>
                  <a:pt x="461329" y="671516"/>
                </a:cubicBezTo>
                <a:cubicBezTo>
                  <a:pt x="475631" y="671509"/>
                  <a:pt x="487229" y="683088"/>
                  <a:pt x="487237" y="697379"/>
                </a:cubicBezTo>
                <a:cubicBezTo>
                  <a:pt x="487237" y="697387"/>
                  <a:pt x="487237" y="697395"/>
                  <a:pt x="487237" y="697404"/>
                </a:cubicBezTo>
                <a:close/>
                <a:moveTo>
                  <a:pt x="705466" y="697404"/>
                </a:moveTo>
                <a:cubicBezTo>
                  <a:pt x="705466" y="711702"/>
                  <a:pt x="693867" y="723293"/>
                  <a:pt x="679559" y="723293"/>
                </a:cubicBezTo>
                <a:cubicBezTo>
                  <a:pt x="665250" y="723293"/>
                  <a:pt x="653652" y="711702"/>
                  <a:pt x="653652" y="697404"/>
                </a:cubicBezTo>
                <a:cubicBezTo>
                  <a:pt x="653652" y="683106"/>
                  <a:pt x="665250" y="671516"/>
                  <a:pt x="679559" y="671516"/>
                </a:cubicBezTo>
                <a:cubicBezTo>
                  <a:pt x="693861" y="671509"/>
                  <a:pt x="705458" y="683088"/>
                  <a:pt x="705466" y="697379"/>
                </a:cubicBezTo>
                <a:cubicBezTo>
                  <a:pt x="705466" y="697387"/>
                  <a:pt x="705466" y="697395"/>
                  <a:pt x="705466" y="697404"/>
                </a:cubicBezTo>
                <a:close/>
                <a:moveTo>
                  <a:pt x="923695" y="697404"/>
                </a:moveTo>
                <a:cubicBezTo>
                  <a:pt x="923695" y="711702"/>
                  <a:pt x="912096" y="723293"/>
                  <a:pt x="897788" y="723293"/>
                </a:cubicBezTo>
                <a:cubicBezTo>
                  <a:pt x="883481" y="723293"/>
                  <a:pt x="871881" y="711702"/>
                  <a:pt x="871881" y="697404"/>
                </a:cubicBezTo>
                <a:cubicBezTo>
                  <a:pt x="871881" y="683106"/>
                  <a:pt x="883481" y="671516"/>
                  <a:pt x="897788" y="671516"/>
                </a:cubicBezTo>
                <a:cubicBezTo>
                  <a:pt x="912090" y="671509"/>
                  <a:pt x="923688" y="683088"/>
                  <a:pt x="923695" y="697379"/>
                </a:cubicBezTo>
                <a:cubicBezTo>
                  <a:pt x="923695" y="697387"/>
                  <a:pt x="923695" y="697395"/>
                  <a:pt x="923695" y="697404"/>
                </a:cubicBezTo>
                <a:close/>
                <a:moveTo>
                  <a:pt x="1141923" y="697404"/>
                </a:moveTo>
                <a:cubicBezTo>
                  <a:pt x="1141923" y="711702"/>
                  <a:pt x="1130324" y="723293"/>
                  <a:pt x="1116016" y="723293"/>
                </a:cubicBezTo>
                <a:cubicBezTo>
                  <a:pt x="1101708" y="723293"/>
                  <a:pt x="1090109" y="711702"/>
                  <a:pt x="1090109" y="697404"/>
                </a:cubicBezTo>
                <a:cubicBezTo>
                  <a:pt x="1090109" y="683106"/>
                  <a:pt x="1101708" y="671516"/>
                  <a:pt x="1116016" y="671516"/>
                </a:cubicBezTo>
                <a:cubicBezTo>
                  <a:pt x="1130316" y="671532"/>
                  <a:pt x="1141907" y="683113"/>
                  <a:pt x="1141923" y="697404"/>
                </a:cubicBezTo>
                <a:close/>
              </a:path>
            </a:pathLst>
          </a:custGeom>
          <a:solidFill>
            <a:srgbClr val="015DBB"/>
          </a:solidFill>
        </p:spPr>
      </p:sp>
      <p:sp>
        <p:nvSpPr>
          <p:cNvPr id="11" name="Text 8"/>
          <p:cNvSpPr/>
          <p:nvPr/>
        </p:nvSpPr>
        <p:spPr>
          <a:xfrm>
            <a:off x="893745" y="4728174"/>
            <a:ext cx="1141923" cy="723293"/>
          </a:xfrm>
          <a:prstGeom prst="rect">
            <a:avLst/>
          </a:prstGeom>
          <a:noFill/>
        </p:spPr>
        <p:txBody>
          <a:bodyPr wrap="square" lIns="45720" tIns="91440" rIns="91440" bIns="45720" rtlCol="0" anchor="ctr"/>
          <a:lstStyle/>
          <a:p>
            <a:pPr>
              <a:lnSpc>
                <a:spcPct val="100000"/>
              </a:lnSpc>
            </a:pPr>
            <a:endParaRPr lang="en-US" sz="1600" dirty="0"/>
          </a:p>
        </p:txBody>
      </p:sp>
      <p:sp>
        <p:nvSpPr>
          <p:cNvPr id="12" name="Shape 9"/>
          <p:cNvSpPr/>
          <p:nvPr/>
        </p:nvSpPr>
        <p:spPr>
          <a:xfrm>
            <a:off x="10230150" y="1569684"/>
            <a:ext cx="1141923" cy="723293"/>
          </a:xfrm>
          <a:custGeom>
            <a:avLst/>
            <a:gdLst/>
            <a:ahLst/>
            <a:cxnLst/>
            <a:rect l="l" t="t" r="r" b="b"/>
            <a:pathLst>
              <a:path w="1141923" h="723293">
                <a:moveTo>
                  <a:pt x="50838" y="25788"/>
                </a:moveTo>
                <a:cubicBezTo>
                  <a:pt x="50838" y="40086"/>
                  <a:pt x="39239" y="51676"/>
                  <a:pt x="24931" y="51676"/>
                </a:cubicBezTo>
                <a:cubicBezTo>
                  <a:pt x="10623" y="51676"/>
                  <a:pt x="-976" y="40086"/>
                  <a:pt x="-976" y="25788"/>
                </a:cubicBezTo>
                <a:cubicBezTo>
                  <a:pt x="-976" y="11490"/>
                  <a:pt x="10623" y="-101"/>
                  <a:pt x="24931" y="-101"/>
                </a:cubicBezTo>
                <a:cubicBezTo>
                  <a:pt x="39233" y="-108"/>
                  <a:pt x="50831" y="11473"/>
                  <a:pt x="50838" y="25763"/>
                </a:cubicBezTo>
                <a:cubicBezTo>
                  <a:pt x="50838" y="25772"/>
                  <a:pt x="50838" y="25780"/>
                  <a:pt x="50838" y="25788"/>
                </a:cubicBezTo>
                <a:close/>
                <a:moveTo>
                  <a:pt x="269068" y="25788"/>
                </a:moveTo>
                <a:cubicBezTo>
                  <a:pt x="269068" y="40086"/>
                  <a:pt x="257469" y="51676"/>
                  <a:pt x="243160" y="51676"/>
                </a:cubicBezTo>
                <a:cubicBezTo>
                  <a:pt x="228853" y="51676"/>
                  <a:pt x="217253" y="40086"/>
                  <a:pt x="217253" y="25788"/>
                </a:cubicBezTo>
                <a:cubicBezTo>
                  <a:pt x="217253" y="11490"/>
                  <a:pt x="228853" y="-101"/>
                  <a:pt x="243160" y="-101"/>
                </a:cubicBezTo>
                <a:cubicBezTo>
                  <a:pt x="257461" y="-84"/>
                  <a:pt x="269051" y="11497"/>
                  <a:pt x="269068" y="25788"/>
                </a:cubicBezTo>
                <a:close/>
                <a:moveTo>
                  <a:pt x="487237" y="25788"/>
                </a:moveTo>
                <a:cubicBezTo>
                  <a:pt x="487237" y="40086"/>
                  <a:pt x="475637" y="51676"/>
                  <a:pt x="461329" y="51676"/>
                </a:cubicBezTo>
                <a:cubicBezTo>
                  <a:pt x="447021" y="51676"/>
                  <a:pt x="435422" y="40086"/>
                  <a:pt x="435422" y="25788"/>
                </a:cubicBezTo>
                <a:cubicBezTo>
                  <a:pt x="435422" y="11490"/>
                  <a:pt x="447021" y="-101"/>
                  <a:pt x="461329" y="-101"/>
                </a:cubicBezTo>
                <a:cubicBezTo>
                  <a:pt x="475631" y="-108"/>
                  <a:pt x="487229" y="11473"/>
                  <a:pt x="487237" y="25763"/>
                </a:cubicBezTo>
                <a:cubicBezTo>
                  <a:pt x="487237" y="25772"/>
                  <a:pt x="487237" y="25780"/>
                  <a:pt x="487237" y="25788"/>
                </a:cubicBezTo>
                <a:close/>
                <a:moveTo>
                  <a:pt x="705466" y="25788"/>
                </a:moveTo>
                <a:cubicBezTo>
                  <a:pt x="705466" y="40086"/>
                  <a:pt x="693867" y="51676"/>
                  <a:pt x="679559" y="51676"/>
                </a:cubicBezTo>
                <a:cubicBezTo>
                  <a:pt x="665250" y="51676"/>
                  <a:pt x="653652" y="40086"/>
                  <a:pt x="653652" y="25788"/>
                </a:cubicBezTo>
                <a:cubicBezTo>
                  <a:pt x="653652" y="11490"/>
                  <a:pt x="665250" y="-101"/>
                  <a:pt x="679559" y="-101"/>
                </a:cubicBezTo>
                <a:cubicBezTo>
                  <a:pt x="693861" y="-108"/>
                  <a:pt x="705458" y="11473"/>
                  <a:pt x="705466" y="25763"/>
                </a:cubicBezTo>
                <a:cubicBezTo>
                  <a:pt x="705466" y="25772"/>
                  <a:pt x="705466" y="25780"/>
                  <a:pt x="705466" y="25788"/>
                </a:cubicBezTo>
                <a:close/>
                <a:moveTo>
                  <a:pt x="923695" y="25788"/>
                </a:moveTo>
                <a:cubicBezTo>
                  <a:pt x="923695" y="40086"/>
                  <a:pt x="912096" y="51676"/>
                  <a:pt x="897788" y="51676"/>
                </a:cubicBezTo>
                <a:cubicBezTo>
                  <a:pt x="883481" y="51676"/>
                  <a:pt x="871881" y="40086"/>
                  <a:pt x="871881" y="25788"/>
                </a:cubicBezTo>
                <a:cubicBezTo>
                  <a:pt x="871881" y="11490"/>
                  <a:pt x="883481" y="-101"/>
                  <a:pt x="897788" y="-101"/>
                </a:cubicBezTo>
                <a:cubicBezTo>
                  <a:pt x="912090" y="-108"/>
                  <a:pt x="923688" y="11473"/>
                  <a:pt x="923695" y="25763"/>
                </a:cubicBezTo>
                <a:cubicBezTo>
                  <a:pt x="923695" y="25772"/>
                  <a:pt x="923695" y="25780"/>
                  <a:pt x="923695" y="25788"/>
                </a:cubicBezTo>
                <a:close/>
                <a:moveTo>
                  <a:pt x="1141923" y="25788"/>
                </a:moveTo>
                <a:cubicBezTo>
                  <a:pt x="1141923" y="40086"/>
                  <a:pt x="1130324" y="51676"/>
                  <a:pt x="1116016" y="51676"/>
                </a:cubicBezTo>
                <a:cubicBezTo>
                  <a:pt x="1101708" y="51676"/>
                  <a:pt x="1090109" y="40086"/>
                  <a:pt x="1090109" y="25788"/>
                </a:cubicBezTo>
                <a:cubicBezTo>
                  <a:pt x="1090109" y="11490"/>
                  <a:pt x="1101708" y="-101"/>
                  <a:pt x="1116016" y="-101"/>
                </a:cubicBezTo>
                <a:cubicBezTo>
                  <a:pt x="1130316" y="-84"/>
                  <a:pt x="1141907" y="11497"/>
                  <a:pt x="1141923" y="25788"/>
                </a:cubicBezTo>
                <a:close/>
                <a:moveTo>
                  <a:pt x="50838" y="193692"/>
                </a:moveTo>
                <a:cubicBezTo>
                  <a:pt x="50838" y="207990"/>
                  <a:pt x="39239" y="219580"/>
                  <a:pt x="24931" y="219580"/>
                </a:cubicBezTo>
                <a:cubicBezTo>
                  <a:pt x="10623" y="219580"/>
                  <a:pt x="-976" y="207990"/>
                  <a:pt x="-976" y="193692"/>
                </a:cubicBezTo>
                <a:cubicBezTo>
                  <a:pt x="-976" y="179394"/>
                  <a:pt x="10623" y="167803"/>
                  <a:pt x="24931" y="167803"/>
                </a:cubicBezTo>
                <a:cubicBezTo>
                  <a:pt x="39233" y="167796"/>
                  <a:pt x="50831" y="179377"/>
                  <a:pt x="50838" y="193668"/>
                </a:cubicBezTo>
                <a:cubicBezTo>
                  <a:pt x="50838" y="193676"/>
                  <a:pt x="50838" y="193684"/>
                  <a:pt x="50838" y="193692"/>
                </a:cubicBezTo>
                <a:close/>
                <a:moveTo>
                  <a:pt x="269068" y="193692"/>
                </a:moveTo>
                <a:cubicBezTo>
                  <a:pt x="269068" y="207990"/>
                  <a:pt x="257469" y="219580"/>
                  <a:pt x="243160" y="219580"/>
                </a:cubicBezTo>
                <a:cubicBezTo>
                  <a:pt x="228853" y="219580"/>
                  <a:pt x="217253" y="207990"/>
                  <a:pt x="217253" y="193692"/>
                </a:cubicBezTo>
                <a:cubicBezTo>
                  <a:pt x="217253" y="179394"/>
                  <a:pt x="228853" y="167803"/>
                  <a:pt x="243160" y="167803"/>
                </a:cubicBezTo>
                <a:cubicBezTo>
                  <a:pt x="257461" y="167820"/>
                  <a:pt x="269051" y="179401"/>
                  <a:pt x="269068" y="193692"/>
                </a:cubicBezTo>
                <a:close/>
                <a:moveTo>
                  <a:pt x="487237" y="193692"/>
                </a:moveTo>
                <a:cubicBezTo>
                  <a:pt x="487237" y="207990"/>
                  <a:pt x="475637" y="219580"/>
                  <a:pt x="461329" y="219580"/>
                </a:cubicBezTo>
                <a:cubicBezTo>
                  <a:pt x="447021" y="219580"/>
                  <a:pt x="435422" y="207990"/>
                  <a:pt x="435422" y="193692"/>
                </a:cubicBezTo>
                <a:cubicBezTo>
                  <a:pt x="435422" y="179394"/>
                  <a:pt x="447021" y="167803"/>
                  <a:pt x="461329" y="167803"/>
                </a:cubicBezTo>
                <a:cubicBezTo>
                  <a:pt x="475631" y="167796"/>
                  <a:pt x="487229" y="179377"/>
                  <a:pt x="487237" y="193668"/>
                </a:cubicBezTo>
                <a:cubicBezTo>
                  <a:pt x="487237" y="193676"/>
                  <a:pt x="487237" y="193684"/>
                  <a:pt x="487237" y="193692"/>
                </a:cubicBezTo>
                <a:close/>
                <a:moveTo>
                  <a:pt x="705466" y="193692"/>
                </a:moveTo>
                <a:cubicBezTo>
                  <a:pt x="705466" y="207990"/>
                  <a:pt x="693867" y="219580"/>
                  <a:pt x="679559" y="219580"/>
                </a:cubicBezTo>
                <a:cubicBezTo>
                  <a:pt x="665250" y="219580"/>
                  <a:pt x="653652" y="207990"/>
                  <a:pt x="653652" y="193692"/>
                </a:cubicBezTo>
                <a:cubicBezTo>
                  <a:pt x="653652" y="179394"/>
                  <a:pt x="665250" y="167803"/>
                  <a:pt x="679559" y="167803"/>
                </a:cubicBezTo>
                <a:cubicBezTo>
                  <a:pt x="693861" y="167796"/>
                  <a:pt x="705458" y="179377"/>
                  <a:pt x="705466" y="193668"/>
                </a:cubicBezTo>
                <a:cubicBezTo>
                  <a:pt x="705466" y="193676"/>
                  <a:pt x="705466" y="193684"/>
                  <a:pt x="705466" y="193692"/>
                </a:cubicBezTo>
                <a:close/>
                <a:moveTo>
                  <a:pt x="923695" y="193692"/>
                </a:moveTo>
                <a:cubicBezTo>
                  <a:pt x="923695" y="207990"/>
                  <a:pt x="912096" y="219580"/>
                  <a:pt x="897788" y="219580"/>
                </a:cubicBezTo>
                <a:cubicBezTo>
                  <a:pt x="883481" y="219580"/>
                  <a:pt x="871881" y="207990"/>
                  <a:pt x="871881" y="193692"/>
                </a:cubicBezTo>
                <a:cubicBezTo>
                  <a:pt x="871881" y="179394"/>
                  <a:pt x="883481" y="167803"/>
                  <a:pt x="897788" y="167803"/>
                </a:cubicBezTo>
                <a:cubicBezTo>
                  <a:pt x="912090" y="167796"/>
                  <a:pt x="923688" y="179377"/>
                  <a:pt x="923695" y="193668"/>
                </a:cubicBezTo>
                <a:cubicBezTo>
                  <a:pt x="923695" y="193676"/>
                  <a:pt x="923695" y="193684"/>
                  <a:pt x="923695" y="193692"/>
                </a:cubicBezTo>
                <a:close/>
                <a:moveTo>
                  <a:pt x="1141923" y="193692"/>
                </a:moveTo>
                <a:cubicBezTo>
                  <a:pt x="1141923" y="207990"/>
                  <a:pt x="1130324" y="219580"/>
                  <a:pt x="1116016" y="219580"/>
                </a:cubicBezTo>
                <a:cubicBezTo>
                  <a:pt x="1101708" y="219580"/>
                  <a:pt x="1090109" y="207990"/>
                  <a:pt x="1090109" y="193692"/>
                </a:cubicBezTo>
                <a:cubicBezTo>
                  <a:pt x="1090109" y="179394"/>
                  <a:pt x="1101708" y="167803"/>
                  <a:pt x="1116016" y="167803"/>
                </a:cubicBezTo>
                <a:cubicBezTo>
                  <a:pt x="1130316" y="167820"/>
                  <a:pt x="1141907" y="179401"/>
                  <a:pt x="1141923" y="193692"/>
                </a:cubicBezTo>
                <a:close/>
                <a:moveTo>
                  <a:pt x="50838" y="361596"/>
                </a:moveTo>
                <a:cubicBezTo>
                  <a:pt x="50838" y="375894"/>
                  <a:pt x="39239" y="387485"/>
                  <a:pt x="24931" y="387485"/>
                </a:cubicBezTo>
                <a:cubicBezTo>
                  <a:pt x="10623" y="387485"/>
                  <a:pt x="-976" y="375894"/>
                  <a:pt x="-976" y="361596"/>
                </a:cubicBezTo>
                <a:cubicBezTo>
                  <a:pt x="-976" y="347298"/>
                  <a:pt x="10623" y="335707"/>
                  <a:pt x="24931" y="335707"/>
                </a:cubicBezTo>
                <a:cubicBezTo>
                  <a:pt x="39233" y="335700"/>
                  <a:pt x="50831" y="347280"/>
                  <a:pt x="50838" y="361571"/>
                </a:cubicBezTo>
                <a:cubicBezTo>
                  <a:pt x="50838" y="361579"/>
                  <a:pt x="50838" y="361588"/>
                  <a:pt x="50838" y="361596"/>
                </a:cubicBezTo>
                <a:close/>
                <a:moveTo>
                  <a:pt x="269068" y="361596"/>
                </a:moveTo>
                <a:cubicBezTo>
                  <a:pt x="269068" y="375894"/>
                  <a:pt x="257469" y="387485"/>
                  <a:pt x="243160" y="387485"/>
                </a:cubicBezTo>
                <a:cubicBezTo>
                  <a:pt x="228853" y="387485"/>
                  <a:pt x="217253" y="375894"/>
                  <a:pt x="217253" y="361596"/>
                </a:cubicBezTo>
                <a:cubicBezTo>
                  <a:pt x="217253" y="347298"/>
                  <a:pt x="228853" y="335707"/>
                  <a:pt x="243160" y="335707"/>
                </a:cubicBezTo>
                <a:cubicBezTo>
                  <a:pt x="257461" y="335724"/>
                  <a:pt x="269051" y="347305"/>
                  <a:pt x="269068" y="361596"/>
                </a:cubicBezTo>
                <a:close/>
                <a:moveTo>
                  <a:pt x="487237" y="361596"/>
                </a:moveTo>
                <a:cubicBezTo>
                  <a:pt x="487237" y="375894"/>
                  <a:pt x="475637" y="387485"/>
                  <a:pt x="461329" y="387485"/>
                </a:cubicBezTo>
                <a:cubicBezTo>
                  <a:pt x="447021" y="387485"/>
                  <a:pt x="435422" y="375894"/>
                  <a:pt x="435422" y="361596"/>
                </a:cubicBezTo>
                <a:cubicBezTo>
                  <a:pt x="435422" y="347298"/>
                  <a:pt x="447021" y="335707"/>
                  <a:pt x="461329" y="335707"/>
                </a:cubicBezTo>
                <a:cubicBezTo>
                  <a:pt x="475631" y="335700"/>
                  <a:pt x="487229" y="347280"/>
                  <a:pt x="487237" y="361571"/>
                </a:cubicBezTo>
                <a:cubicBezTo>
                  <a:pt x="487237" y="361579"/>
                  <a:pt x="487237" y="361588"/>
                  <a:pt x="487237" y="361596"/>
                </a:cubicBezTo>
                <a:close/>
                <a:moveTo>
                  <a:pt x="705466" y="361596"/>
                </a:moveTo>
                <a:cubicBezTo>
                  <a:pt x="705466" y="375894"/>
                  <a:pt x="693867" y="387485"/>
                  <a:pt x="679559" y="387485"/>
                </a:cubicBezTo>
                <a:cubicBezTo>
                  <a:pt x="665250" y="387485"/>
                  <a:pt x="653652" y="375894"/>
                  <a:pt x="653652" y="361596"/>
                </a:cubicBezTo>
                <a:cubicBezTo>
                  <a:pt x="653652" y="347298"/>
                  <a:pt x="665250" y="335707"/>
                  <a:pt x="679559" y="335707"/>
                </a:cubicBezTo>
                <a:cubicBezTo>
                  <a:pt x="693861" y="335700"/>
                  <a:pt x="705458" y="347280"/>
                  <a:pt x="705466" y="361571"/>
                </a:cubicBezTo>
                <a:cubicBezTo>
                  <a:pt x="705466" y="361579"/>
                  <a:pt x="705466" y="361588"/>
                  <a:pt x="705466" y="361596"/>
                </a:cubicBezTo>
                <a:close/>
                <a:moveTo>
                  <a:pt x="923695" y="361596"/>
                </a:moveTo>
                <a:cubicBezTo>
                  <a:pt x="923695" y="375894"/>
                  <a:pt x="912096" y="387485"/>
                  <a:pt x="897788" y="387485"/>
                </a:cubicBezTo>
                <a:cubicBezTo>
                  <a:pt x="883481" y="387485"/>
                  <a:pt x="871881" y="375894"/>
                  <a:pt x="871881" y="361596"/>
                </a:cubicBezTo>
                <a:cubicBezTo>
                  <a:pt x="871881" y="347298"/>
                  <a:pt x="883481" y="335707"/>
                  <a:pt x="897788" y="335707"/>
                </a:cubicBezTo>
                <a:cubicBezTo>
                  <a:pt x="912090" y="335700"/>
                  <a:pt x="923688" y="347280"/>
                  <a:pt x="923695" y="361571"/>
                </a:cubicBezTo>
                <a:cubicBezTo>
                  <a:pt x="923695" y="361579"/>
                  <a:pt x="923695" y="361588"/>
                  <a:pt x="923695" y="361596"/>
                </a:cubicBezTo>
                <a:close/>
                <a:moveTo>
                  <a:pt x="1141923" y="361596"/>
                </a:moveTo>
                <a:cubicBezTo>
                  <a:pt x="1141923" y="375894"/>
                  <a:pt x="1130324" y="387485"/>
                  <a:pt x="1116016" y="387485"/>
                </a:cubicBezTo>
                <a:cubicBezTo>
                  <a:pt x="1101708" y="387485"/>
                  <a:pt x="1090109" y="375894"/>
                  <a:pt x="1090109" y="361596"/>
                </a:cubicBezTo>
                <a:cubicBezTo>
                  <a:pt x="1090109" y="347298"/>
                  <a:pt x="1101708" y="335707"/>
                  <a:pt x="1116016" y="335707"/>
                </a:cubicBezTo>
                <a:cubicBezTo>
                  <a:pt x="1130316" y="335724"/>
                  <a:pt x="1141907" y="347305"/>
                  <a:pt x="1141923" y="361596"/>
                </a:cubicBezTo>
                <a:close/>
                <a:moveTo>
                  <a:pt x="50838" y="529500"/>
                </a:moveTo>
                <a:cubicBezTo>
                  <a:pt x="50838" y="543798"/>
                  <a:pt x="39239" y="555389"/>
                  <a:pt x="24931" y="555389"/>
                </a:cubicBezTo>
                <a:cubicBezTo>
                  <a:pt x="10623" y="555389"/>
                  <a:pt x="-976" y="543798"/>
                  <a:pt x="-976" y="529500"/>
                </a:cubicBezTo>
                <a:cubicBezTo>
                  <a:pt x="-976" y="515202"/>
                  <a:pt x="10623" y="503612"/>
                  <a:pt x="24931" y="503612"/>
                </a:cubicBezTo>
                <a:cubicBezTo>
                  <a:pt x="39233" y="503605"/>
                  <a:pt x="50831" y="515184"/>
                  <a:pt x="50838" y="529475"/>
                </a:cubicBezTo>
                <a:cubicBezTo>
                  <a:pt x="50838" y="529484"/>
                  <a:pt x="50838" y="529492"/>
                  <a:pt x="50838" y="529500"/>
                </a:cubicBezTo>
                <a:close/>
                <a:moveTo>
                  <a:pt x="269068" y="529500"/>
                </a:moveTo>
                <a:cubicBezTo>
                  <a:pt x="269068" y="543798"/>
                  <a:pt x="257469" y="555389"/>
                  <a:pt x="243160" y="555389"/>
                </a:cubicBezTo>
                <a:cubicBezTo>
                  <a:pt x="228853" y="555389"/>
                  <a:pt x="217253" y="543798"/>
                  <a:pt x="217253" y="529500"/>
                </a:cubicBezTo>
                <a:cubicBezTo>
                  <a:pt x="217253" y="515202"/>
                  <a:pt x="228853" y="503612"/>
                  <a:pt x="243160" y="503612"/>
                </a:cubicBezTo>
                <a:cubicBezTo>
                  <a:pt x="257461" y="503629"/>
                  <a:pt x="269051" y="515209"/>
                  <a:pt x="269068" y="529500"/>
                </a:cubicBezTo>
                <a:close/>
                <a:moveTo>
                  <a:pt x="487237" y="529500"/>
                </a:moveTo>
                <a:cubicBezTo>
                  <a:pt x="487237" y="543798"/>
                  <a:pt x="475637" y="555389"/>
                  <a:pt x="461329" y="555389"/>
                </a:cubicBezTo>
                <a:cubicBezTo>
                  <a:pt x="447021" y="555389"/>
                  <a:pt x="435422" y="543798"/>
                  <a:pt x="435422" y="529500"/>
                </a:cubicBezTo>
                <a:cubicBezTo>
                  <a:pt x="435422" y="515202"/>
                  <a:pt x="447021" y="503612"/>
                  <a:pt x="461329" y="503612"/>
                </a:cubicBezTo>
                <a:cubicBezTo>
                  <a:pt x="475631" y="503605"/>
                  <a:pt x="487229" y="515184"/>
                  <a:pt x="487237" y="529475"/>
                </a:cubicBezTo>
                <a:cubicBezTo>
                  <a:pt x="487237" y="529484"/>
                  <a:pt x="487237" y="529492"/>
                  <a:pt x="487237" y="529500"/>
                </a:cubicBezTo>
                <a:close/>
                <a:moveTo>
                  <a:pt x="705466" y="529500"/>
                </a:moveTo>
                <a:cubicBezTo>
                  <a:pt x="705466" y="543798"/>
                  <a:pt x="693867" y="555389"/>
                  <a:pt x="679559" y="555389"/>
                </a:cubicBezTo>
                <a:cubicBezTo>
                  <a:pt x="665250" y="555389"/>
                  <a:pt x="653652" y="543798"/>
                  <a:pt x="653652" y="529500"/>
                </a:cubicBezTo>
                <a:cubicBezTo>
                  <a:pt x="653652" y="515202"/>
                  <a:pt x="665250" y="503612"/>
                  <a:pt x="679559" y="503612"/>
                </a:cubicBezTo>
                <a:cubicBezTo>
                  <a:pt x="693861" y="503605"/>
                  <a:pt x="705458" y="515184"/>
                  <a:pt x="705466" y="529475"/>
                </a:cubicBezTo>
                <a:cubicBezTo>
                  <a:pt x="705466" y="529484"/>
                  <a:pt x="705466" y="529492"/>
                  <a:pt x="705466" y="529500"/>
                </a:cubicBezTo>
                <a:close/>
                <a:moveTo>
                  <a:pt x="923695" y="529500"/>
                </a:moveTo>
                <a:cubicBezTo>
                  <a:pt x="923695" y="543798"/>
                  <a:pt x="912096" y="555389"/>
                  <a:pt x="897788" y="555389"/>
                </a:cubicBezTo>
                <a:cubicBezTo>
                  <a:pt x="883481" y="555389"/>
                  <a:pt x="871881" y="543798"/>
                  <a:pt x="871881" y="529500"/>
                </a:cubicBezTo>
                <a:cubicBezTo>
                  <a:pt x="871881" y="515202"/>
                  <a:pt x="883481" y="503612"/>
                  <a:pt x="897788" y="503612"/>
                </a:cubicBezTo>
                <a:cubicBezTo>
                  <a:pt x="912090" y="503605"/>
                  <a:pt x="923688" y="515184"/>
                  <a:pt x="923695" y="529475"/>
                </a:cubicBezTo>
                <a:cubicBezTo>
                  <a:pt x="923695" y="529484"/>
                  <a:pt x="923695" y="529492"/>
                  <a:pt x="923695" y="529500"/>
                </a:cubicBezTo>
                <a:close/>
                <a:moveTo>
                  <a:pt x="1141923" y="529500"/>
                </a:moveTo>
                <a:cubicBezTo>
                  <a:pt x="1141923" y="543798"/>
                  <a:pt x="1130324" y="555389"/>
                  <a:pt x="1116016" y="555389"/>
                </a:cubicBezTo>
                <a:cubicBezTo>
                  <a:pt x="1101708" y="555389"/>
                  <a:pt x="1090109" y="543798"/>
                  <a:pt x="1090109" y="529500"/>
                </a:cubicBezTo>
                <a:cubicBezTo>
                  <a:pt x="1090109" y="515202"/>
                  <a:pt x="1101708" y="503612"/>
                  <a:pt x="1116016" y="503612"/>
                </a:cubicBezTo>
                <a:cubicBezTo>
                  <a:pt x="1130316" y="503629"/>
                  <a:pt x="1141907" y="515209"/>
                  <a:pt x="1141923" y="529500"/>
                </a:cubicBezTo>
                <a:close/>
                <a:moveTo>
                  <a:pt x="50838" y="697404"/>
                </a:moveTo>
                <a:cubicBezTo>
                  <a:pt x="50838" y="711702"/>
                  <a:pt x="39239" y="723293"/>
                  <a:pt x="24931" y="723293"/>
                </a:cubicBezTo>
                <a:cubicBezTo>
                  <a:pt x="10623" y="723293"/>
                  <a:pt x="-976" y="711702"/>
                  <a:pt x="-976" y="697404"/>
                </a:cubicBezTo>
                <a:cubicBezTo>
                  <a:pt x="-976" y="683106"/>
                  <a:pt x="10623" y="671516"/>
                  <a:pt x="24931" y="671516"/>
                </a:cubicBezTo>
                <a:cubicBezTo>
                  <a:pt x="39233" y="671509"/>
                  <a:pt x="50831" y="683088"/>
                  <a:pt x="50838" y="697379"/>
                </a:cubicBezTo>
                <a:cubicBezTo>
                  <a:pt x="50838" y="697387"/>
                  <a:pt x="50838" y="697395"/>
                  <a:pt x="50838" y="697404"/>
                </a:cubicBezTo>
                <a:close/>
                <a:moveTo>
                  <a:pt x="269068" y="697404"/>
                </a:moveTo>
                <a:cubicBezTo>
                  <a:pt x="269068" y="711702"/>
                  <a:pt x="257469" y="723293"/>
                  <a:pt x="243160" y="723293"/>
                </a:cubicBezTo>
                <a:cubicBezTo>
                  <a:pt x="228853" y="723293"/>
                  <a:pt x="217253" y="711702"/>
                  <a:pt x="217253" y="697404"/>
                </a:cubicBezTo>
                <a:cubicBezTo>
                  <a:pt x="217253" y="683106"/>
                  <a:pt x="228853" y="671516"/>
                  <a:pt x="243160" y="671516"/>
                </a:cubicBezTo>
                <a:cubicBezTo>
                  <a:pt x="257461" y="671532"/>
                  <a:pt x="269051" y="683113"/>
                  <a:pt x="269068" y="697404"/>
                </a:cubicBezTo>
                <a:close/>
                <a:moveTo>
                  <a:pt x="487237" y="697404"/>
                </a:moveTo>
                <a:cubicBezTo>
                  <a:pt x="487237" y="711702"/>
                  <a:pt x="475637" y="723293"/>
                  <a:pt x="461329" y="723293"/>
                </a:cubicBezTo>
                <a:cubicBezTo>
                  <a:pt x="447021" y="723293"/>
                  <a:pt x="435422" y="711702"/>
                  <a:pt x="435422" y="697404"/>
                </a:cubicBezTo>
                <a:cubicBezTo>
                  <a:pt x="435422" y="683106"/>
                  <a:pt x="447021" y="671516"/>
                  <a:pt x="461329" y="671516"/>
                </a:cubicBezTo>
                <a:cubicBezTo>
                  <a:pt x="475631" y="671509"/>
                  <a:pt x="487229" y="683088"/>
                  <a:pt x="487237" y="697379"/>
                </a:cubicBezTo>
                <a:cubicBezTo>
                  <a:pt x="487237" y="697387"/>
                  <a:pt x="487237" y="697395"/>
                  <a:pt x="487237" y="697404"/>
                </a:cubicBezTo>
                <a:close/>
                <a:moveTo>
                  <a:pt x="705466" y="697404"/>
                </a:moveTo>
                <a:cubicBezTo>
                  <a:pt x="705466" y="711702"/>
                  <a:pt x="693867" y="723293"/>
                  <a:pt x="679559" y="723293"/>
                </a:cubicBezTo>
                <a:cubicBezTo>
                  <a:pt x="665250" y="723293"/>
                  <a:pt x="653652" y="711702"/>
                  <a:pt x="653652" y="697404"/>
                </a:cubicBezTo>
                <a:cubicBezTo>
                  <a:pt x="653652" y="683106"/>
                  <a:pt x="665250" y="671516"/>
                  <a:pt x="679559" y="671516"/>
                </a:cubicBezTo>
                <a:cubicBezTo>
                  <a:pt x="693861" y="671509"/>
                  <a:pt x="705458" y="683088"/>
                  <a:pt x="705466" y="697379"/>
                </a:cubicBezTo>
                <a:cubicBezTo>
                  <a:pt x="705466" y="697387"/>
                  <a:pt x="705466" y="697395"/>
                  <a:pt x="705466" y="697404"/>
                </a:cubicBezTo>
                <a:close/>
                <a:moveTo>
                  <a:pt x="923695" y="697404"/>
                </a:moveTo>
                <a:cubicBezTo>
                  <a:pt x="923695" y="711702"/>
                  <a:pt x="912096" y="723293"/>
                  <a:pt x="897788" y="723293"/>
                </a:cubicBezTo>
                <a:cubicBezTo>
                  <a:pt x="883481" y="723293"/>
                  <a:pt x="871881" y="711702"/>
                  <a:pt x="871881" y="697404"/>
                </a:cubicBezTo>
                <a:cubicBezTo>
                  <a:pt x="871881" y="683106"/>
                  <a:pt x="883481" y="671516"/>
                  <a:pt x="897788" y="671516"/>
                </a:cubicBezTo>
                <a:cubicBezTo>
                  <a:pt x="912090" y="671509"/>
                  <a:pt x="923688" y="683088"/>
                  <a:pt x="923695" y="697379"/>
                </a:cubicBezTo>
                <a:cubicBezTo>
                  <a:pt x="923695" y="697387"/>
                  <a:pt x="923695" y="697395"/>
                  <a:pt x="923695" y="697404"/>
                </a:cubicBezTo>
                <a:close/>
                <a:moveTo>
                  <a:pt x="1141923" y="697404"/>
                </a:moveTo>
                <a:cubicBezTo>
                  <a:pt x="1141923" y="711702"/>
                  <a:pt x="1130324" y="723293"/>
                  <a:pt x="1116016" y="723293"/>
                </a:cubicBezTo>
                <a:cubicBezTo>
                  <a:pt x="1101708" y="723293"/>
                  <a:pt x="1090109" y="711702"/>
                  <a:pt x="1090109" y="697404"/>
                </a:cubicBezTo>
                <a:cubicBezTo>
                  <a:pt x="1090109" y="683106"/>
                  <a:pt x="1101708" y="671516"/>
                  <a:pt x="1116016" y="671516"/>
                </a:cubicBezTo>
                <a:cubicBezTo>
                  <a:pt x="1130316" y="671532"/>
                  <a:pt x="1141907" y="683113"/>
                  <a:pt x="1141923" y="697404"/>
                </a:cubicBezTo>
                <a:close/>
              </a:path>
            </a:pathLst>
          </a:custGeom>
          <a:solidFill>
            <a:srgbClr val="015DBB"/>
          </a:solidFill>
        </p:spPr>
      </p:sp>
      <p:sp>
        <p:nvSpPr>
          <p:cNvPr id="13" name="Text 10"/>
          <p:cNvSpPr/>
          <p:nvPr/>
        </p:nvSpPr>
        <p:spPr>
          <a:xfrm>
            <a:off x="10230150" y="1569684"/>
            <a:ext cx="1141923" cy="723293"/>
          </a:xfrm>
          <a:prstGeom prst="rect">
            <a:avLst/>
          </a:prstGeom>
          <a:noFill/>
        </p:spPr>
        <p:txBody>
          <a:bodyPr wrap="square" lIns="45720" tIns="91440" rIns="91440" bIns="45720" rtlCol="0" anchor="ctr"/>
          <a:lstStyle/>
          <a:p>
            <a:pPr>
              <a:lnSpc>
                <a:spcPct val="100000"/>
              </a:lnSpc>
            </a:pPr>
            <a:endParaRPr lang="en-US" sz="1600" dirty="0"/>
          </a:p>
        </p:txBody>
      </p:sp>
      <p:pic>
        <p:nvPicPr>
          <p:cNvPr id="14" name="Image 1" descr="https://kimi-img.moonshot.cn/pub/slides/slides_tmpl/image/25-09-08-12:55:40-d2v63j5nfo2stf9dk4m0.png"/>
          <p:cNvPicPr>
            <a:picLocks noChangeAspect="1"/>
          </p:cNvPicPr>
          <p:nvPr/>
        </p:nvPicPr>
        <p:blipFill>
          <a:blip r:embed="rId6"/>
          <a:stretch>
            <a:fillRect/>
          </a:stretch>
        </p:blipFill>
        <p:spPr>
          <a:xfrm>
            <a:off x="2616835" y="4125595"/>
            <a:ext cx="6468110" cy="298450"/>
          </a:xfrm>
          <a:prstGeom prst="rect">
            <a:avLst/>
          </a:prstGeom>
        </p:spPr>
      </p:pic>
      <p:pic>
        <p:nvPicPr>
          <p:cNvPr id="15" name="Image 2" descr="https://kimi-img.moonshot.cn/pub/slides/slides_tmpl/image/25-09-08-12:55:57-d2v63ndnfo2stf9dk540.png"/>
          <p:cNvPicPr>
            <a:picLocks noChangeAspect="1"/>
          </p:cNvPicPr>
          <p:nvPr/>
        </p:nvPicPr>
        <p:blipFill>
          <a:blip r:embed="rId7">
            <a:alphaModFix amt="25000"/>
          </a:blip>
          <a:srcRect t="22162"/>
          <a:stretch>
            <a:fillRect/>
          </a:stretch>
        </p:blipFill>
        <p:spPr>
          <a:xfrm>
            <a:off x="777875" y="2787650"/>
            <a:ext cx="2311400" cy="1800225"/>
          </a:xfrm>
          <a:prstGeom prst="rect">
            <a:avLst/>
          </a:prstGeom>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8-12:55:40-d2v63j5nfo2stf9dk4ng.png"/>
          <p:cNvPicPr>
            <a:picLocks noChangeAspect="1"/>
          </p:cNvPicPr>
          <p:nvPr/>
        </p:nvPicPr>
        <p:blipFill>
          <a:blip r:embed="rId1"/>
          <a:stretch>
            <a:fillRect/>
          </a:stretch>
        </p:blipFill>
        <p:spPr>
          <a:xfrm>
            <a:off x="684530" y="-364490"/>
            <a:ext cx="2270125" cy="7018655"/>
          </a:xfrm>
          <a:prstGeom prst="rect">
            <a:avLst/>
          </a:prstGeom>
        </p:spPr>
      </p:pic>
      <p:sp>
        <p:nvSpPr>
          <p:cNvPr id="3" name="Shape 0"/>
          <p:cNvSpPr/>
          <p:nvPr/>
        </p:nvSpPr>
        <p:spPr>
          <a:xfrm>
            <a:off x="2105025" y="720090"/>
            <a:ext cx="2698115" cy="1108075"/>
          </a:xfrm>
          <a:prstGeom prst="rect">
            <a:avLst/>
          </a:prstGeom>
          <a:solidFill>
            <a:srgbClr val="000000">
              <a:alpha val="0"/>
            </a:srgbClr>
          </a:solidFill>
        </p:spPr>
      </p:sp>
      <p:sp>
        <p:nvSpPr>
          <p:cNvPr id="4" name="Text 1"/>
          <p:cNvSpPr/>
          <p:nvPr/>
        </p:nvSpPr>
        <p:spPr>
          <a:xfrm>
            <a:off x="2105025" y="720090"/>
            <a:ext cx="2698115" cy="1108075"/>
          </a:xfrm>
          <a:prstGeom prst="rect">
            <a:avLst/>
          </a:prstGeom>
          <a:noFill/>
        </p:spPr>
        <p:txBody>
          <a:bodyPr wrap="square" lIns="46863" tIns="90043" rIns="90043" bIns="46863" rtlCol="0" anchor="b"/>
          <a:lstStyle/>
          <a:p>
            <a:pPr>
              <a:lnSpc>
                <a:spcPct val="100000"/>
              </a:lnSpc>
            </a:pPr>
            <a:r>
              <a:rPr lang="en-US" sz="6600" dirty="0">
                <a:solidFill>
                  <a:srgbClr val="015DBB"/>
                </a:solidFill>
                <a:latin typeface="MiSans" pitchFamily="34" charset="-122"/>
                <a:ea typeface="MiSans" pitchFamily="34" charset="-122"/>
                <a:cs typeface="MiSans" pitchFamily="34" charset="-120"/>
              </a:rPr>
              <a:t>目录</a:t>
            </a:r>
            <a:endParaRPr lang="en-US" sz="1600" dirty="0"/>
          </a:p>
        </p:txBody>
      </p:sp>
      <p:sp>
        <p:nvSpPr>
          <p:cNvPr id="5" name="Text 2"/>
          <p:cNvSpPr/>
          <p:nvPr/>
        </p:nvSpPr>
        <p:spPr>
          <a:xfrm>
            <a:off x="4143375" y="1094105"/>
            <a:ext cx="2884805" cy="487561"/>
          </a:xfrm>
          <a:prstGeom prst="rect">
            <a:avLst/>
          </a:prstGeom>
          <a:noFill/>
        </p:spPr>
        <p:txBody>
          <a:bodyPr wrap="square" lIns="91440" tIns="45720" rIns="91440" bIns="45720" rtlCol="0" anchor="t">
            <a:spAutoFit/>
          </a:bodyPr>
          <a:lstStyle/>
          <a:p>
            <a:pPr>
              <a:lnSpc>
                <a:spcPct val="100000"/>
              </a:lnSpc>
            </a:pPr>
            <a:r>
              <a:rPr lang="en-US" sz="3200" b="1" dirty="0">
                <a:solidFill>
                  <a:srgbClr val="015DBB">
                    <a:alpha val="55000"/>
                  </a:srgbClr>
                </a:solidFill>
                <a:latin typeface="MiSans" pitchFamily="34" charset="-122"/>
                <a:ea typeface="MiSans" pitchFamily="34" charset="-122"/>
                <a:cs typeface="MiSans" pitchFamily="34" charset="-120"/>
              </a:rPr>
              <a:t>CONTENTS</a:t>
            </a:r>
            <a:endParaRPr lang="en-US" sz="1600" dirty="0"/>
          </a:p>
        </p:txBody>
      </p:sp>
      <p:pic>
        <p:nvPicPr>
          <p:cNvPr id="6" name="Image 1" descr="https://kimi-img.moonshot.cn/pub/slides/slides_tmpl/image/25-09-08-12:55:40-d2v63j5nfo2stf9dk4o0.png"/>
          <p:cNvPicPr>
            <a:picLocks noChangeAspect="1"/>
          </p:cNvPicPr>
          <p:nvPr>
            <p:custDataLst>
              <p:tags r:id="rId2"/>
            </p:custDataLst>
          </p:nvPr>
        </p:nvPicPr>
        <p:blipFill>
          <a:blip r:embed="rId3"/>
          <a:stretch>
            <a:fillRect/>
          </a:stretch>
        </p:blipFill>
        <p:spPr>
          <a:xfrm>
            <a:off x="1979930" y="2415540"/>
            <a:ext cx="6681470" cy="298450"/>
          </a:xfrm>
          <a:prstGeom prst="rect">
            <a:avLst/>
          </a:prstGeom>
        </p:spPr>
      </p:pic>
      <p:pic>
        <p:nvPicPr>
          <p:cNvPr id="7" name="Image 2" descr="https://kimi-img.moonshot.cn/pub/slides/slides_tmpl/image/25-09-08-12:55:40-d2v63j5nfo2stf9dk4o0.png"/>
          <p:cNvPicPr>
            <a:picLocks noChangeAspect="1"/>
          </p:cNvPicPr>
          <p:nvPr>
            <p:custDataLst>
              <p:tags r:id="rId4"/>
            </p:custDataLst>
          </p:nvPr>
        </p:nvPicPr>
        <p:blipFill>
          <a:blip r:embed="rId3"/>
          <a:stretch>
            <a:fillRect/>
          </a:stretch>
        </p:blipFill>
        <p:spPr>
          <a:xfrm>
            <a:off x="2451735" y="3949065"/>
            <a:ext cx="6681470" cy="298450"/>
          </a:xfrm>
          <a:prstGeom prst="rect">
            <a:avLst/>
          </a:prstGeom>
        </p:spPr>
      </p:pic>
      <p:pic>
        <p:nvPicPr>
          <p:cNvPr id="8" name="Image 3" descr="https://kimi-img.moonshot.cn/pub/slides/slides_tmpl/image/25-09-08-12:55:40-d2v63j5nfo2stf9dk4o0.png"/>
          <p:cNvPicPr>
            <a:picLocks noChangeAspect="1"/>
          </p:cNvPicPr>
          <p:nvPr>
            <p:custDataLst>
              <p:tags r:id="rId5"/>
            </p:custDataLst>
          </p:nvPr>
        </p:nvPicPr>
        <p:blipFill>
          <a:blip r:embed="rId3"/>
          <a:stretch>
            <a:fillRect/>
          </a:stretch>
        </p:blipFill>
        <p:spPr>
          <a:xfrm>
            <a:off x="2682240" y="5280025"/>
            <a:ext cx="6681470" cy="298450"/>
          </a:xfrm>
          <a:prstGeom prst="rect">
            <a:avLst/>
          </a:prstGeom>
        </p:spPr>
      </p:pic>
      <p:pic>
        <p:nvPicPr>
          <p:cNvPr id="9" name="Image 4" descr="https://kimi-img.moonshot.cn/pub/slides/slides_tmpl/image/25-09-08-12:55:41-d2v63jdnfo2stf9dk4qg.png"/>
          <p:cNvPicPr>
            <a:picLocks noChangeAspect="1"/>
          </p:cNvPicPr>
          <p:nvPr/>
        </p:nvPicPr>
        <p:blipFill>
          <a:blip r:embed="rId6"/>
          <a:stretch>
            <a:fillRect/>
          </a:stretch>
        </p:blipFill>
        <p:spPr>
          <a:xfrm rot="5400000" flipH="1">
            <a:off x="7978140" y="2079625"/>
            <a:ext cx="6858000" cy="2698115"/>
          </a:xfrm>
          <a:prstGeom prst="rect">
            <a:avLst/>
          </a:prstGeom>
        </p:spPr>
      </p:pic>
      <p:pic>
        <p:nvPicPr>
          <p:cNvPr id="10" name="Image 5" descr="https://kimi-img.moonshot.cn/pub/slides/slides_tmpl/image/25-09-08-12:55:41-d2v63jdnfo2stf9dk4og.png"/>
          <p:cNvPicPr>
            <a:picLocks noChangeAspect="1"/>
          </p:cNvPicPr>
          <p:nvPr/>
        </p:nvPicPr>
        <p:blipFill>
          <a:blip r:embed="rId7">
            <a:alphaModFix amt="13000"/>
          </a:blip>
          <a:stretch>
            <a:fillRect/>
          </a:stretch>
        </p:blipFill>
        <p:spPr>
          <a:xfrm>
            <a:off x="684530" y="4703445"/>
            <a:ext cx="1656080" cy="1332865"/>
          </a:xfrm>
          <a:prstGeom prst="rect">
            <a:avLst/>
          </a:prstGeom>
        </p:spPr>
      </p:pic>
      <p:pic>
        <p:nvPicPr>
          <p:cNvPr id="11" name="Image 6" descr="https://kimi-img.moonshot.cn/pub/slides/slides_tmpl/image/25-09-08-12:55:41-d2v63jdnfo2stf9dk4og.png"/>
          <p:cNvPicPr>
            <a:picLocks noChangeAspect="1"/>
          </p:cNvPicPr>
          <p:nvPr/>
        </p:nvPicPr>
        <p:blipFill>
          <a:blip r:embed="rId7">
            <a:alphaModFix amt="13000"/>
          </a:blip>
          <a:stretch>
            <a:fillRect/>
          </a:stretch>
        </p:blipFill>
        <p:spPr>
          <a:xfrm flipH="1" flipV="1">
            <a:off x="8916670" y="789940"/>
            <a:ext cx="1656080" cy="1332865"/>
          </a:xfrm>
          <a:prstGeom prst="rect">
            <a:avLst/>
          </a:prstGeom>
        </p:spPr>
      </p:pic>
      <p:sp>
        <p:nvSpPr>
          <p:cNvPr id="12" name="Text 3"/>
          <p:cNvSpPr/>
          <p:nvPr>
            <p:custDataLst>
              <p:tags r:id="rId8"/>
            </p:custDataLst>
          </p:nvPr>
        </p:nvSpPr>
        <p:spPr>
          <a:xfrm>
            <a:off x="2334260" y="1871345"/>
            <a:ext cx="838835" cy="583565"/>
          </a:xfrm>
          <a:prstGeom prst="rect">
            <a:avLst/>
          </a:prstGeom>
          <a:noFill/>
        </p:spPr>
        <p:txBody>
          <a:bodyPr wrap="square" lIns="91440" tIns="45720" rIns="91440" bIns="45720" rtlCol="0" anchor="t">
            <a:spAutoFit/>
          </a:bodyPr>
          <a:lstStyle/>
          <a:p>
            <a:pPr algn="ctr">
              <a:lnSpc>
                <a:spcPct val="100000"/>
              </a:lnSpc>
            </a:pPr>
            <a:r>
              <a:rPr lang="en-US" sz="3200" b="1" dirty="0">
                <a:solidFill>
                  <a:srgbClr val="015DBB"/>
                </a:solidFill>
                <a:latin typeface="MiSans" pitchFamily="34" charset="-122"/>
                <a:ea typeface="MiSans" pitchFamily="34" charset="-122"/>
                <a:cs typeface="MiSans" pitchFamily="34" charset="-120"/>
              </a:rPr>
              <a:t>01</a:t>
            </a:r>
            <a:endParaRPr lang="en-US" sz="1600" dirty="0"/>
          </a:p>
        </p:txBody>
      </p:sp>
      <p:sp>
        <p:nvSpPr>
          <p:cNvPr id="13" name="Text 4"/>
          <p:cNvSpPr/>
          <p:nvPr>
            <p:custDataLst>
              <p:tags r:id="rId9"/>
            </p:custDataLst>
          </p:nvPr>
        </p:nvSpPr>
        <p:spPr>
          <a:xfrm>
            <a:off x="3211830" y="1922145"/>
            <a:ext cx="6096000" cy="430530"/>
          </a:xfrm>
          <a:prstGeom prst="rect">
            <a:avLst/>
          </a:prstGeom>
          <a:noFill/>
        </p:spPr>
        <p:txBody>
          <a:bodyPr wrap="square" lIns="0" tIns="0" rIns="0" bIns="0" rtlCol="0" anchor="t">
            <a:spAutoFit/>
          </a:bodyPr>
          <a:lstStyle/>
          <a:p>
            <a:pPr>
              <a:lnSpc>
                <a:spcPct val="100000"/>
              </a:lnSpc>
            </a:pPr>
            <a:r>
              <a:rPr lang="en-US" sz="2800" b="1" dirty="0">
                <a:solidFill>
                  <a:srgbClr val="404040"/>
                </a:solidFill>
                <a:latin typeface="MiSans" pitchFamily="34" charset="-122"/>
                <a:ea typeface="MiSans" pitchFamily="34" charset="-122"/>
                <a:cs typeface="MiSans" pitchFamily="34" charset="-120"/>
              </a:rPr>
              <a:t>AI艺术风格迁移</a:t>
            </a:r>
            <a:endParaRPr lang="en-US" sz="1600" dirty="0"/>
          </a:p>
        </p:txBody>
      </p:sp>
      <p:sp>
        <p:nvSpPr>
          <p:cNvPr id="14" name="Text 5"/>
          <p:cNvSpPr/>
          <p:nvPr>
            <p:custDataLst>
              <p:tags r:id="rId10"/>
            </p:custDataLst>
          </p:nvPr>
        </p:nvSpPr>
        <p:spPr>
          <a:xfrm>
            <a:off x="2753995" y="3161665"/>
            <a:ext cx="838835" cy="583565"/>
          </a:xfrm>
          <a:prstGeom prst="rect">
            <a:avLst/>
          </a:prstGeom>
          <a:noFill/>
        </p:spPr>
        <p:txBody>
          <a:bodyPr wrap="square" lIns="91440" tIns="45720" rIns="91440" bIns="45720" rtlCol="0" anchor="t">
            <a:spAutoFit/>
          </a:bodyPr>
          <a:lstStyle/>
          <a:p>
            <a:pPr algn="ctr">
              <a:lnSpc>
                <a:spcPct val="100000"/>
              </a:lnSpc>
            </a:pPr>
            <a:r>
              <a:rPr lang="en-US" sz="3200" b="1" dirty="0">
                <a:solidFill>
                  <a:srgbClr val="015DBB"/>
                </a:solidFill>
                <a:latin typeface="MiSans" pitchFamily="34" charset="-122"/>
                <a:ea typeface="MiSans" pitchFamily="34" charset="-122"/>
                <a:cs typeface="MiSans" pitchFamily="34" charset="-120"/>
              </a:rPr>
              <a:t>02</a:t>
            </a:r>
            <a:endParaRPr lang="en-US" sz="1600" dirty="0"/>
          </a:p>
        </p:txBody>
      </p:sp>
      <p:sp>
        <p:nvSpPr>
          <p:cNvPr id="15" name="Text 6"/>
          <p:cNvSpPr/>
          <p:nvPr>
            <p:custDataLst>
              <p:tags r:id="rId11"/>
            </p:custDataLst>
          </p:nvPr>
        </p:nvSpPr>
        <p:spPr>
          <a:xfrm>
            <a:off x="3631565" y="3212465"/>
            <a:ext cx="6096000" cy="430530"/>
          </a:xfrm>
          <a:prstGeom prst="rect">
            <a:avLst/>
          </a:prstGeom>
          <a:noFill/>
        </p:spPr>
        <p:txBody>
          <a:bodyPr wrap="square" lIns="0" tIns="0" rIns="0" bIns="0" rtlCol="0" anchor="t">
            <a:spAutoFit/>
          </a:bodyPr>
          <a:lstStyle/>
          <a:p>
            <a:pPr>
              <a:lnSpc>
                <a:spcPct val="100000"/>
              </a:lnSpc>
            </a:pPr>
            <a:r>
              <a:rPr lang="en-US" sz="2800" b="1" dirty="0">
                <a:solidFill>
                  <a:srgbClr val="404040"/>
                </a:solidFill>
                <a:latin typeface="MiSans" pitchFamily="34" charset="-122"/>
                <a:ea typeface="MiSans" pitchFamily="34" charset="-122"/>
                <a:cs typeface="MiSans" pitchFamily="34" charset="-120"/>
              </a:rPr>
              <a:t>商店销售时序预测</a:t>
            </a:r>
            <a:endParaRPr lang="en-US" sz="1600" dirty="0"/>
          </a:p>
        </p:txBody>
      </p:sp>
      <p:sp>
        <p:nvSpPr>
          <p:cNvPr id="16" name="Text 7"/>
          <p:cNvSpPr/>
          <p:nvPr>
            <p:custDataLst>
              <p:tags r:id="rId12"/>
            </p:custDataLst>
          </p:nvPr>
        </p:nvSpPr>
        <p:spPr>
          <a:xfrm>
            <a:off x="3001010" y="4451985"/>
            <a:ext cx="838835" cy="583565"/>
          </a:xfrm>
          <a:prstGeom prst="rect">
            <a:avLst/>
          </a:prstGeom>
          <a:noFill/>
        </p:spPr>
        <p:txBody>
          <a:bodyPr wrap="square" lIns="91440" tIns="45720" rIns="91440" bIns="45720" rtlCol="0" anchor="t">
            <a:spAutoFit/>
          </a:bodyPr>
          <a:lstStyle/>
          <a:p>
            <a:pPr algn="ctr">
              <a:lnSpc>
                <a:spcPct val="100000"/>
              </a:lnSpc>
            </a:pPr>
            <a:r>
              <a:rPr lang="en-US" sz="3200" b="1" dirty="0">
                <a:solidFill>
                  <a:srgbClr val="015DBB"/>
                </a:solidFill>
                <a:latin typeface="MiSans" pitchFamily="34" charset="-122"/>
                <a:ea typeface="MiSans" pitchFamily="34" charset="-122"/>
                <a:cs typeface="MiSans" pitchFamily="34" charset="-120"/>
              </a:rPr>
              <a:t>03</a:t>
            </a:r>
            <a:endParaRPr lang="en-US" sz="1600" dirty="0"/>
          </a:p>
        </p:txBody>
      </p:sp>
      <p:sp>
        <p:nvSpPr>
          <p:cNvPr id="17" name="Text 8"/>
          <p:cNvSpPr/>
          <p:nvPr>
            <p:custDataLst>
              <p:tags r:id="rId13"/>
            </p:custDataLst>
          </p:nvPr>
        </p:nvSpPr>
        <p:spPr>
          <a:xfrm>
            <a:off x="3878580" y="4502785"/>
            <a:ext cx="6096000" cy="430530"/>
          </a:xfrm>
          <a:prstGeom prst="rect">
            <a:avLst/>
          </a:prstGeom>
          <a:noFill/>
        </p:spPr>
        <p:txBody>
          <a:bodyPr wrap="square" lIns="0" tIns="0" rIns="0" bIns="0" rtlCol="0" anchor="t">
            <a:spAutoFit/>
          </a:bodyPr>
          <a:lstStyle/>
          <a:p>
            <a:pPr>
              <a:lnSpc>
                <a:spcPct val="100000"/>
              </a:lnSpc>
            </a:pPr>
            <a:r>
              <a:rPr lang="en-US" sz="2800" b="1" dirty="0">
                <a:solidFill>
                  <a:srgbClr val="404040"/>
                </a:solidFill>
                <a:latin typeface="MiSans" pitchFamily="34" charset="-122"/>
                <a:ea typeface="MiSans" pitchFamily="34" charset="-122"/>
                <a:cs typeface="MiSans" pitchFamily="34" charset="-120"/>
              </a:rPr>
              <a:t>cyclegan</a:t>
            </a:r>
            <a:r>
              <a:rPr lang="zh-CN" altLang="en-US" sz="2800" b="1" dirty="0">
                <a:solidFill>
                  <a:srgbClr val="404040"/>
                </a:solidFill>
                <a:latin typeface="MiSans" pitchFamily="34" charset="-122"/>
                <a:ea typeface="MiSans" pitchFamily="34" charset="-122"/>
                <a:cs typeface="MiSans" pitchFamily="34" charset="-120"/>
              </a:rPr>
              <a:t>循环生成对抗网络</a:t>
            </a:r>
            <a:endParaRPr lang="zh-CN" altLang="en-US" sz="2800" b="1" dirty="0">
              <a:solidFill>
                <a:srgbClr val="404040"/>
              </a:solidFill>
              <a:latin typeface="MiSans" pitchFamily="34" charset="-122"/>
              <a:ea typeface="MiSans" pitchFamily="34" charset="-122"/>
              <a:cs typeface="MiSans" pitchFamily="34" charset="-120"/>
            </a:endParaRPr>
          </a:p>
        </p:txBody>
      </p:sp>
      <p:pic>
        <p:nvPicPr>
          <p:cNvPr id="18" name="Image 3" descr="https://kimi-img.moonshot.cn/pub/slides/slides_tmpl/image/25-09-08-12:55:40-d2v63j5nfo2stf9dk4o0.png"/>
          <p:cNvPicPr>
            <a:picLocks noChangeAspect="1"/>
          </p:cNvPicPr>
          <p:nvPr>
            <p:custDataLst>
              <p:tags r:id="rId14"/>
            </p:custDataLst>
          </p:nvPr>
        </p:nvPicPr>
        <p:blipFill>
          <a:blip r:embed="rId3"/>
          <a:stretch>
            <a:fillRect/>
          </a:stretch>
        </p:blipFill>
        <p:spPr>
          <a:xfrm>
            <a:off x="2860675" y="6415405"/>
            <a:ext cx="6681470" cy="298450"/>
          </a:xfrm>
          <a:prstGeom prst="rect">
            <a:avLst/>
          </a:prstGeom>
        </p:spPr>
      </p:pic>
      <p:sp>
        <p:nvSpPr>
          <p:cNvPr id="21" name="文本框 20"/>
          <p:cNvSpPr txBox="1"/>
          <p:nvPr/>
        </p:nvSpPr>
        <p:spPr>
          <a:xfrm>
            <a:off x="3488690" y="5742305"/>
            <a:ext cx="4064000" cy="860425"/>
          </a:xfrm>
          <a:prstGeom prst="rect">
            <a:avLst/>
          </a:prstGeom>
          <a:noFill/>
        </p:spPr>
        <p:txBody>
          <a:bodyPr wrap="square" rtlCol="0">
            <a:spAutoFit/>
          </a:bodyPr>
          <a:p>
            <a:r>
              <a:rPr lang="en-US" sz="3200" b="1" dirty="0">
                <a:solidFill>
                  <a:srgbClr val="015DBB"/>
                </a:solidFill>
                <a:latin typeface="MiSans" pitchFamily="34" charset="-122"/>
                <a:ea typeface="MiSans" pitchFamily="34" charset="-122"/>
                <a:cs typeface="MiSans" pitchFamily="34" charset="-120"/>
                <a:sym typeface="+mn-ea"/>
              </a:rPr>
              <a:t>04 </a:t>
            </a:r>
            <a:r>
              <a:rPr lang="zh-CN" altLang="en-US" sz="2800" b="1" dirty="0">
                <a:solidFill>
                  <a:srgbClr val="404040"/>
                </a:solidFill>
                <a:latin typeface="MiSans" pitchFamily="34" charset="-122"/>
                <a:ea typeface="MiSans" pitchFamily="34" charset="-122"/>
                <a:cs typeface="MiSans" pitchFamily="34" charset="-120"/>
                <a:sym typeface="+mn-ea"/>
              </a:rPr>
              <a:t>总结与展望</a:t>
            </a:r>
            <a:endParaRPr lang="en-US" dirty="0"/>
          </a:p>
          <a:p>
            <a:endParaRPr lang="zh-CN" altLang="en-US"/>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8-12:55:41-d2v63jdnfo2stf9dk4q0.png"/>
          <p:cNvPicPr>
            <a:picLocks noChangeAspect="1"/>
          </p:cNvPicPr>
          <p:nvPr/>
        </p:nvPicPr>
        <p:blipFill>
          <a:blip r:embed="rId1"/>
          <a:stretch>
            <a:fillRect/>
          </a:stretch>
        </p:blipFill>
        <p:spPr>
          <a:xfrm>
            <a:off x="0" y="4660265"/>
            <a:ext cx="12192635" cy="2197735"/>
          </a:xfrm>
          <a:prstGeom prst="rect">
            <a:avLst/>
          </a:prstGeom>
        </p:spPr>
      </p:pic>
      <p:sp>
        <p:nvSpPr>
          <p:cNvPr id="3" name="Text 0"/>
          <p:cNvSpPr/>
          <p:nvPr/>
        </p:nvSpPr>
        <p:spPr>
          <a:xfrm>
            <a:off x="3332163" y="3239770"/>
            <a:ext cx="5956935" cy="829945"/>
          </a:xfrm>
          <a:prstGeom prst="rect">
            <a:avLst/>
          </a:prstGeom>
          <a:noFill/>
        </p:spPr>
        <p:txBody>
          <a:bodyPr wrap="square" lIns="91440" tIns="45720" rIns="91440" bIns="45720" rtlCol="0" anchor="t">
            <a:spAutoFit/>
          </a:bodyPr>
          <a:lstStyle/>
          <a:p>
            <a:pPr algn="ctr">
              <a:lnSpc>
                <a:spcPct val="100000"/>
              </a:lnSpc>
            </a:pPr>
            <a:r>
              <a:rPr lang="en-US" sz="4800" b="1" dirty="0">
                <a:solidFill>
                  <a:srgbClr val="015DBB"/>
                </a:solidFill>
                <a:latin typeface="MiSans" pitchFamily="34" charset="-122"/>
                <a:ea typeface="MiSans" pitchFamily="34" charset="-122"/>
                <a:cs typeface="MiSans" pitchFamily="34" charset="-120"/>
              </a:rPr>
              <a:t>AI艺术风格迁移</a:t>
            </a:r>
            <a:endParaRPr lang="en-US" sz="1600" dirty="0"/>
          </a:p>
        </p:txBody>
      </p:sp>
      <p:sp>
        <p:nvSpPr>
          <p:cNvPr id="4" name="Text 1"/>
          <p:cNvSpPr/>
          <p:nvPr/>
        </p:nvSpPr>
        <p:spPr>
          <a:xfrm>
            <a:off x="3332163" y="1433195"/>
            <a:ext cx="5956935" cy="1483320"/>
          </a:xfrm>
          <a:prstGeom prst="rect">
            <a:avLst/>
          </a:prstGeom>
          <a:noFill/>
        </p:spPr>
        <p:txBody>
          <a:bodyPr wrap="square" lIns="91440" tIns="45720" rIns="91440" bIns="45720" rtlCol="0" anchor="t">
            <a:spAutoFit/>
          </a:bodyPr>
          <a:lstStyle/>
          <a:p>
            <a:pPr algn="ctr">
              <a:lnSpc>
                <a:spcPct val="100000"/>
              </a:lnSpc>
            </a:pPr>
            <a:r>
              <a:rPr lang="en-US" sz="9600" b="1" dirty="0">
                <a:solidFill>
                  <a:srgbClr val="015DBB"/>
                </a:solidFill>
                <a:latin typeface="MiSans" pitchFamily="34" charset="-122"/>
                <a:ea typeface="MiSans" pitchFamily="34" charset="-122"/>
                <a:cs typeface="MiSans" pitchFamily="34" charset="-120"/>
              </a:rPr>
              <a:t>01</a:t>
            </a:r>
            <a:endParaRPr lang="en-US" sz="1600" dirty="0"/>
          </a:p>
        </p:txBody>
      </p:sp>
      <p:pic>
        <p:nvPicPr>
          <p:cNvPr id="5" name="Image 1" descr="https://kimi-img.moonshot.cn/pub/slides/slides_tmpl/image/25-09-08-12:55:40-d2v63j5nfo2stf9dk4mg.png"/>
          <p:cNvPicPr>
            <a:picLocks noChangeAspect="1"/>
          </p:cNvPicPr>
          <p:nvPr/>
        </p:nvPicPr>
        <p:blipFill>
          <a:blip r:embed="rId2"/>
          <a:srcRect t="1192" b="1192"/>
          <a:stretch>
            <a:fillRect/>
          </a:stretch>
        </p:blipFill>
        <p:spPr>
          <a:xfrm>
            <a:off x="5251133" y="1950720"/>
            <a:ext cx="2118995" cy="1132205"/>
          </a:xfrm>
          <a:prstGeom prst="rect">
            <a:avLst/>
          </a:prstGeom>
        </p:spPr>
      </p:pic>
      <p:pic>
        <p:nvPicPr>
          <p:cNvPr id="6" name="Image 2" descr="https://kimi-img.moonshot.cn/pub/slides/slides_tmpl/image/25-09-08-12:55:57-d2v63ndnfo2stf9dk540.png"/>
          <p:cNvPicPr>
            <a:picLocks noChangeAspect="1"/>
          </p:cNvPicPr>
          <p:nvPr/>
        </p:nvPicPr>
        <p:blipFill>
          <a:blip r:embed="rId3"/>
          <a:srcRect t="22162"/>
          <a:stretch>
            <a:fillRect/>
          </a:stretch>
        </p:blipFill>
        <p:spPr>
          <a:xfrm>
            <a:off x="533400" y="1191895"/>
            <a:ext cx="3402965" cy="2649220"/>
          </a:xfrm>
          <a:prstGeom prst="rect">
            <a:avLst/>
          </a:prstGeom>
        </p:spPr>
      </p:pic>
      <p:pic>
        <p:nvPicPr>
          <p:cNvPr id="7" name="Image 3" descr="https://kimi-img.moonshot.cn/pub/slides/slides_tmpl/image/25-09-08-12:55:57-d2v63ndnfo2stf9dk540.png"/>
          <p:cNvPicPr>
            <a:picLocks noChangeAspect="1"/>
          </p:cNvPicPr>
          <p:nvPr/>
        </p:nvPicPr>
        <p:blipFill>
          <a:blip r:embed="rId3">
            <a:alphaModFix amt="30000"/>
          </a:blip>
          <a:srcRect t="22162"/>
          <a:stretch>
            <a:fillRect/>
          </a:stretch>
        </p:blipFill>
        <p:spPr>
          <a:xfrm flipH="1">
            <a:off x="8581390" y="779780"/>
            <a:ext cx="3402965" cy="2649220"/>
          </a:xfrm>
          <a:prstGeom prst="rect">
            <a:avLst/>
          </a:prstGeom>
        </p:spPr>
      </p:pic>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8-12:56:02-d2v63olnfo2stf9dk56g.png"/>
          <p:cNvPicPr>
            <a:picLocks noChangeAspect="1"/>
          </p:cNvPicPr>
          <p:nvPr/>
        </p:nvPicPr>
        <p:blipFill>
          <a:blip r:embed="rId1"/>
          <a:stretch>
            <a:fillRect/>
          </a:stretch>
        </p:blipFill>
        <p:spPr>
          <a:xfrm>
            <a:off x="15240" y="1923415"/>
            <a:ext cx="3718560" cy="3718560"/>
          </a:xfrm>
          <a:prstGeom prst="rect">
            <a:avLst/>
          </a:prstGeom>
        </p:spPr>
      </p:pic>
      <p:sp>
        <p:nvSpPr>
          <p:cNvPr id="3" name="Shape 0"/>
          <p:cNvSpPr/>
          <p:nvPr/>
        </p:nvSpPr>
        <p:spPr>
          <a:xfrm>
            <a:off x="3547110" y="1637030"/>
            <a:ext cx="913130" cy="913130"/>
          </a:xfrm>
          <a:prstGeom prst="ellipse">
            <a:avLst/>
          </a:prstGeom>
          <a:solidFill>
            <a:srgbClr val="015DBB"/>
          </a:solidFill>
        </p:spPr>
      </p:sp>
      <p:sp>
        <p:nvSpPr>
          <p:cNvPr id="4" name="Text 1"/>
          <p:cNvSpPr/>
          <p:nvPr/>
        </p:nvSpPr>
        <p:spPr>
          <a:xfrm>
            <a:off x="3547110" y="1637030"/>
            <a:ext cx="913130" cy="913130"/>
          </a:xfrm>
          <a:prstGeom prst="rect">
            <a:avLst/>
          </a:prstGeom>
          <a:noFill/>
        </p:spPr>
        <p:txBody>
          <a:bodyPr wrap="square" lIns="45720" tIns="91440" rIns="91440" bIns="45720" rtlCol="0" anchor="ctr"/>
          <a:lstStyle/>
          <a:p>
            <a:pPr>
              <a:lnSpc>
                <a:spcPct val="100000"/>
              </a:lnSpc>
            </a:pPr>
            <a:endParaRPr lang="en-US" sz="1600" dirty="0"/>
          </a:p>
        </p:txBody>
      </p:sp>
      <p:sp>
        <p:nvSpPr>
          <p:cNvPr id="5" name="Shape 2"/>
          <p:cNvSpPr/>
          <p:nvPr/>
        </p:nvSpPr>
        <p:spPr>
          <a:xfrm>
            <a:off x="4036060" y="3326130"/>
            <a:ext cx="913130" cy="913130"/>
          </a:xfrm>
          <a:prstGeom prst="ellipse">
            <a:avLst/>
          </a:prstGeom>
          <a:solidFill>
            <a:srgbClr val="015DBB"/>
          </a:solidFill>
        </p:spPr>
      </p:sp>
      <p:sp>
        <p:nvSpPr>
          <p:cNvPr id="6" name="Text 3"/>
          <p:cNvSpPr/>
          <p:nvPr/>
        </p:nvSpPr>
        <p:spPr>
          <a:xfrm>
            <a:off x="4036060" y="3326130"/>
            <a:ext cx="913130" cy="913130"/>
          </a:xfrm>
          <a:prstGeom prst="rect">
            <a:avLst/>
          </a:prstGeom>
          <a:noFill/>
        </p:spPr>
        <p:txBody>
          <a:bodyPr wrap="square" lIns="45720" tIns="91440" rIns="91440" bIns="45720" rtlCol="0" anchor="ctr"/>
          <a:lstStyle/>
          <a:p>
            <a:pPr>
              <a:lnSpc>
                <a:spcPct val="100000"/>
              </a:lnSpc>
            </a:pPr>
            <a:endParaRPr lang="en-US" sz="1600" dirty="0"/>
          </a:p>
        </p:txBody>
      </p:sp>
      <p:sp>
        <p:nvSpPr>
          <p:cNvPr id="7" name="Shape 4"/>
          <p:cNvSpPr/>
          <p:nvPr/>
        </p:nvSpPr>
        <p:spPr>
          <a:xfrm>
            <a:off x="3547110" y="5015230"/>
            <a:ext cx="913130" cy="913130"/>
          </a:xfrm>
          <a:prstGeom prst="ellipse">
            <a:avLst/>
          </a:prstGeom>
          <a:solidFill>
            <a:srgbClr val="015DBB"/>
          </a:solidFill>
        </p:spPr>
      </p:sp>
      <p:sp>
        <p:nvSpPr>
          <p:cNvPr id="8" name="Text 5"/>
          <p:cNvSpPr/>
          <p:nvPr/>
        </p:nvSpPr>
        <p:spPr>
          <a:xfrm>
            <a:off x="3547110" y="5015230"/>
            <a:ext cx="913130" cy="913130"/>
          </a:xfrm>
          <a:prstGeom prst="rect">
            <a:avLst/>
          </a:prstGeom>
          <a:noFill/>
        </p:spPr>
        <p:txBody>
          <a:bodyPr wrap="square" lIns="45720" tIns="91440" rIns="91440" bIns="45720" rtlCol="0" anchor="ctr"/>
          <a:lstStyle/>
          <a:p>
            <a:pPr>
              <a:lnSpc>
                <a:spcPct val="100000"/>
              </a:lnSpc>
            </a:pPr>
            <a:endParaRPr lang="en-US" sz="1600" dirty="0"/>
          </a:p>
        </p:txBody>
      </p:sp>
      <p:sp>
        <p:nvSpPr>
          <p:cNvPr id="9" name="Text 6"/>
          <p:cNvSpPr/>
          <p:nvPr/>
        </p:nvSpPr>
        <p:spPr>
          <a:xfrm>
            <a:off x="595630" y="525145"/>
            <a:ext cx="7004685" cy="562570"/>
          </a:xfrm>
          <a:prstGeom prst="rect">
            <a:avLst/>
          </a:prstGeom>
          <a:noFill/>
        </p:spPr>
        <p:txBody>
          <a:bodyPr wrap="square" lIns="91440" tIns="45720" rIns="91440" bIns="45720" rtlCol="0" anchor="t">
            <a:spAutoFit/>
          </a:bodyPr>
          <a:lstStyle/>
          <a:p>
            <a:pPr>
              <a:lnSpc>
                <a:spcPct val="100000"/>
              </a:lnSpc>
            </a:pPr>
            <a:r>
              <a:rPr lang="en-US" sz="3600" b="1" dirty="0">
                <a:solidFill>
                  <a:srgbClr val="015DBB"/>
                </a:solidFill>
                <a:latin typeface="MiSans" pitchFamily="34" charset="-122"/>
                <a:ea typeface="MiSans" pitchFamily="34" charset="-122"/>
                <a:cs typeface="MiSans" pitchFamily="34" charset="-120"/>
              </a:rPr>
              <a:t>算法原理：三图输入与三项损失</a:t>
            </a:r>
            <a:endParaRPr lang="en-US" sz="1600" dirty="0"/>
          </a:p>
        </p:txBody>
      </p:sp>
      <p:pic>
        <p:nvPicPr>
          <p:cNvPr id="10" name="Image 1" descr="https://kimi-img.moonshot.cn/pub/slides/slides_tmpl/image/25-09-08-12:55:42-d2v63jlnfo2stf9dk4rg.png"/>
          <p:cNvPicPr>
            <a:picLocks noChangeAspect="1"/>
          </p:cNvPicPr>
          <p:nvPr/>
        </p:nvPicPr>
        <p:blipFill>
          <a:blip r:embed="rId2"/>
          <a:stretch>
            <a:fillRect/>
          </a:stretch>
        </p:blipFill>
        <p:spPr>
          <a:xfrm>
            <a:off x="15240" y="487045"/>
            <a:ext cx="579755" cy="652145"/>
          </a:xfrm>
          <a:prstGeom prst="rect">
            <a:avLst/>
          </a:prstGeom>
        </p:spPr>
      </p:pic>
      <p:pic>
        <p:nvPicPr>
          <p:cNvPr id="11" name="Image 2" descr="https://kimi-img.moonshot.cn/pub/slides/slides_tmpl/image/25-09-08-12:56:04-d2v63p5nfo2stf9dk58g.png"/>
          <p:cNvPicPr>
            <a:picLocks noChangeAspect="1"/>
          </p:cNvPicPr>
          <p:nvPr/>
        </p:nvPicPr>
        <p:blipFill>
          <a:blip r:embed="rId3"/>
          <a:stretch>
            <a:fillRect/>
          </a:stretch>
        </p:blipFill>
        <p:spPr>
          <a:xfrm>
            <a:off x="206375" y="2012315"/>
            <a:ext cx="3340735" cy="3481070"/>
          </a:xfrm>
          <a:prstGeom prst="rect">
            <a:avLst/>
          </a:prstGeom>
        </p:spPr>
      </p:pic>
      <p:sp>
        <p:nvSpPr>
          <p:cNvPr id="12" name="Text 7"/>
          <p:cNvSpPr/>
          <p:nvPr/>
        </p:nvSpPr>
        <p:spPr>
          <a:xfrm>
            <a:off x="3571875" y="1804670"/>
            <a:ext cx="863600" cy="539750"/>
          </a:xfrm>
          <a:prstGeom prst="rect">
            <a:avLst/>
          </a:prstGeom>
          <a:noFill/>
        </p:spPr>
        <p:txBody>
          <a:bodyPr wrap="square" lIns="91440" tIns="45720" rIns="91440" bIns="45720" rtlCol="0" anchor="t"/>
          <a:lstStyle/>
          <a:p>
            <a:pPr algn="ctr">
              <a:lnSpc>
                <a:spcPct val="100000"/>
              </a:lnSpc>
            </a:pPr>
            <a:r>
              <a:rPr lang="en-US" sz="3200" b="1" dirty="0">
                <a:solidFill>
                  <a:srgbClr val="FFFFFF"/>
                </a:solidFill>
                <a:latin typeface="MiSans" pitchFamily="34" charset="-122"/>
                <a:ea typeface="MiSans" pitchFamily="34" charset="-122"/>
                <a:cs typeface="MiSans" pitchFamily="34" charset="-120"/>
              </a:rPr>
              <a:t>01</a:t>
            </a:r>
            <a:endParaRPr lang="en-US" sz="1600" dirty="0"/>
          </a:p>
        </p:txBody>
      </p:sp>
      <p:sp>
        <p:nvSpPr>
          <p:cNvPr id="13" name="Text 8"/>
          <p:cNvSpPr/>
          <p:nvPr/>
        </p:nvSpPr>
        <p:spPr>
          <a:xfrm>
            <a:off x="4516120" y="1638935"/>
            <a:ext cx="6651625" cy="276225"/>
          </a:xfrm>
          <a:prstGeom prst="rect">
            <a:avLst/>
          </a:prstGeom>
          <a:noFill/>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122"/>
                <a:ea typeface="MiSans" pitchFamily="34" charset="-122"/>
                <a:cs typeface="MiSans" pitchFamily="34" charset="-120"/>
              </a:rPr>
              <a:t>三图输入</a:t>
            </a:r>
            <a:endParaRPr lang="en-US" sz="1600" dirty="0"/>
          </a:p>
        </p:txBody>
      </p:sp>
      <p:sp>
        <p:nvSpPr>
          <p:cNvPr id="14" name="Text 9"/>
          <p:cNvSpPr/>
          <p:nvPr/>
        </p:nvSpPr>
        <p:spPr>
          <a:xfrm>
            <a:off x="4516120" y="2012315"/>
            <a:ext cx="6848475" cy="862409"/>
          </a:xfrm>
          <a:prstGeom prst="rect">
            <a:avLst/>
          </a:prstGeom>
          <a:noFill/>
        </p:spPr>
        <p:txBody>
          <a:bodyPr wrap="square" lIns="91440" tIns="45720" rIns="91440" bIns="45720" rtlCol="0" anchor="t">
            <a:spAutoFit/>
          </a:bodyPr>
          <a:lstStyle/>
          <a:p>
            <a:pPr algn="just">
              <a:lnSpc>
                <a:spcPct val="130000"/>
              </a:lnSpc>
            </a:pPr>
            <a:r>
              <a:rPr lang="en-US" sz="1400" dirty="0">
                <a:solidFill>
                  <a:srgbClr val="404040"/>
                </a:solidFill>
                <a:latin typeface="MiSans" pitchFamily="34" charset="-122"/>
                <a:ea typeface="MiSans" pitchFamily="34" charset="-122"/>
                <a:cs typeface="MiSans" pitchFamily="34" charset="-120"/>
              </a:rPr>
              <a:t>风格迁移算法的输入包括内容图、风格图和噪声图。内容图提供主体结构，风格图提供艺术纹理，噪声图作为初始生成图像。三者共同作用，通过深度学习模型生成融合风格的图像。</a:t>
            </a:r>
            <a:endParaRPr lang="en-US" sz="1600" dirty="0"/>
          </a:p>
        </p:txBody>
      </p:sp>
      <p:sp>
        <p:nvSpPr>
          <p:cNvPr id="15" name="Text 10"/>
          <p:cNvSpPr/>
          <p:nvPr/>
        </p:nvSpPr>
        <p:spPr>
          <a:xfrm>
            <a:off x="4060825" y="3493770"/>
            <a:ext cx="863600" cy="539750"/>
          </a:xfrm>
          <a:prstGeom prst="rect">
            <a:avLst/>
          </a:prstGeom>
          <a:noFill/>
        </p:spPr>
        <p:txBody>
          <a:bodyPr wrap="square" lIns="91440" tIns="45720" rIns="91440" bIns="45720" rtlCol="0" anchor="t"/>
          <a:lstStyle/>
          <a:p>
            <a:pPr algn="ctr">
              <a:lnSpc>
                <a:spcPct val="100000"/>
              </a:lnSpc>
            </a:pPr>
            <a:r>
              <a:rPr lang="en-US" sz="3200" b="1" dirty="0">
                <a:solidFill>
                  <a:srgbClr val="FFFFFF"/>
                </a:solidFill>
                <a:latin typeface="MiSans" pitchFamily="34" charset="-122"/>
                <a:ea typeface="MiSans" pitchFamily="34" charset="-122"/>
                <a:cs typeface="MiSans" pitchFamily="34" charset="-120"/>
              </a:rPr>
              <a:t>02</a:t>
            </a:r>
            <a:endParaRPr lang="en-US" sz="1600" dirty="0"/>
          </a:p>
        </p:txBody>
      </p:sp>
      <p:sp>
        <p:nvSpPr>
          <p:cNvPr id="16" name="Text 11"/>
          <p:cNvSpPr/>
          <p:nvPr/>
        </p:nvSpPr>
        <p:spPr>
          <a:xfrm>
            <a:off x="5005070" y="3328035"/>
            <a:ext cx="6651625" cy="276225"/>
          </a:xfrm>
          <a:prstGeom prst="rect">
            <a:avLst/>
          </a:prstGeom>
          <a:noFill/>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122"/>
                <a:ea typeface="MiSans" pitchFamily="34" charset="-122"/>
                <a:cs typeface="MiSans" pitchFamily="34" charset="-120"/>
              </a:rPr>
              <a:t>三项损失</a:t>
            </a:r>
            <a:endParaRPr lang="en-US" sz="1600" dirty="0"/>
          </a:p>
        </p:txBody>
      </p:sp>
      <p:sp>
        <p:nvSpPr>
          <p:cNvPr id="17" name="Text 12"/>
          <p:cNvSpPr/>
          <p:nvPr/>
        </p:nvSpPr>
        <p:spPr>
          <a:xfrm>
            <a:off x="5005070" y="3701415"/>
            <a:ext cx="6795770" cy="574873"/>
          </a:xfrm>
          <a:prstGeom prst="rect">
            <a:avLst/>
          </a:prstGeom>
          <a:noFill/>
        </p:spPr>
        <p:txBody>
          <a:bodyPr wrap="square" lIns="91440" tIns="45720" rIns="91440" bIns="45720" rtlCol="0" anchor="t">
            <a:spAutoFit/>
          </a:bodyPr>
          <a:lstStyle/>
          <a:p>
            <a:pPr algn="just">
              <a:lnSpc>
                <a:spcPct val="130000"/>
              </a:lnSpc>
            </a:pPr>
            <a:r>
              <a:rPr lang="en-US" sz="1400" dirty="0">
                <a:solidFill>
                  <a:srgbClr val="404040"/>
                </a:solidFill>
                <a:latin typeface="MiSans" pitchFamily="34" charset="-122"/>
                <a:ea typeface="MiSans" pitchFamily="34" charset="-122"/>
                <a:cs typeface="MiSans" pitchFamily="34" charset="-120"/>
              </a:rPr>
              <a:t>算法通过内容损失、风格损失和全变差损失来优化生成图像。内容损失衡量生成图像与内容图像的相似度，风格损失衡量风格相似度，全变差损失用于平滑图像。</a:t>
            </a:r>
            <a:endParaRPr lang="en-US" sz="1600" dirty="0"/>
          </a:p>
        </p:txBody>
      </p:sp>
      <p:sp>
        <p:nvSpPr>
          <p:cNvPr id="18" name="Text 13"/>
          <p:cNvSpPr/>
          <p:nvPr/>
        </p:nvSpPr>
        <p:spPr>
          <a:xfrm>
            <a:off x="3571875" y="5182870"/>
            <a:ext cx="863600" cy="539750"/>
          </a:xfrm>
          <a:prstGeom prst="rect">
            <a:avLst/>
          </a:prstGeom>
          <a:noFill/>
        </p:spPr>
        <p:txBody>
          <a:bodyPr wrap="square" lIns="91440" tIns="45720" rIns="91440" bIns="45720" rtlCol="0" anchor="t"/>
          <a:lstStyle/>
          <a:p>
            <a:pPr algn="ctr">
              <a:lnSpc>
                <a:spcPct val="100000"/>
              </a:lnSpc>
            </a:pPr>
            <a:r>
              <a:rPr lang="en-US" sz="3200" b="1" dirty="0">
                <a:solidFill>
                  <a:srgbClr val="FFFFFF"/>
                </a:solidFill>
                <a:latin typeface="MiSans" pitchFamily="34" charset="-122"/>
                <a:ea typeface="MiSans" pitchFamily="34" charset="-122"/>
                <a:cs typeface="MiSans" pitchFamily="34" charset="-120"/>
              </a:rPr>
              <a:t>03</a:t>
            </a:r>
            <a:endParaRPr lang="en-US" sz="1600" dirty="0"/>
          </a:p>
        </p:txBody>
      </p:sp>
      <p:sp>
        <p:nvSpPr>
          <p:cNvPr id="19" name="Text 14"/>
          <p:cNvSpPr/>
          <p:nvPr/>
        </p:nvSpPr>
        <p:spPr>
          <a:xfrm>
            <a:off x="4516120" y="5017135"/>
            <a:ext cx="6651625" cy="276225"/>
          </a:xfrm>
          <a:prstGeom prst="rect">
            <a:avLst/>
          </a:prstGeom>
          <a:noFill/>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122"/>
                <a:ea typeface="MiSans" pitchFamily="34" charset="-122"/>
                <a:cs typeface="MiSans" pitchFamily="34" charset="-120"/>
              </a:rPr>
              <a:t>损失计算</a:t>
            </a:r>
            <a:endParaRPr lang="en-US" sz="1600" dirty="0"/>
          </a:p>
        </p:txBody>
      </p:sp>
      <p:sp>
        <p:nvSpPr>
          <p:cNvPr id="20" name="Text 15"/>
          <p:cNvSpPr/>
          <p:nvPr/>
        </p:nvSpPr>
        <p:spPr>
          <a:xfrm>
            <a:off x="4516120" y="5390515"/>
            <a:ext cx="6978650" cy="574873"/>
          </a:xfrm>
          <a:prstGeom prst="rect">
            <a:avLst/>
          </a:prstGeom>
          <a:noFill/>
        </p:spPr>
        <p:txBody>
          <a:bodyPr wrap="square" lIns="91440" tIns="45720" rIns="91440" bIns="45720" rtlCol="0" anchor="t">
            <a:spAutoFit/>
          </a:bodyPr>
          <a:lstStyle/>
          <a:p>
            <a:pPr algn="just">
              <a:lnSpc>
                <a:spcPct val="130000"/>
              </a:lnSpc>
            </a:pPr>
            <a:r>
              <a:rPr lang="en-US" sz="1400" dirty="0">
                <a:solidFill>
                  <a:srgbClr val="404040"/>
                </a:solidFill>
                <a:latin typeface="MiSans" pitchFamily="34" charset="-122"/>
                <a:ea typeface="MiSans" pitchFamily="34" charset="-122"/>
                <a:cs typeface="MiSans" pitchFamily="34" charset="-120"/>
              </a:rPr>
              <a:t>内容损失采用均方误差计算，风格损失通过Gram矩阵差异计算，全变差损失作为正则项抑制噪声。这些损失共同指导生成图像的优化过程。</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8-12:55:55-d2v63mtnfo2stf9dk530.png"/>
          <p:cNvPicPr>
            <a:picLocks noChangeAspect="1"/>
          </p:cNvPicPr>
          <p:nvPr/>
        </p:nvPicPr>
        <p:blipFill>
          <a:blip r:embed="rId1"/>
          <a:stretch>
            <a:fillRect/>
          </a:stretch>
        </p:blipFill>
        <p:spPr>
          <a:xfrm>
            <a:off x="6665595" y="1928495"/>
            <a:ext cx="4681855" cy="3108960"/>
          </a:xfrm>
          <a:prstGeom prst="rect">
            <a:avLst/>
          </a:prstGeom>
        </p:spPr>
      </p:pic>
      <p:pic>
        <p:nvPicPr>
          <p:cNvPr id="3" name="Image 1" descr="https://kimi-img.moonshot.cn/pub/slides/slides_tmpl/image/25-09-08-12:55:55-d2v63mtnfo2stf9dk530.png"/>
          <p:cNvPicPr>
            <a:picLocks noChangeAspect="1"/>
          </p:cNvPicPr>
          <p:nvPr/>
        </p:nvPicPr>
        <p:blipFill>
          <a:blip r:embed="rId1"/>
          <a:stretch>
            <a:fillRect/>
          </a:stretch>
        </p:blipFill>
        <p:spPr>
          <a:xfrm>
            <a:off x="960755" y="1928495"/>
            <a:ext cx="4681855" cy="3108960"/>
          </a:xfrm>
          <a:prstGeom prst="rect">
            <a:avLst/>
          </a:prstGeom>
        </p:spPr>
      </p:pic>
      <p:sp>
        <p:nvSpPr>
          <p:cNvPr id="4" name="Text 0"/>
          <p:cNvSpPr/>
          <p:nvPr/>
        </p:nvSpPr>
        <p:spPr>
          <a:xfrm>
            <a:off x="595630" y="525145"/>
            <a:ext cx="7004685" cy="562570"/>
          </a:xfrm>
          <a:prstGeom prst="rect">
            <a:avLst/>
          </a:prstGeom>
          <a:noFill/>
        </p:spPr>
        <p:txBody>
          <a:bodyPr wrap="square" lIns="91440" tIns="45720" rIns="91440" bIns="45720" rtlCol="0" anchor="t">
            <a:spAutoFit/>
          </a:bodyPr>
          <a:lstStyle/>
          <a:p>
            <a:pPr>
              <a:lnSpc>
                <a:spcPct val="100000"/>
              </a:lnSpc>
            </a:pPr>
            <a:r>
              <a:rPr lang="en-US" sz="3600" b="1" dirty="0">
                <a:solidFill>
                  <a:srgbClr val="015DBB"/>
                </a:solidFill>
                <a:latin typeface="MiSans" pitchFamily="34" charset="-122"/>
                <a:ea typeface="MiSans" pitchFamily="34" charset="-122"/>
                <a:cs typeface="MiSans" pitchFamily="34" charset="-120"/>
              </a:rPr>
              <a:t>特征层选取与权重设置</a:t>
            </a:r>
            <a:endParaRPr lang="en-US" sz="1600" dirty="0"/>
          </a:p>
        </p:txBody>
      </p:sp>
      <p:pic>
        <p:nvPicPr>
          <p:cNvPr id="5" name="Image 2" descr="https://kimi-img.moonshot.cn/pub/slides/slides_tmpl/image/25-09-08-12:55:42-d2v63jlnfo2stf9dk4rg.png"/>
          <p:cNvPicPr>
            <a:picLocks noChangeAspect="1"/>
          </p:cNvPicPr>
          <p:nvPr/>
        </p:nvPicPr>
        <p:blipFill>
          <a:blip r:embed="rId2"/>
          <a:stretch>
            <a:fillRect/>
          </a:stretch>
        </p:blipFill>
        <p:spPr>
          <a:xfrm>
            <a:off x="15240" y="487045"/>
            <a:ext cx="579755" cy="652145"/>
          </a:xfrm>
          <a:prstGeom prst="rect">
            <a:avLst/>
          </a:prstGeom>
        </p:spPr>
      </p:pic>
      <p:pic>
        <p:nvPicPr>
          <p:cNvPr id="6" name="Image 3" descr="https://kimi-img.moonshot.cn/pub/slides/slides_tmpl/image/25-09-08-12:55:41-d2v63jdnfo2stf9dk4q0.png"/>
          <p:cNvPicPr>
            <a:picLocks noChangeAspect="1"/>
          </p:cNvPicPr>
          <p:nvPr/>
        </p:nvPicPr>
        <p:blipFill>
          <a:blip r:embed="rId3"/>
          <a:stretch>
            <a:fillRect/>
          </a:stretch>
        </p:blipFill>
        <p:spPr>
          <a:xfrm>
            <a:off x="-635" y="5396230"/>
            <a:ext cx="12192635" cy="1470660"/>
          </a:xfrm>
          <a:prstGeom prst="rect">
            <a:avLst/>
          </a:prstGeom>
        </p:spPr>
      </p:pic>
      <p:sp>
        <p:nvSpPr>
          <p:cNvPr id="7" name="Text 1"/>
          <p:cNvSpPr/>
          <p:nvPr/>
        </p:nvSpPr>
        <p:spPr>
          <a:xfrm>
            <a:off x="1189355" y="2105660"/>
            <a:ext cx="4222115" cy="303411"/>
          </a:xfrm>
          <a:prstGeom prst="rect">
            <a:avLst/>
          </a:prstGeom>
          <a:noFill/>
        </p:spPr>
        <p:txBody>
          <a:bodyPr wrap="square" lIns="91440" tIns="45720" rIns="91440" bIns="45720" rtlCol="0" anchor="t">
            <a:spAutoFit/>
          </a:bodyPr>
          <a:lstStyle/>
          <a:p>
            <a:pPr algn="just">
              <a:lnSpc>
                <a:spcPct val="100000"/>
              </a:lnSpc>
            </a:pPr>
            <a:r>
              <a:rPr lang="en-US" sz="2000" b="1" dirty="0">
                <a:solidFill>
                  <a:srgbClr val="000000"/>
                </a:solidFill>
                <a:latin typeface="MiSans" pitchFamily="34" charset="-122"/>
                <a:ea typeface="MiSans" pitchFamily="34" charset="-122"/>
                <a:cs typeface="MiSans" pitchFamily="34" charset="-120"/>
              </a:rPr>
              <a:t>特征层选取</a:t>
            </a:r>
            <a:endParaRPr lang="en-US" sz="1600" dirty="0"/>
          </a:p>
        </p:txBody>
      </p:sp>
      <p:sp>
        <p:nvSpPr>
          <p:cNvPr id="8" name="Text 2"/>
          <p:cNvSpPr/>
          <p:nvPr/>
        </p:nvSpPr>
        <p:spPr>
          <a:xfrm>
            <a:off x="1189355" y="2559685"/>
            <a:ext cx="4224020" cy="1462881"/>
          </a:xfrm>
          <a:prstGeom prst="rect">
            <a:avLst/>
          </a:prstGeom>
          <a:noFill/>
        </p:spPr>
        <p:txBody>
          <a:bodyPr wrap="square" lIns="91440" tIns="45720" rIns="91440" bIns="45720" rtlCol="0" anchor="t">
            <a:spAutoFit/>
          </a:bodyPr>
          <a:lstStyle/>
          <a:p>
            <a:pPr algn="just">
              <a:lnSpc>
                <a:spcPct val="150000"/>
              </a:lnSpc>
            </a:pPr>
            <a:r>
              <a:rPr lang="en-US" sz="1600" dirty="0">
                <a:solidFill>
                  <a:srgbClr val="404040"/>
                </a:solidFill>
                <a:latin typeface="MiSans" pitchFamily="34" charset="-122"/>
                <a:ea typeface="MiSans" pitchFamily="34" charset="-122"/>
                <a:cs typeface="MiSans" pitchFamily="34" charset="-120"/>
              </a:rPr>
              <a:t>在VGG19模型中，选择五个卷积块的第一个激活层用于风格特征提取，以捕获不同尺度的风格信息；选择一个中间层用于内容特征提取，以精确保留内容结构。</a:t>
            </a:r>
            <a:endParaRPr lang="en-US" sz="1600" dirty="0"/>
          </a:p>
        </p:txBody>
      </p:sp>
      <p:sp>
        <p:nvSpPr>
          <p:cNvPr id="9" name="Text 3"/>
          <p:cNvSpPr/>
          <p:nvPr/>
        </p:nvSpPr>
        <p:spPr>
          <a:xfrm>
            <a:off x="6764655" y="2105660"/>
            <a:ext cx="4222115" cy="303411"/>
          </a:xfrm>
          <a:prstGeom prst="rect">
            <a:avLst/>
          </a:prstGeom>
          <a:noFill/>
        </p:spPr>
        <p:txBody>
          <a:bodyPr wrap="square" lIns="91440" tIns="45720" rIns="91440" bIns="45720" rtlCol="0" anchor="t">
            <a:spAutoFit/>
          </a:bodyPr>
          <a:lstStyle/>
          <a:p>
            <a:pPr algn="just">
              <a:lnSpc>
                <a:spcPct val="100000"/>
              </a:lnSpc>
            </a:pPr>
            <a:r>
              <a:rPr lang="en-US" sz="2000" b="1" dirty="0">
                <a:solidFill>
                  <a:srgbClr val="000000"/>
                </a:solidFill>
                <a:latin typeface="MiSans" pitchFamily="34" charset="-122"/>
                <a:ea typeface="MiSans" pitchFamily="34" charset="-122"/>
                <a:cs typeface="MiSans" pitchFamily="34" charset="-120"/>
              </a:rPr>
              <a:t>权重设置</a:t>
            </a:r>
            <a:endParaRPr lang="en-US" sz="1600" dirty="0"/>
          </a:p>
        </p:txBody>
      </p:sp>
      <p:sp>
        <p:nvSpPr>
          <p:cNvPr id="10" name="Text 4"/>
          <p:cNvSpPr/>
          <p:nvPr/>
        </p:nvSpPr>
        <p:spPr>
          <a:xfrm>
            <a:off x="6764655" y="2559685"/>
            <a:ext cx="4224020" cy="1462881"/>
          </a:xfrm>
          <a:prstGeom prst="rect">
            <a:avLst/>
          </a:prstGeom>
          <a:noFill/>
        </p:spPr>
        <p:txBody>
          <a:bodyPr wrap="square" lIns="91440" tIns="45720" rIns="91440" bIns="45720" rtlCol="0" anchor="t">
            <a:spAutoFit/>
          </a:bodyPr>
          <a:lstStyle/>
          <a:p>
            <a:pPr algn="just">
              <a:lnSpc>
                <a:spcPct val="150000"/>
              </a:lnSpc>
            </a:pPr>
            <a:r>
              <a:rPr lang="en-US" sz="1600" dirty="0">
                <a:solidFill>
                  <a:srgbClr val="404040"/>
                </a:solidFill>
                <a:latin typeface="MiSans" pitchFamily="34" charset="-122"/>
                <a:ea typeface="MiSans" pitchFamily="34" charset="-122"/>
                <a:cs typeface="MiSans" pitchFamily="34" charset="-120"/>
              </a:rPr>
              <a:t>总损失是三项损失的加权和，权重反映了各损失项对最终图像质量的影响程度。通过调整权重，可以平衡内容保持和风格融合的效果。</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8-12:55:41-d2v63jdnfo2stf9dk4q0.png"/>
          <p:cNvPicPr>
            <a:picLocks noChangeAspect="1"/>
          </p:cNvPicPr>
          <p:nvPr/>
        </p:nvPicPr>
        <p:blipFill>
          <a:blip r:embed="rId1"/>
          <a:stretch>
            <a:fillRect/>
          </a:stretch>
        </p:blipFill>
        <p:spPr>
          <a:xfrm>
            <a:off x="0" y="6144260"/>
            <a:ext cx="12192635" cy="713740"/>
          </a:xfrm>
          <a:prstGeom prst="rect">
            <a:avLst/>
          </a:prstGeom>
        </p:spPr>
      </p:pic>
      <p:pic>
        <p:nvPicPr>
          <p:cNvPr id="3" name="Image 1" descr="https://kimi-img.moonshot.cn/pub/slides/slides_tmpl/image/25-09-08-12:55:41-d2v63jdnfo2stf9dk4r0.png"/>
          <p:cNvPicPr>
            <a:picLocks noChangeAspect="1"/>
          </p:cNvPicPr>
          <p:nvPr/>
        </p:nvPicPr>
        <p:blipFill>
          <a:blip r:embed="rId2"/>
          <a:stretch>
            <a:fillRect/>
          </a:stretch>
        </p:blipFill>
        <p:spPr>
          <a:xfrm>
            <a:off x="708025" y="1550035"/>
            <a:ext cx="10783570" cy="4397375"/>
          </a:xfrm>
          <a:prstGeom prst="rect">
            <a:avLst/>
          </a:prstGeom>
        </p:spPr>
      </p:pic>
      <p:sp>
        <p:nvSpPr>
          <p:cNvPr id="4" name="Text 0"/>
          <p:cNvSpPr/>
          <p:nvPr/>
        </p:nvSpPr>
        <p:spPr>
          <a:xfrm>
            <a:off x="595630" y="487045"/>
            <a:ext cx="11160125" cy="645160"/>
          </a:xfrm>
          <a:prstGeom prst="rect">
            <a:avLst/>
          </a:prstGeom>
          <a:noFill/>
        </p:spPr>
        <p:txBody>
          <a:bodyPr wrap="square" lIns="91440" tIns="45720" rIns="91440" bIns="45720" rtlCol="0" anchor="t">
            <a:spAutoFit/>
          </a:bodyPr>
          <a:lstStyle/>
          <a:p>
            <a:pPr>
              <a:lnSpc>
                <a:spcPct val="100000"/>
              </a:lnSpc>
            </a:pPr>
            <a:r>
              <a:rPr lang="en-US" sz="3600" b="1" dirty="0">
                <a:solidFill>
                  <a:srgbClr val="015DBB"/>
                </a:solidFill>
                <a:latin typeface="MiSans" pitchFamily="34" charset="-122"/>
                <a:ea typeface="MiSans" pitchFamily="34" charset="-122"/>
                <a:cs typeface="MiSans" pitchFamily="34" charset="-120"/>
              </a:rPr>
              <a:t>优化策略与</a:t>
            </a:r>
            <a:r>
              <a:rPr lang="zh-CN" altLang="en-US" sz="3600" b="1" dirty="0">
                <a:solidFill>
                  <a:srgbClr val="015DBB"/>
                </a:solidFill>
                <a:latin typeface="MiSans" pitchFamily="34" charset="-122"/>
                <a:ea typeface="MiSans" pitchFamily="34" charset="-122"/>
                <a:cs typeface="MiSans" pitchFamily="34" charset="-120"/>
              </a:rPr>
              <a:t>损失</a:t>
            </a:r>
            <a:r>
              <a:rPr lang="en-US" sz="3600" b="1" dirty="0">
                <a:solidFill>
                  <a:srgbClr val="015DBB"/>
                </a:solidFill>
                <a:latin typeface="MiSans" pitchFamily="34" charset="-122"/>
                <a:ea typeface="MiSans" pitchFamily="34" charset="-122"/>
                <a:cs typeface="MiSans" pitchFamily="34" charset="-120"/>
              </a:rPr>
              <a:t>曲线</a:t>
            </a:r>
            <a:endParaRPr lang="en-US" sz="1600" dirty="0"/>
          </a:p>
        </p:txBody>
      </p:sp>
      <p:pic>
        <p:nvPicPr>
          <p:cNvPr id="6" name="Image 3" descr="https://kimi-img.moonshot.cn/pub/slides/slides_tmpl/image/25-09-08-12:55:42-d2v63jlnfo2stf9dk4rg.png"/>
          <p:cNvPicPr>
            <a:picLocks noChangeAspect="1"/>
          </p:cNvPicPr>
          <p:nvPr/>
        </p:nvPicPr>
        <p:blipFill>
          <a:blip r:embed="rId3"/>
          <a:stretch>
            <a:fillRect/>
          </a:stretch>
        </p:blipFill>
        <p:spPr>
          <a:xfrm>
            <a:off x="15240" y="487045"/>
            <a:ext cx="579755" cy="652145"/>
          </a:xfrm>
          <a:prstGeom prst="rect">
            <a:avLst/>
          </a:prstGeom>
        </p:spPr>
      </p:pic>
      <p:sp>
        <p:nvSpPr>
          <p:cNvPr id="7" name="Text 1"/>
          <p:cNvSpPr/>
          <p:nvPr/>
        </p:nvSpPr>
        <p:spPr>
          <a:xfrm>
            <a:off x="1176655" y="2404745"/>
            <a:ext cx="4855845" cy="432991"/>
          </a:xfrm>
          <a:prstGeom prst="rect">
            <a:avLst/>
          </a:prstGeom>
          <a:noFill/>
        </p:spPr>
        <p:txBody>
          <a:bodyPr wrap="square" lIns="91440" tIns="45720" rIns="91440" bIns="45720" rtlCol="0" anchor="t">
            <a:spAutoFit/>
          </a:bodyPr>
          <a:lstStyle/>
          <a:p>
            <a:pPr algn="ctr">
              <a:lnSpc>
                <a:spcPct val="100000"/>
              </a:lnSpc>
            </a:pPr>
            <a:r>
              <a:rPr lang="en-US" sz="2800" b="1" dirty="0">
                <a:solidFill>
                  <a:srgbClr val="000000"/>
                </a:solidFill>
                <a:latin typeface="MiSans" pitchFamily="34" charset="-122"/>
                <a:ea typeface="MiSans" pitchFamily="34" charset="-122"/>
                <a:cs typeface="MiSans" pitchFamily="34" charset="-120"/>
              </a:rPr>
              <a:t>优化策略</a:t>
            </a:r>
            <a:endParaRPr lang="en-US" sz="1600" dirty="0"/>
          </a:p>
        </p:txBody>
      </p:sp>
      <p:sp>
        <p:nvSpPr>
          <p:cNvPr id="8" name="Text 2"/>
          <p:cNvSpPr/>
          <p:nvPr>
            <p:custDataLst>
              <p:tags r:id="rId4"/>
            </p:custDataLst>
          </p:nvPr>
        </p:nvSpPr>
        <p:spPr>
          <a:xfrm>
            <a:off x="1176655" y="2969895"/>
            <a:ext cx="4855845" cy="2249170"/>
          </a:xfrm>
          <a:prstGeom prst="rect">
            <a:avLst/>
          </a:prstGeom>
          <a:noFill/>
        </p:spPr>
        <p:txBody>
          <a:bodyPr wrap="square" lIns="91440" tIns="45720" rIns="91440" bIns="45720" rtlCol="0" anchor="t">
            <a:spAutoFit/>
          </a:bodyPr>
          <a:lstStyle/>
          <a:p>
            <a:pPr algn="just">
              <a:lnSpc>
                <a:spcPct val="130000"/>
              </a:lnSpc>
            </a:pPr>
            <a:r>
              <a:rPr lang="zh-CN" sz="1800" dirty="0">
                <a:solidFill>
                  <a:srgbClr val="404040"/>
                </a:solidFill>
                <a:latin typeface="MiSans" pitchFamily="34" charset="-122"/>
                <a:ea typeface="MiSans" pitchFamily="34" charset="-122"/>
                <a:cs typeface="MiSans" pitchFamily="34" charset="-120"/>
              </a:rPr>
              <a:t>采用</a:t>
            </a:r>
            <a:r>
              <a:rPr lang="en-US" altLang="zh-CN" sz="1800" dirty="0">
                <a:solidFill>
                  <a:srgbClr val="404040"/>
                </a:solidFill>
                <a:latin typeface="MiSans" pitchFamily="34" charset="-122"/>
                <a:ea typeface="MiSans" pitchFamily="34" charset="-122"/>
                <a:cs typeface="MiSans" pitchFamily="34" charset="-120"/>
              </a:rPr>
              <a:t>AdamW</a:t>
            </a:r>
            <a:r>
              <a:rPr lang="zh-CN" altLang="en-US" sz="1800" dirty="0">
                <a:solidFill>
                  <a:srgbClr val="404040"/>
                </a:solidFill>
                <a:latin typeface="MiSans" pitchFamily="34" charset="-122"/>
                <a:ea typeface="MiSans" pitchFamily="34" charset="-122"/>
                <a:cs typeface="MiSans" pitchFamily="34" charset="-120"/>
              </a:rPr>
              <a:t>优化器和</a:t>
            </a:r>
            <a:r>
              <a:rPr lang="en-US" altLang="zh-CN" sz="1800" dirty="0">
                <a:solidFill>
                  <a:srgbClr val="404040"/>
                </a:solidFill>
                <a:latin typeface="MiSans" pitchFamily="34" charset="-122"/>
                <a:ea typeface="MiSans" pitchFamily="34" charset="-122"/>
                <a:cs typeface="MiSans" pitchFamily="34" charset="-120"/>
              </a:rPr>
              <a:t>StepLR</a:t>
            </a:r>
            <a:r>
              <a:rPr lang="zh-CN" altLang="en-US" sz="1800" dirty="0">
                <a:solidFill>
                  <a:srgbClr val="404040"/>
                </a:solidFill>
                <a:latin typeface="MiSans" pitchFamily="34" charset="-122"/>
                <a:ea typeface="MiSans" pitchFamily="34" charset="-122"/>
                <a:cs typeface="MiSans" pitchFamily="34" charset="-120"/>
              </a:rPr>
              <a:t>学习率调度器。</a:t>
            </a:r>
            <a:r>
              <a:rPr lang="en-US" altLang="zh-CN" sz="1800" dirty="0">
                <a:solidFill>
                  <a:srgbClr val="404040"/>
                </a:solidFill>
                <a:latin typeface="MiSans" pitchFamily="34" charset="-122"/>
                <a:ea typeface="MiSans" pitchFamily="34" charset="-122"/>
                <a:cs typeface="MiSans" pitchFamily="34" charset="-120"/>
              </a:rPr>
              <a:t>AdamW</a:t>
            </a:r>
            <a:r>
              <a:rPr lang="zh-CN" altLang="en-US" sz="1800" dirty="0">
                <a:solidFill>
                  <a:srgbClr val="404040"/>
                </a:solidFill>
                <a:latin typeface="MiSans" pitchFamily="34" charset="-122"/>
                <a:ea typeface="MiSans" pitchFamily="34" charset="-122"/>
                <a:cs typeface="MiSans" pitchFamily="34" charset="-120"/>
              </a:rPr>
              <a:t>用于更新生成图像的像素值，</a:t>
            </a:r>
            <a:r>
              <a:rPr lang="en-US" altLang="zh-CN" sz="1800" dirty="0">
                <a:solidFill>
                  <a:srgbClr val="404040"/>
                </a:solidFill>
                <a:latin typeface="MiSans" pitchFamily="34" charset="-122"/>
                <a:ea typeface="MiSans" pitchFamily="34" charset="-122"/>
                <a:cs typeface="MiSans" pitchFamily="34" charset="-120"/>
              </a:rPr>
              <a:t>StepLR</a:t>
            </a:r>
            <a:r>
              <a:rPr lang="zh-CN" altLang="en-US" sz="1800" dirty="0">
                <a:solidFill>
                  <a:srgbClr val="404040"/>
                </a:solidFill>
                <a:latin typeface="MiSans" pitchFamily="34" charset="-122"/>
                <a:ea typeface="MiSans" pitchFamily="34" charset="-122"/>
                <a:cs typeface="MiSans" pitchFamily="34" charset="-120"/>
              </a:rPr>
              <a:t>在训练过程中动态调整学习率，以稳定优化过程。</a:t>
            </a:r>
            <a:r>
              <a:rPr lang="en-US" altLang="zh-CN" sz="1800" dirty="0">
                <a:solidFill>
                  <a:srgbClr val="404040"/>
                </a:solidFill>
                <a:latin typeface="MiSans" pitchFamily="34" charset="-122"/>
                <a:ea typeface="MiSans" pitchFamily="34" charset="-122"/>
                <a:cs typeface="MiSans" pitchFamily="34" charset="-120"/>
              </a:rPr>
              <a:t>
</a:t>
            </a:r>
            <a:r>
              <a:rPr lang="zh-CN" altLang="en-US" sz="1800" dirty="0">
                <a:solidFill>
                  <a:srgbClr val="404040"/>
                </a:solidFill>
                <a:latin typeface="MiSans" pitchFamily="34" charset="-122"/>
                <a:ea typeface="MiSans" pitchFamily="34" charset="-122"/>
                <a:cs typeface="MiSans" pitchFamily="34" charset="-120"/>
              </a:rPr>
              <a:t>进一步通过实验验证，该策略能有效提升图像生成的质量和速度，同时减少过拟合现象。</a:t>
            </a:r>
            <a:endParaRPr lang="zh-CN" altLang="en-US" sz="1800" dirty="0">
              <a:solidFill>
                <a:srgbClr val="404040"/>
              </a:solidFill>
              <a:latin typeface="MiSans" pitchFamily="34" charset="-122"/>
              <a:ea typeface="MiSans" pitchFamily="34" charset="-122"/>
              <a:cs typeface="MiSans" pitchFamily="34" charset="-120"/>
            </a:endParaRPr>
          </a:p>
        </p:txBody>
      </p:sp>
      <p:pic>
        <p:nvPicPr>
          <p:cNvPr id="12" name="图片 11"/>
          <p:cNvPicPr>
            <a:picLocks noChangeAspect="1"/>
          </p:cNvPicPr>
          <p:nvPr/>
        </p:nvPicPr>
        <p:blipFill>
          <a:blip r:embed="rId5"/>
          <a:stretch>
            <a:fillRect/>
          </a:stretch>
        </p:blipFill>
        <p:spPr>
          <a:xfrm>
            <a:off x="6320155" y="2764155"/>
            <a:ext cx="4720590" cy="2047240"/>
          </a:xfrm>
          <a:prstGeom prst="rect">
            <a:avLst/>
          </a:prstGeom>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8040" y="4109085"/>
            <a:ext cx="285750" cy="285750"/>
          </a:xfrm>
          <a:prstGeom prst="ellipse">
            <a:avLst/>
          </a:prstGeom>
          <a:gradFill flip="none" rotWithShape="1">
            <a:gsLst>
              <a:gs pos="0">
                <a:srgbClr val="FFFFFF"/>
              </a:gs>
              <a:gs pos="100000">
                <a:srgbClr val="015DBB"/>
              </a:gs>
            </a:gsLst>
            <a:lin ang="2700000" scaled="1"/>
          </a:gradFill>
        </p:spPr>
      </p:sp>
      <p:sp>
        <p:nvSpPr>
          <p:cNvPr id="3" name="Text 1"/>
          <p:cNvSpPr/>
          <p:nvPr/>
        </p:nvSpPr>
        <p:spPr>
          <a:xfrm>
            <a:off x="828040" y="4109085"/>
            <a:ext cx="285750" cy="285750"/>
          </a:xfrm>
          <a:prstGeom prst="rect">
            <a:avLst/>
          </a:prstGeom>
          <a:noFill/>
        </p:spPr>
        <p:txBody>
          <a:bodyPr wrap="square" lIns="45720" tIns="91440" rIns="91440" bIns="45720" rtlCol="0" anchor="ctr"/>
          <a:lstStyle/>
          <a:p>
            <a:pPr>
              <a:lnSpc>
                <a:spcPct val="100000"/>
              </a:lnSpc>
            </a:pPr>
            <a:endParaRPr lang="en-US" sz="1600" dirty="0"/>
          </a:p>
        </p:txBody>
      </p:sp>
      <p:sp>
        <p:nvSpPr>
          <p:cNvPr id="4" name="Shape 2"/>
          <p:cNvSpPr/>
          <p:nvPr/>
        </p:nvSpPr>
        <p:spPr>
          <a:xfrm>
            <a:off x="4574540" y="4028440"/>
            <a:ext cx="285750" cy="285750"/>
          </a:xfrm>
          <a:prstGeom prst="ellipse">
            <a:avLst/>
          </a:prstGeom>
          <a:gradFill flip="none" rotWithShape="1">
            <a:gsLst>
              <a:gs pos="0">
                <a:srgbClr val="FFFFFF"/>
              </a:gs>
              <a:gs pos="100000">
                <a:srgbClr val="015DBB"/>
              </a:gs>
            </a:gsLst>
            <a:lin ang="2700000" scaled="1"/>
          </a:gradFill>
        </p:spPr>
      </p:sp>
      <p:sp>
        <p:nvSpPr>
          <p:cNvPr id="5" name="Text 3"/>
          <p:cNvSpPr/>
          <p:nvPr/>
        </p:nvSpPr>
        <p:spPr>
          <a:xfrm>
            <a:off x="4574540" y="4028440"/>
            <a:ext cx="285750" cy="285750"/>
          </a:xfrm>
          <a:prstGeom prst="rect">
            <a:avLst/>
          </a:prstGeom>
          <a:noFill/>
        </p:spPr>
        <p:txBody>
          <a:bodyPr wrap="square" lIns="45720" tIns="91440" rIns="91440" bIns="45720" rtlCol="0" anchor="ctr"/>
          <a:lstStyle/>
          <a:p>
            <a:pPr>
              <a:lnSpc>
                <a:spcPct val="100000"/>
              </a:lnSpc>
            </a:pPr>
            <a:endParaRPr lang="en-US" sz="1600" dirty="0"/>
          </a:p>
        </p:txBody>
      </p:sp>
      <p:pic>
        <p:nvPicPr>
          <p:cNvPr id="6" name="Image 0" descr="https://kimi-img.moonshot.cn/pub/slides/slides_tmpl/image/25-09-08-12:56:07-d2v63ptnfo2stf9dk5ag.jpeg"/>
          <p:cNvPicPr>
            <a:picLocks noChangeAspect="1"/>
          </p:cNvPicPr>
          <p:nvPr/>
        </p:nvPicPr>
        <p:blipFill>
          <a:blip r:embed="rId1"/>
          <a:srcRect t="15036" b="15036"/>
          <a:stretch>
            <a:fillRect/>
          </a:stretch>
        </p:blipFill>
        <p:spPr>
          <a:xfrm>
            <a:off x="749935" y="1503998"/>
            <a:ext cx="4814570" cy="2305050"/>
          </a:xfrm>
          <a:prstGeom prst="rect">
            <a:avLst/>
          </a:prstGeom>
        </p:spPr>
      </p:pic>
      <p:sp>
        <p:nvSpPr>
          <p:cNvPr id="7" name="Shape 4"/>
          <p:cNvSpPr/>
          <p:nvPr/>
        </p:nvSpPr>
        <p:spPr>
          <a:xfrm>
            <a:off x="5612765" y="1504522"/>
            <a:ext cx="5867400" cy="2304000"/>
          </a:xfrm>
          <a:prstGeom prst="rect">
            <a:avLst/>
          </a:prstGeom>
          <a:solidFill>
            <a:srgbClr val="015DBB"/>
          </a:solidFill>
        </p:spPr>
      </p:sp>
      <p:sp>
        <p:nvSpPr>
          <p:cNvPr id="8" name="Text 5"/>
          <p:cNvSpPr/>
          <p:nvPr/>
        </p:nvSpPr>
        <p:spPr>
          <a:xfrm>
            <a:off x="5612765" y="1504522"/>
            <a:ext cx="5867400" cy="2304000"/>
          </a:xfrm>
          <a:prstGeom prst="rect">
            <a:avLst/>
          </a:prstGeom>
          <a:noFill/>
        </p:spPr>
        <p:txBody>
          <a:bodyPr wrap="square" lIns="45720" tIns="91440" rIns="91440" bIns="45720" rtlCol="0" anchor="ctr"/>
          <a:lstStyle/>
          <a:p>
            <a:pPr>
              <a:lnSpc>
                <a:spcPct val="100000"/>
              </a:lnSpc>
            </a:pPr>
            <a:endParaRPr lang="en-US" sz="1600" dirty="0"/>
          </a:p>
        </p:txBody>
      </p:sp>
      <p:sp>
        <p:nvSpPr>
          <p:cNvPr id="9" name="Shape 6"/>
          <p:cNvSpPr/>
          <p:nvPr/>
        </p:nvSpPr>
        <p:spPr>
          <a:xfrm>
            <a:off x="8305165" y="4030980"/>
            <a:ext cx="285750" cy="285750"/>
          </a:xfrm>
          <a:prstGeom prst="ellipse">
            <a:avLst/>
          </a:prstGeom>
          <a:gradFill flip="none" rotWithShape="1">
            <a:gsLst>
              <a:gs pos="0">
                <a:srgbClr val="FFFFFF"/>
              </a:gs>
              <a:gs pos="100000">
                <a:srgbClr val="015DBB"/>
              </a:gs>
            </a:gsLst>
            <a:lin ang="2700000" scaled="1"/>
          </a:gradFill>
        </p:spPr>
      </p:sp>
      <p:sp>
        <p:nvSpPr>
          <p:cNvPr id="10" name="Text 7"/>
          <p:cNvSpPr/>
          <p:nvPr/>
        </p:nvSpPr>
        <p:spPr>
          <a:xfrm>
            <a:off x="8305165" y="4030980"/>
            <a:ext cx="285750" cy="285750"/>
          </a:xfrm>
          <a:prstGeom prst="rect">
            <a:avLst/>
          </a:prstGeom>
          <a:noFill/>
        </p:spPr>
        <p:txBody>
          <a:bodyPr wrap="square" lIns="45720" tIns="91440" rIns="91440" bIns="45720" rtlCol="0" anchor="ctr"/>
          <a:lstStyle/>
          <a:p>
            <a:pPr>
              <a:lnSpc>
                <a:spcPct val="100000"/>
              </a:lnSpc>
            </a:pPr>
            <a:endParaRPr lang="en-US" sz="1600" dirty="0"/>
          </a:p>
        </p:txBody>
      </p:sp>
      <p:sp>
        <p:nvSpPr>
          <p:cNvPr id="11" name="Text 8"/>
          <p:cNvSpPr/>
          <p:nvPr/>
        </p:nvSpPr>
        <p:spPr>
          <a:xfrm>
            <a:off x="595630" y="525145"/>
            <a:ext cx="7004685" cy="562570"/>
          </a:xfrm>
          <a:prstGeom prst="rect">
            <a:avLst/>
          </a:prstGeom>
          <a:noFill/>
        </p:spPr>
        <p:txBody>
          <a:bodyPr wrap="square" lIns="91440" tIns="45720" rIns="91440" bIns="45720" rtlCol="0" anchor="t">
            <a:spAutoFit/>
          </a:bodyPr>
          <a:lstStyle/>
          <a:p>
            <a:pPr>
              <a:lnSpc>
                <a:spcPct val="100000"/>
              </a:lnSpc>
            </a:pPr>
            <a:r>
              <a:rPr lang="en-US" sz="3600" b="1" dirty="0">
                <a:solidFill>
                  <a:srgbClr val="015DBB"/>
                </a:solidFill>
                <a:latin typeface="MiSans" pitchFamily="34" charset="-122"/>
                <a:ea typeface="MiSans" pitchFamily="34" charset="-122"/>
                <a:cs typeface="MiSans" pitchFamily="34" charset="-120"/>
              </a:rPr>
              <a:t>多平台部署与交互创新</a:t>
            </a:r>
            <a:endParaRPr lang="en-US" sz="1600" dirty="0"/>
          </a:p>
        </p:txBody>
      </p:sp>
      <p:pic>
        <p:nvPicPr>
          <p:cNvPr id="12" name="Image 1" descr="https://kimi-img.moonshot.cn/pub/slides/slides_tmpl/image/25-09-08-12:55:42-d2v63jlnfo2stf9dk4rg.png"/>
          <p:cNvPicPr>
            <a:picLocks noChangeAspect="1"/>
          </p:cNvPicPr>
          <p:nvPr/>
        </p:nvPicPr>
        <p:blipFill>
          <a:blip r:embed="rId2"/>
          <a:stretch>
            <a:fillRect/>
          </a:stretch>
        </p:blipFill>
        <p:spPr>
          <a:xfrm>
            <a:off x="15240" y="487045"/>
            <a:ext cx="579755" cy="652145"/>
          </a:xfrm>
          <a:prstGeom prst="rect">
            <a:avLst/>
          </a:prstGeom>
        </p:spPr>
      </p:pic>
      <p:sp>
        <p:nvSpPr>
          <p:cNvPr id="13" name="Text 9"/>
          <p:cNvSpPr/>
          <p:nvPr/>
        </p:nvSpPr>
        <p:spPr>
          <a:xfrm>
            <a:off x="828040" y="4109085"/>
            <a:ext cx="3156585" cy="276225"/>
          </a:xfrm>
          <a:prstGeom prst="rect">
            <a:avLst/>
          </a:prstGeom>
          <a:noFill/>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122"/>
                <a:ea typeface="MiSans" pitchFamily="34" charset="-122"/>
                <a:cs typeface="MiSans" pitchFamily="34" charset="-120"/>
              </a:rPr>
              <a:t>多平台部署</a:t>
            </a:r>
            <a:endParaRPr lang="en-US" sz="1600" dirty="0"/>
          </a:p>
        </p:txBody>
      </p:sp>
      <p:sp>
        <p:nvSpPr>
          <p:cNvPr id="14" name="Text 10"/>
          <p:cNvSpPr/>
          <p:nvPr/>
        </p:nvSpPr>
        <p:spPr>
          <a:xfrm>
            <a:off x="828040" y="4482465"/>
            <a:ext cx="3156585" cy="828675"/>
          </a:xfrm>
          <a:prstGeom prst="rect">
            <a:avLst/>
          </a:prstGeom>
          <a:noFill/>
        </p:spPr>
        <p:txBody>
          <a:bodyPr wrap="square" lIns="91440" tIns="45720" rIns="91440" bIns="45720" rtlCol="0" anchor="t">
            <a:spAutoFit/>
          </a:bodyPr>
          <a:lstStyle/>
          <a:p>
            <a:pPr algn="just">
              <a:lnSpc>
                <a:spcPct val="120000"/>
              </a:lnSpc>
            </a:pPr>
            <a:r>
              <a:rPr lang="en-US" sz="1400" dirty="0">
                <a:solidFill>
                  <a:srgbClr val="404040"/>
                </a:solidFill>
                <a:latin typeface="MiSans" pitchFamily="34" charset="-122"/>
                <a:ea typeface="MiSans" pitchFamily="34" charset="-122"/>
                <a:cs typeface="MiSans" pitchFamily="34" charset="-120"/>
              </a:rPr>
              <a:t>项目支持命令行训练、本地Web界面训练和Hugging Face Spaces在线部署，满足不同用户的需求。</a:t>
            </a:r>
            <a:endParaRPr lang="en-US" sz="1600" dirty="0"/>
          </a:p>
        </p:txBody>
      </p:sp>
      <p:sp>
        <p:nvSpPr>
          <p:cNvPr id="15" name="Text 11"/>
          <p:cNvSpPr/>
          <p:nvPr/>
        </p:nvSpPr>
        <p:spPr>
          <a:xfrm>
            <a:off x="5901690" y="1854835"/>
            <a:ext cx="5422900" cy="276225"/>
          </a:xfrm>
          <a:prstGeom prst="rect">
            <a:avLst/>
          </a:prstGeom>
          <a:noFill/>
        </p:spPr>
        <p:txBody>
          <a:bodyPr wrap="square" lIns="91440" tIns="45720" rIns="91440" bIns="45720" rtlCol="0" anchor="t">
            <a:spAutoFit/>
          </a:bodyPr>
          <a:lstStyle/>
          <a:p>
            <a:pPr algn="just">
              <a:lnSpc>
                <a:spcPct val="100000"/>
              </a:lnSpc>
            </a:pPr>
            <a:r>
              <a:rPr lang="en-US" sz="1800" b="1" dirty="0">
                <a:solidFill>
                  <a:srgbClr val="FFFFFF"/>
                </a:solidFill>
                <a:latin typeface="MiSans" pitchFamily="34" charset="-122"/>
                <a:ea typeface="MiSans" pitchFamily="34" charset="-122"/>
                <a:cs typeface="MiSans" pitchFamily="34" charset="-120"/>
              </a:rPr>
              <a:t>实时进度反馈</a:t>
            </a:r>
            <a:endParaRPr lang="en-US" sz="1600" dirty="0"/>
          </a:p>
        </p:txBody>
      </p:sp>
      <p:sp>
        <p:nvSpPr>
          <p:cNvPr id="16" name="Text 12"/>
          <p:cNvSpPr/>
          <p:nvPr/>
        </p:nvSpPr>
        <p:spPr>
          <a:xfrm>
            <a:off x="5901690" y="2285365"/>
            <a:ext cx="5422900" cy="574873"/>
          </a:xfrm>
          <a:prstGeom prst="rect">
            <a:avLst/>
          </a:prstGeom>
          <a:noFill/>
        </p:spPr>
        <p:txBody>
          <a:bodyPr wrap="square" lIns="91440" tIns="45720" rIns="91440" bIns="45720" rtlCol="0" anchor="t">
            <a:spAutoFit/>
          </a:bodyPr>
          <a:lstStyle/>
          <a:p>
            <a:pPr algn="just">
              <a:lnSpc>
                <a:spcPct val="130000"/>
              </a:lnSpc>
            </a:pPr>
            <a:r>
              <a:rPr lang="en-US" sz="1400" b="1" dirty="0">
                <a:solidFill>
                  <a:srgbClr val="FFFFFF"/>
                </a:solidFill>
                <a:latin typeface="MiSans" pitchFamily="34" charset="-122"/>
                <a:ea typeface="MiSans" pitchFamily="34" charset="-122"/>
                <a:cs typeface="MiSans" pitchFamily="34" charset="-120"/>
              </a:rPr>
              <a:t>通过Gradio框架实现带进度条的实时图像生成，用户可以实时观察到风格迁移的中间结果，增强交互体验。</a:t>
            </a:r>
            <a:endParaRPr lang="en-US" sz="1600" dirty="0"/>
          </a:p>
        </p:txBody>
      </p:sp>
      <p:sp>
        <p:nvSpPr>
          <p:cNvPr id="17" name="Text 13"/>
          <p:cNvSpPr/>
          <p:nvPr/>
        </p:nvSpPr>
        <p:spPr>
          <a:xfrm>
            <a:off x="4574540" y="4109085"/>
            <a:ext cx="3156585" cy="276225"/>
          </a:xfrm>
          <a:prstGeom prst="rect">
            <a:avLst/>
          </a:prstGeom>
          <a:noFill/>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122"/>
                <a:ea typeface="MiSans" pitchFamily="34" charset="-122"/>
                <a:cs typeface="MiSans" pitchFamily="34" charset="-120"/>
              </a:rPr>
              <a:t>全面可视化</a:t>
            </a:r>
            <a:endParaRPr lang="en-US" sz="1600" dirty="0"/>
          </a:p>
        </p:txBody>
      </p:sp>
      <p:sp>
        <p:nvSpPr>
          <p:cNvPr id="18" name="Text 14"/>
          <p:cNvSpPr/>
          <p:nvPr/>
        </p:nvSpPr>
        <p:spPr>
          <a:xfrm>
            <a:off x="4574540" y="4482465"/>
            <a:ext cx="3156585" cy="552450"/>
          </a:xfrm>
          <a:prstGeom prst="rect">
            <a:avLst/>
          </a:prstGeom>
          <a:noFill/>
        </p:spPr>
        <p:txBody>
          <a:bodyPr wrap="square" lIns="91440" tIns="45720" rIns="91440" bIns="45720" rtlCol="0" anchor="t">
            <a:spAutoFit/>
          </a:bodyPr>
          <a:lstStyle/>
          <a:p>
            <a:pPr algn="just">
              <a:lnSpc>
                <a:spcPct val="120000"/>
              </a:lnSpc>
            </a:pPr>
            <a:r>
              <a:rPr lang="en-US" sz="1400" dirty="0">
                <a:solidFill>
                  <a:srgbClr val="404040"/>
                </a:solidFill>
                <a:latin typeface="MiSans" pitchFamily="34" charset="-122"/>
                <a:ea typeface="MiSans" pitchFamily="34" charset="-122"/>
                <a:cs typeface="MiSans" pitchFamily="34" charset="-120"/>
              </a:rPr>
              <a:t>自动保存风格迁移的损失曲线图，方便用户分析优化过程。</a:t>
            </a:r>
            <a:endParaRPr lang="en-US" sz="1600" dirty="0"/>
          </a:p>
        </p:txBody>
      </p:sp>
      <p:sp>
        <p:nvSpPr>
          <p:cNvPr id="19" name="Text 15"/>
          <p:cNvSpPr/>
          <p:nvPr/>
        </p:nvSpPr>
        <p:spPr>
          <a:xfrm>
            <a:off x="8321040" y="4109085"/>
            <a:ext cx="3156585" cy="276225"/>
          </a:xfrm>
          <a:prstGeom prst="rect">
            <a:avLst/>
          </a:prstGeom>
          <a:noFill/>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122"/>
                <a:ea typeface="MiSans" pitchFamily="34" charset="-122"/>
                <a:cs typeface="MiSans" pitchFamily="34" charset="-120"/>
              </a:rPr>
              <a:t>工程友好</a:t>
            </a:r>
            <a:endParaRPr lang="en-US" sz="1600" dirty="0"/>
          </a:p>
        </p:txBody>
      </p:sp>
      <p:sp>
        <p:nvSpPr>
          <p:cNvPr id="20" name="Text 16"/>
          <p:cNvSpPr/>
          <p:nvPr/>
        </p:nvSpPr>
        <p:spPr>
          <a:xfrm>
            <a:off x="8321040" y="4482465"/>
            <a:ext cx="3156585" cy="828675"/>
          </a:xfrm>
          <a:prstGeom prst="rect">
            <a:avLst/>
          </a:prstGeom>
          <a:noFill/>
        </p:spPr>
        <p:txBody>
          <a:bodyPr wrap="square" lIns="91440" tIns="45720" rIns="91440" bIns="45720" rtlCol="0" anchor="t">
            <a:spAutoFit/>
          </a:bodyPr>
          <a:lstStyle/>
          <a:p>
            <a:pPr algn="just">
              <a:lnSpc>
                <a:spcPct val="120000"/>
              </a:lnSpc>
            </a:pPr>
            <a:r>
              <a:rPr lang="en-US" sz="1400" dirty="0">
                <a:solidFill>
                  <a:srgbClr val="404040"/>
                </a:solidFill>
                <a:latin typeface="MiSans" pitchFamily="34" charset="-122"/>
                <a:ea typeface="MiSans" pitchFamily="34" charset="-122"/>
                <a:cs typeface="MiSans" pitchFamily="34" charset="-120"/>
              </a:rPr>
              <a:t>项目工程化程度高，单卡30分钟可完成训练，无需GPU集群，降低了硬件门槛。</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8-12:55:41-d2v63jdnfo2stf9dk4q0.png"/>
          <p:cNvPicPr>
            <a:picLocks noChangeAspect="1"/>
          </p:cNvPicPr>
          <p:nvPr/>
        </p:nvPicPr>
        <p:blipFill>
          <a:blip r:embed="rId1"/>
          <a:stretch>
            <a:fillRect/>
          </a:stretch>
        </p:blipFill>
        <p:spPr>
          <a:xfrm>
            <a:off x="0" y="4660265"/>
            <a:ext cx="12192635" cy="2197735"/>
          </a:xfrm>
          <a:prstGeom prst="rect">
            <a:avLst/>
          </a:prstGeom>
        </p:spPr>
      </p:pic>
      <p:sp>
        <p:nvSpPr>
          <p:cNvPr id="3" name="Text 0"/>
          <p:cNvSpPr/>
          <p:nvPr/>
        </p:nvSpPr>
        <p:spPr>
          <a:xfrm>
            <a:off x="3332163" y="3239770"/>
            <a:ext cx="5956935" cy="736600"/>
          </a:xfrm>
          <a:prstGeom prst="rect">
            <a:avLst/>
          </a:prstGeom>
          <a:noFill/>
        </p:spPr>
        <p:txBody>
          <a:bodyPr wrap="square" lIns="91440" tIns="45720" rIns="91440" bIns="45720" rtlCol="0" anchor="t">
            <a:spAutoFit/>
          </a:bodyPr>
          <a:lstStyle/>
          <a:p>
            <a:pPr algn="ctr">
              <a:lnSpc>
                <a:spcPct val="100000"/>
              </a:lnSpc>
            </a:pPr>
            <a:r>
              <a:rPr lang="en-US" sz="4800" b="1" dirty="0">
                <a:solidFill>
                  <a:srgbClr val="015DBB"/>
                </a:solidFill>
                <a:latin typeface="MiSans" pitchFamily="34" charset="-122"/>
                <a:ea typeface="MiSans" pitchFamily="34" charset="-122"/>
                <a:cs typeface="MiSans" pitchFamily="34" charset="-120"/>
              </a:rPr>
              <a:t>商店销售时序预测</a:t>
            </a:r>
            <a:endParaRPr lang="en-US" sz="1600" dirty="0"/>
          </a:p>
        </p:txBody>
      </p:sp>
      <p:sp>
        <p:nvSpPr>
          <p:cNvPr id="4" name="Text 1"/>
          <p:cNvSpPr/>
          <p:nvPr/>
        </p:nvSpPr>
        <p:spPr>
          <a:xfrm>
            <a:off x="3332163" y="1433195"/>
            <a:ext cx="5956935" cy="1483320"/>
          </a:xfrm>
          <a:prstGeom prst="rect">
            <a:avLst/>
          </a:prstGeom>
          <a:noFill/>
        </p:spPr>
        <p:txBody>
          <a:bodyPr wrap="square" lIns="91440" tIns="45720" rIns="91440" bIns="45720" rtlCol="0" anchor="t">
            <a:spAutoFit/>
          </a:bodyPr>
          <a:lstStyle/>
          <a:p>
            <a:pPr algn="ctr">
              <a:lnSpc>
                <a:spcPct val="100000"/>
              </a:lnSpc>
            </a:pPr>
            <a:r>
              <a:rPr lang="en-US" sz="9600" b="1" dirty="0">
                <a:solidFill>
                  <a:srgbClr val="015DBB"/>
                </a:solidFill>
                <a:latin typeface="MiSans" pitchFamily="34" charset="-122"/>
                <a:ea typeface="MiSans" pitchFamily="34" charset="-122"/>
                <a:cs typeface="MiSans" pitchFamily="34" charset="-120"/>
              </a:rPr>
              <a:t>02</a:t>
            </a:r>
            <a:endParaRPr lang="en-US" sz="1600" dirty="0"/>
          </a:p>
        </p:txBody>
      </p:sp>
      <p:pic>
        <p:nvPicPr>
          <p:cNvPr id="5" name="Image 1" descr="https://kimi-img.moonshot.cn/pub/slides/slides_tmpl/image/25-09-08-12:55:40-d2v63j5nfo2stf9dk4mg.png"/>
          <p:cNvPicPr>
            <a:picLocks noChangeAspect="1"/>
          </p:cNvPicPr>
          <p:nvPr/>
        </p:nvPicPr>
        <p:blipFill>
          <a:blip r:embed="rId2"/>
          <a:srcRect t="1192" b="1192"/>
          <a:stretch>
            <a:fillRect/>
          </a:stretch>
        </p:blipFill>
        <p:spPr>
          <a:xfrm>
            <a:off x="5251133" y="1950720"/>
            <a:ext cx="2118995" cy="1132205"/>
          </a:xfrm>
          <a:prstGeom prst="rect">
            <a:avLst/>
          </a:prstGeom>
        </p:spPr>
      </p:pic>
      <p:pic>
        <p:nvPicPr>
          <p:cNvPr id="6" name="Image 2" descr="https://kimi-img.moonshot.cn/pub/slides/slides_tmpl/image/25-09-08-12:55:57-d2v63ndnfo2stf9dk540.png"/>
          <p:cNvPicPr>
            <a:picLocks noChangeAspect="1"/>
          </p:cNvPicPr>
          <p:nvPr/>
        </p:nvPicPr>
        <p:blipFill>
          <a:blip r:embed="rId3"/>
          <a:srcRect t="22162"/>
          <a:stretch>
            <a:fillRect/>
          </a:stretch>
        </p:blipFill>
        <p:spPr>
          <a:xfrm>
            <a:off x="533400" y="1191895"/>
            <a:ext cx="3402965" cy="2649220"/>
          </a:xfrm>
          <a:prstGeom prst="rect">
            <a:avLst/>
          </a:prstGeom>
        </p:spPr>
      </p:pic>
      <p:pic>
        <p:nvPicPr>
          <p:cNvPr id="7" name="Image 3" descr="https://kimi-img.moonshot.cn/pub/slides/slides_tmpl/image/25-09-08-12:55:57-d2v63ndnfo2stf9dk540.png"/>
          <p:cNvPicPr>
            <a:picLocks noChangeAspect="1"/>
          </p:cNvPicPr>
          <p:nvPr/>
        </p:nvPicPr>
        <p:blipFill>
          <a:blip r:embed="rId3">
            <a:alphaModFix amt="30000"/>
          </a:blip>
          <a:srcRect t="22162"/>
          <a:stretch>
            <a:fillRect/>
          </a:stretch>
        </p:blipFill>
        <p:spPr>
          <a:xfrm flipH="1">
            <a:off x="8581390" y="779780"/>
            <a:ext cx="3402965" cy="2649220"/>
          </a:xfrm>
          <a:prstGeom prst="rect">
            <a:avLst/>
          </a:prstGeom>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8-12:55:42-d2v63jlnfo2stf9dk4t0.png"/>
          <p:cNvPicPr>
            <a:picLocks noChangeAspect="1"/>
          </p:cNvPicPr>
          <p:nvPr/>
        </p:nvPicPr>
        <p:blipFill>
          <a:blip r:embed="rId1"/>
          <a:stretch>
            <a:fillRect/>
          </a:stretch>
        </p:blipFill>
        <p:spPr>
          <a:xfrm>
            <a:off x="1082040" y="2070100"/>
            <a:ext cx="7403465" cy="3652520"/>
          </a:xfrm>
          <a:prstGeom prst="rect">
            <a:avLst/>
          </a:prstGeom>
        </p:spPr>
      </p:pic>
      <p:sp>
        <p:nvSpPr>
          <p:cNvPr id="3" name="Text 0"/>
          <p:cNvSpPr/>
          <p:nvPr/>
        </p:nvSpPr>
        <p:spPr>
          <a:xfrm>
            <a:off x="595630" y="487045"/>
            <a:ext cx="7004685" cy="562570"/>
          </a:xfrm>
          <a:prstGeom prst="rect">
            <a:avLst/>
          </a:prstGeom>
          <a:noFill/>
        </p:spPr>
        <p:txBody>
          <a:bodyPr wrap="square" lIns="91440" tIns="45720" rIns="91440" bIns="45720" rtlCol="0" anchor="t">
            <a:spAutoFit/>
          </a:bodyPr>
          <a:lstStyle/>
          <a:p>
            <a:pPr>
              <a:lnSpc>
                <a:spcPct val="100000"/>
              </a:lnSpc>
            </a:pPr>
            <a:r>
              <a:rPr lang="en-US" sz="3600" b="1" dirty="0">
                <a:solidFill>
                  <a:srgbClr val="015DBB"/>
                </a:solidFill>
                <a:latin typeface="MiSans" pitchFamily="34" charset="-122"/>
                <a:ea typeface="MiSans" pitchFamily="34" charset="-122"/>
                <a:cs typeface="MiSans" pitchFamily="34" charset="-120"/>
              </a:rPr>
              <a:t>业务背景与数据概览</a:t>
            </a:r>
            <a:endParaRPr lang="en-US" sz="1600" dirty="0"/>
          </a:p>
        </p:txBody>
      </p:sp>
      <p:pic>
        <p:nvPicPr>
          <p:cNvPr id="4" name="Image 1" descr="https://kimi-img.moonshot.cn/pub/slides/slides_tmpl/image/25-09-08-12:55:42-d2v63jlnfo2stf9dk4rg.png"/>
          <p:cNvPicPr>
            <a:picLocks noChangeAspect="1"/>
          </p:cNvPicPr>
          <p:nvPr/>
        </p:nvPicPr>
        <p:blipFill>
          <a:blip r:embed="rId2"/>
          <a:stretch>
            <a:fillRect/>
          </a:stretch>
        </p:blipFill>
        <p:spPr>
          <a:xfrm>
            <a:off x="15240" y="487045"/>
            <a:ext cx="579755" cy="652145"/>
          </a:xfrm>
          <a:prstGeom prst="rect">
            <a:avLst/>
          </a:prstGeom>
        </p:spPr>
      </p:pic>
      <p:pic>
        <p:nvPicPr>
          <p:cNvPr id="5" name="Image 2" descr="https://kimi-img.moonshot.cn/pub/slides/slides_tmpl/image/25-09-08-12:55:57-d2v63ndnfo2stf9dk540.png"/>
          <p:cNvPicPr>
            <a:picLocks noChangeAspect="1"/>
          </p:cNvPicPr>
          <p:nvPr/>
        </p:nvPicPr>
        <p:blipFill>
          <a:blip r:embed="rId3"/>
          <a:srcRect t="22162"/>
          <a:stretch>
            <a:fillRect/>
          </a:stretch>
        </p:blipFill>
        <p:spPr>
          <a:xfrm>
            <a:off x="8027035" y="850900"/>
            <a:ext cx="3446145" cy="2682875"/>
          </a:xfrm>
          <a:prstGeom prst="rect">
            <a:avLst/>
          </a:prstGeom>
        </p:spPr>
      </p:pic>
      <p:pic>
        <p:nvPicPr>
          <p:cNvPr id="6" name="Image 3" descr="https://kimi-img.moonshot.cn/pub/slides/slides_tmpl/image/25-09-08-12:55:41-d2v63jdnfo2stf9dk4q0.png"/>
          <p:cNvPicPr>
            <a:picLocks noChangeAspect="1"/>
          </p:cNvPicPr>
          <p:nvPr/>
        </p:nvPicPr>
        <p:blipFill>
          <a:blip r:embed="rId4"/>
          <a:stretch>
            <a:fillRect/>
          </a:stretch>
        </p:blipFill>
        <p:spPr>
          <a:xfrm>
            <a:off x="0" y="6144260"/>
            <a:ext cx="12192635" cy="713740"/>
          </a:xfrm>
          <a:prstGeom prst="rect">
            <a:avLst/>
          </a:prstGeom>
        </p:spPr>
      </p:pic>
      <p:sp>
        <p:nvSpPr>
          <p:cNvPr id="7" name="Text 1"/>
          <p:cNvSpPr/>
          <p:nvPr/>
        </p:nvSpPr>
        <p:spPr>
          <a:xfrm>
            <a:off x="15103475" y="2876550"/>
            <a:ext cx="4064000" cy="174625"/>
          </a:xfrm>
          <a:prstGeom prst="rect">
            <a:avLst/>
          </a:prstGeom>
          <a:noFill/>
        </p:spPr>
        <p:txBody>
          <a:bodyPr wrap="square" lIns="91440" tIns="45720" rIns="91440" bIns="45720" rtlCol="0" anchor="t">
            <a:spAutoFit/>
          </a:bodyPr>
          <a:lstStyle/>
          <a:p>
            <a:pPr>
              <a:lnSpc>
                <a:spcPct val="100000"/>
              </a:lnSpc>
            </a:pPr>
            <a:r>
              <a:rPr lang="en-US" sz="1800" dirty="0">
                <a:solidFill>
                  <a:srgbClr val="000000"/>
                </a:solidFill>
                <a:latin typeface="MiSans" pitchFamily="34" charset="-122"/>
                <a:ea typeface="MiSans" pitchFamily="34" charset="-122"/>
                <a:cs typeface="MiSans" pitchFamily="34" charset="-120"/>
              </a:rPr>
              <a:t> </a:t>
            </a:r>
            <a:endParaRPr lang="en-US" sz="1600" dirty="0"/>
          </a:p>
        </p:txBody>
      </p:sp>
      <p:sp>
        <p:nvSpPr>
          <p:cNvPr id="8" name="Text 2"/>
          <p:cNvSpPr/>
          <p:nvPr/>
        </p:nvSpPr>
        <p:spPr>
          <a:xfrm>
            <a:off x="1303655" y="2437765"/>
            <a:ext cx="6536690" cy="432991"/>
          </a:xfrm>
          <a:prstGeom prst="rect">
            <a:avLst/>
          </a:prstGeom>
          <a:noFill/>
        </p:spPr>
        <p:txBody>
          <a:bodyPr wrap="square" lIns="91440" tIns="45720" rIns="91440" bIns="45720" rtlCol="0" anchor="t">
            <a:spAutoFit/>
          </a:bodyPr>
          <a:lstStyle/>
          <a:p>
            <a:pPr algn="just">
              <a:lnSpc>
                <a:spcPct val="100000"/>
              </a:lnSpc>
            </a:pPr>
            <a:r>
              <a:rPr lang="en-US" sz="2800" b="1" dirty="0">
                <a:solidFill>
                  <a:srgbClr val="015DBB"/>
                </a:solidFill>
                <a:latin typeface="MiSans" pitchFamily="34" charset="-122"/>
                <a:ea typeface="MiSans" pitchFamily="34" charset="-122"/>
                <a:cs typeface="MiSans" pitchFamily="34" charset="-120"/>
              </a:rPr>
              <a:t>业务背景</a:t>
            </a:r>
            <a:endParaRPr lang="en-US" sz="1600" dirty="0"/>
          </a:p>
        </p:txBody>
      </p:sp>
      <p:sp>
        <p:nvSpPr>
          <p:cNvPr id="9" name="Text 3"/>
          <p:cNvSpPr/>
          <p:nvPr/>
        </p:nvSpPr>
        <p:spPr>
          <a:xfrm>
            <a:off x="1303655" y="3002915"/>
            <a:ext cx="6536690" cy="1371600"/>
          </a:xfrm>
          <a:prstGeom prst="rect">
            <a:avLst/>
          </a:prstGeom>
          <a:noFill/>
        </p:spPr>
        <p:txBody>
          <a:bodyPr wrap="square" lIns="91440" tIns="45720" rIns="91440" bIns="45720" rtlCol="0" anchor="t">
            <a:spAutoFit/>
          </a:bodyPr>
          <a:lstStyle/>
          <a:p>
            <a:pPr algn="just">
              <a:lnSpc>
                <a:spcPct val="150000"/>
              </a:lnSpc>
            </a:pPr>
            <a:r>
              <a:rPr lang="en-US" sz="2000" dirty="0">
                <a:solidFill>
                  <a:srgbClr val="404040"/>
                </a:solidFill>
                <a:latin typeface="MiSans" pitchFamily="34" charset="-122"/>
                <a:ea typeface="MiSans" pitchFamily="34" charset="-122"/>
                <a:cs typeface="MiSans" pitchFamily="34" charset="-120"/>
              </a:rPr>
              <a:t>准确预测未来16天的销售额对于零售业的库存管理、物流规划和成本控制至关重要。本项目基于Kaggle平台的竞赛数据，旨在解决这一实际问题。</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8-12:56:02-d2v63olnfo2stf9dk55g.png"/>
          <p:cNvPicPr>
            <a:picLocks noChangeAspect="1"/>
          </p:cNvPicPr>
          <p:nvPr/>
        </p:nvPicPr>
        <p:blipFill>
          <a:blip r:embed="rId1"/>
          <a:srcRect t="154" b="154"/>
          <a:stretch>
            <a:fillRect/>
          </a:stretch>
        </p:blipFill>
        <p:spPr>
          <a:xfrm>
            <a:off x="743585" y="1354455"/>
            <a:ext cx="10554335" cy="2054225"/>
          </a:xfrm>
          <a:prstGeom prst="rect">
            <a:avLst/>
          </a:prstGeom>
        </p:spPr>
      </p:pic>
      <p:pic>
        <p:nvPicPr>
          <p:cNvPr id="3" name="Image 1" descr="https://kimi-img.moonshot.cn/pub/slides/slides_tmpl/image/25-09-08-12:56:02-d2v63olnfo2stf9dk560.png"/>
          <p:cNvPicPr>
            <a:picLocks noChangeAspect="1"/>
          </p:cNvPicPr>
          <p:nvPr/>
        </p:nvPicPr>
        <p:blipFill>
          <a:blip r:embed="rId2"/>
          <a:stretch>
            <a:fillRect/>
          </a:stretch>
        </p:blipFill>
        <p:spPr>
          <a:xfrm>
            <a:off x="1802130" y="2901950"/>
            <a:ext cx="987425" cy="987425"/>
          </a:xfrm>
          <a:prstGeom prst="rect">
            <a:avLst/>
          </a:prstGeom>
        </p:spPr>
      </p:pic>
      <p:sp>
        <p:nvSpPr>
          <p:cNvPr id="4" name="Text 0"/>
          <p:cNvSpPr/>
          <p:nvPr/>
        </p:nvSpPr>
        <p:spPr>
          <a:xfrm>
            <a:off x="595630" y="525145"/>
            <a:ext cx="7004685" cy="562570"/>
          </a:xfrm>
          <a:prstGeom prst="rect">
            <a:avLst/>
          </a:prstGeom>
          <a:noFill/>
        </p:spPr>
        <p:txBody>
          <a:bodyPr wrap="square" lIns="91440" tIns="45720" rIns="91440" bIns="45720" rtlCol="0" anchor="t">
            <a:spAutoFit/>
          </a:bodyPr>
          <a:lstStyle/>
          <a:p>
            <a:pPr>
              <a:lnSpc>
                <a:spcPct val="100000"/>
              </a:lnSpc>
            </a:pPr>
            <a:r>
              <a:rPr lang="en-US" sz="3600" b="1" dirty="0">
                <a:solidFill>
                  <a:srgbClr val="015DBB"/>
                </a:solidFill>
                <a:latin typeface="MiSans" pitchFamily="34" charset="-122"/>
                <a:ea typeface="MiSans" pitchFamily="34" charset="-122"/>
                <a:cs typeface="MiSans" pitchFamily="34" charset="-120"/>
              </a:rPr>
              <a:t>特征工程与窗口采样</a:t>
            </a:r>
            <a:endParaRPr lang="en-US" sz="1600" dirty="0"/>
          </a:p>
        </p:txBody>
      </p:sp>
      <p:pic>
        <p:nvPicPr>
          <p:cNvPr id="5" name="Image 2" descr="https://kimi-img.moonshot.cn/pub/slides/slides_tmpl/image/25-09-08-12:55:42-d2v63jlnfo2stf9dk4rg.png"/>
          <p:cNvPicPr>
            <a:picLocks noChangeAspect="1"/>
          </p:cNvPicPr>
          <p:nvPr/>
        </p:nvPicPr>
        <p:blipFill>
          <a:blip r:embed="rId3"/>
          <a:stretch>
            <a:fillRect/>
          </a:stretch>
        </p:blipFill>
        <p:spPr>
          <a:xfrm>
            <a:off x="15240" y="487045"/>
            <a:ext cx="579755" cy="652145"/>
          </a:xfrm>
          <a:prstGeom prst="rect">
            <a:avLst/>
          </a:prstGeom>
        </p:spPr>
      </p:pic>
      <p:pic>
        <p:nvPicPr>
          <p:cNvPr id="6" name="Image 3" descr="https://kimi-img.moonshot.cn/pub/slides/slides_tmpl/image/25-09-08-12:56:02-d2v63olnfo2stf9dk560.png"/>
          <p:cNvPicPr>
            <a:picLocks noChangeAspect="1"/>
          </p:cNvPicPr>
          <p:nvPr/>
        </p:nvPicPr>
        <p:blipFill>
          <a:blip r:embed="rId2"/>
          <a:stretch>
            <a:fillRect/>
          </a:stretch>
        </p:blipFill>
        <p:spPr>
          <a:xfrm>
            <a:off x="5422900" y="2917825"/>
            <a:ext cx="987425" cy="954405"/>
          </a:xfrm>
          <a:prstGeom prst="rect">
            <a:avLst/>
          </a:prstGeom>
        </p:spPr>
      </p:pic>
      <p:pic>
        <p:nvPicPr>
          <p:cNvPr id="7" name="Image 4" descr="https://kimi-img.moonshot.cn/pub/slides/slides_tmpl/image/25-09-08-12:56:02-d2v63olnfo2stf9dk560.png"/>
          <p:cNvPicPr>
            <a:picLocks noChangeAspect="1"/>
          </p:cNvPicPr>
          <p:nvPr/>
        </p:nvPicPr>
        <p:blipFill>
          <a:blip r:embed="rId2"/>
          <a:stretch>
            <a:fillRect/>
          </a:stretch>
        </p:blipFill>
        <p:spPr>
          <a:xfrm>
            <a:off x="9183370" y="2927350"/>
            <a:ext cx="987425" cy="954405"/>
          </a:xfrm>
          <a:prstGeom prst="rect">
            <a:avLst/>
          </a:prstGeom>
        </p:spPr>
      </p:pic>
      <p:sp>
        <p:nvSpPr>
          <p:cNvPr id="8" name="Text 1"/>
          <p:cNvSpPr/>
          <p:nvPr/>
        </p:nvSpPr>
        <p:spPr>
          <a:xfrm>
            <a:off x="1881505" y="3128645"/>
            <a:ext cx="815340" cy="432991"/>
          </a:xfrm>
          <a:prstGeom prst="rect">
            <a:avLst/>
          </a:prstGeom>
          <a:noFill/>
        </p:spPr>
        <p:txBody>
          <a:bodyPr wrap="square" lIns="91440" tIns="45720" rIns="91440" bIns="45720" rtlCol="0" anchor="t">
            <a:spAutoFit/>
          </a:bodyPr>
          <a:lstStyle/>
          <a:p>
            <a:pPr algn="ctr">
              <a:lnSpc>
                <a:spcPct val="100000"/>
              </a:lnSpc>
            </a:pPr>
            <a:r>
              <a:rPr lang="en-US" sz="2800" b="1" dirty="0">
                <a:solidFill>
                  <a:srgbClr val="FFFFFF"/>
                </a:solidFill>
                <a:latin typeface="MiSans" pitchFamily="34" charset="-122"/>
                <a:ea typeface="MiSans" pitchFamily="34" charset="-122"/>
                <a:cs typeface="MiSans" pitchFamily="34" charset="-120"/>
              </a:rPr>
              <a:t>01</a:t>
            </a:r>
            <a:endParaRPr lang="en-US" sz="1600" dirty="0"/>
          </a:p>
        </p:txBody>
      </p:sp>
      <p:sp>
        <p:nvSpPr>
          <p:cNvPr id="9" name="Text 2"/>
          <p:cNvSpPr/>
          <p:nvPr/>
        </p:nvSpPr>
        <p:spPr>
          <a:xfrm>
            <a:off x="721360" y="3910330"/>
            <a:ext cx="3134995" cy="276225"/>
          </a:xfrm>
          <a:prstGeom prst="rect">
            <a:avLst/>
          </a:prstGeom>
          <a:noFill/>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122"/>
                <a:ea typeface="MiSans" pitchFamily="34" charset="-122"/>
                <a:cs typeface="MiSans" pitchFamily="34" charset="-120"/>
              </a:rPr>
              <a:t>特征工程</a:t>
            </a:r>
            <a:endParaRPr lang="en-US" sz="1600" dirty="0"/>
          </a:p>
        </p:txBody>
      </p:sp>
      <p:sp>
        <p:nvSpPr>
          <p:cNvPr id="10" name="Text 3"/>
          <p:cNvSpPr/>
          <p:nvPr/>
        </p:nvSpPr>
        <p:spPr>
          <a:xfrm>
            <a:off x="721360" y="4283710"/>
            <a:ext cx="3134995" cy="1437481"/>
          </a:xfrm>
          <a:prstGeom prst="rect">
            <a:avLst/>
          </a:prstGeom>
          <a:noFill/>
        </p:spPr>
        <p:txBody>
          <a:bodyPr wrap="square" lIns="91440" tIns="45720" rIns="91440" bIns="45720" rtlCol="0" anchor="t">
            <a:spAutoFit/>
          </a:bodyPr>
          <a:lstStyle/>
          <a:p>
            <a:pPr algn="just">
              <a:lnSpc>
                <a:spcPct val="130000"/>
              </a:lnSpc>
            </a:pPr>
            <a:r>
              <a:rPr lang="en-US" sz="1400" dirty="0">
                <a:solidFill>
                  <a:srgbClr val="404040"/>
                </a:solidFill>
                <a:latin typeface="MiSans" pitchFamily="34" charset="-122"/>
                <a:ea typeface="MiSans" pitchFamily="34" charset="-122"/>
                <a:cs typeface="MiSans" pitchFamily="34" charset="-120"/>
              </a:rPr>
              <a:t>对数据进行预处理，包括缺失值处理、特征编码和时间特征提取。使用LabelEncoder对商品家族和组合ID进行编码，提取月、日、星期等时间特征。</a:t>
            </a:r>
            <a:endParaRPr lang="en-US" sz="1600" dirty="0"/>
          </a:p>
        </p:txBody>
      </p:sp>
      <p:sp>
        <p:nvSpPr>
          <p:cNvPr id="11" name="Text 4"/>
          <p:cNvSpPr/>
          <p:nvPr/>
        </p:nvSpPr>
        <p:spPr>
          <a:xfrm>
            <a:off x="5502275" y="3129280"/>
            <a:ext cx="815340" cy="504190"/>
          </a:xfrm>
          <a:prstGeom prst="rect">
            <a:avLst/>
          </a:prstGeom>
          <a:noFill/>
        </p:spPr>
        <p:txBody>
          <a:bodyPr wrap="square" lIns="91440" tIns="45720" rIns="91440" bIns="45720" rtlCol="0" anchor="t"/>
          <a:lstStyle/>
          <a:p>
            <a:pPr algn="ctr">
              <a:lnSpc>
                <a:spcPct val="100000"/>
              </a:lnSpc>
            </a:pPr>
            <a:r>
              <a:rPr lang="en-US" sz="2800" b="1" dirty="0">
                <a:solidFill>
                  <a:srgbClr val="FFFFFF"/>
                </a:solidFill>
                <a:latin typeface="MiSans" pitchFamily="34" charset="-122"/>
                <a:ea typeface="MiSans" pitchFamily="34" charset="-122"/>
                <a:cs typeface="MiSans" pitchFamily="34" charset="-120"/>
              </a:rPr>
              <a:t>02</a:t>
            </a:r>
            <a:endParaRPr lang="en-US" sz="1600" dirty="0"/>
          </a:p>
        </p:txBody>
      </p:sp>
      <p:sp>
        <p:nvSpPr>
          <p:cNvPr id="12" name="Text 5"/>
          <p:cNvSpPr/>
          <p:nvPr/>
        </p:nvSpPr>
        <p:spPr>
          <a:xfrm>
            <a:off x="4412615" y="3910330"/>
            <a:ext cx="3134995" cy="276225"/>
          </a:xfrm>
          <a:prstGeom prst="rect">
            <a:avLst/>
          </a:prstGeom>
          <a:noFill/>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122"/>
                <a:ea typeface="MiSans" pitchFamily="34" charset="-122"/>
                <a:cs typeface="MiSans" pitchFamily="34" charset="-120"/>
              </a:rPr>
              <a:t>窗口采样</a:t>
            </a:r>
            <a:endParaRPr lang="en-US" sz="1600" dirty="0"/>
          </a:p>
        </p:txBody>
      </p:sp>
      <p:sp>
        <p:nvSpPr>
          <p:cNvPr id="13" name="Text 6"/>
          <p:cNvSpPr/>
          <p:nvPr/>
        </p:nvSpPr>
        <p:spPr>
          <a:xfrm>
            <a:off x="4412615" y="4283710"/>
            <a:ext cx="3134995" cy="1437481"/>
          </a:xfrm>
          <a:prstGeom prst="rect">
            <a:avLst/>
          </a:prstGeom>
          <a:noFill/>
        </p:spPr>
        <p:txBody>
          <a:bodyPr wrap="square" lIns="91440" tIns="45720" rIns="91440" bIns="45720" rtlCol="0" anchor="t">
            <a:spAutoFit/>
          </a:bodyPr>
          <a:lstStyle/>
          <a:p>
            <a:pPr algn="just">
              <a:lnSpc>
                <a:spcPct val="130000"/>
              </a:lnSpc>
            </a:pPr>
            <a:r>
              <a:rPr lang="en-US" sz="1400" dirty="0">
                <a:solidFill>
                  <a:srgbClr val="404040"/>
                </a:solidFill>
                <a:latin typeface="MiSans" pitchFamily="34" charset="-122"/>
                <a:ea typeface="MiSans" pitchFamily="34" charset="-122"/>
                <a:cs typeface="MiSans" pitchFamily="34" charset="-120"/>
              </a:rPr>
              <a:t>采用滑动窗口策略将长序列转换为监督学习样本。LSTM模型使用过去90天的数据预测未来16天，Transformer模型使用过去140天的数据预测未来16天。</a:t>
            </a:r>
            <a:endParaRPr lang="en-US" sz="1600" dirty="0"/>
          </a:p>
        </p:txBody>
      </p:sp>
      <p:sp>
        <p:nvSpPr>
          <p:cNvPr id="14" name="Text 7"/>
          <p:cNvSpPr/>
          <p:nvPr/>
        </p:nvSpPr>
        <p:spPr>
          <a:xfrm>
            <a:off x="9262745" y="3138805"/>
            <a:ext cx="815340" cy="504190"/>
          </a:xfrm>
          <a:prstGeom prst="rect">
            <a:avLst/>
          </a:prstGeom>
          <a:noFill/>
        </p:spPr>
        <p:txBody>
          <a:bodyPr wrap="square" lIns="91440" tIns="45720" rIns="91440" bIns="45720" rtlCol="0" anchor="t"/>
          <a:lstStyle/>
          <a:p>
            <a:pPr algn="ctr">
              <a:lnSpc>
                <a:spcPct val="100000"/>
              </a:lnSpc>
            </a:pPr>
            <a:r>
              <a:rPr lang="en-US" sz="2800" b="1" dirty="0">
                <a:solidFill>
                  <a:srgbClr val="FFFFFF"/>
                </a:solidFill>
                <a:latin typeface="MiSans" pitchFamily="34" charset="-122"/>
                <a:ea typeface="MiSans" pitchFamily="34" charset="-122"/>
                <a:cs typeface="MiSans" pitchFamily="34" charset="-120"/>
              </a:rPr>
              <a:t>03</a:t>
            </a:r>
            <a:endParaRPr lang="en-US" sz="1600" dirty="0"/>
          </a:p>
        </p:txBody>
      </p:sp>
      <p:sp>
        <p:nvSpPr>
          <p:cNvPr id="15" name="Text 8"/>
          <p:cNvSpPr/>
          <p:nvPr/>
        </p:nvSpPr>
        <p:spPr>
          <a:xfrm>
            <a:off x="8103870" y="3910330"/>
            <a:ext cx="3134995" cy="276225"/>
          </a:xfrm>
          <a:prstGeom prst="rect">
            <a:avLst/>
          </a:prstGeom>
          <a:noFill/>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122"/>
                <a:ea typeface="MiSans" pitchFamily="34" charset="-122"/>
                <a:cs typeface="MiSans" pitchFamily="34" charset="-120"/>
              </a:rPr>
              <a:t>数据处理</a:t>
            </a:r>
            <a:endParaRPr lang="en-US" sz="1600" dirty="0"/>
          </a:p>
        </p:txBody>
      </p:sp>
      <p:sp>
        <p:nvSpPr>
          <p:cNvPr id="16" name="Text 9"/>
          <p:cNvSpPr/>
          <p:nvPr/>
        </p:nvSpPr>
        <p:spPr>
          <a:xfrm>
            <a:off x="8103870" y="4283710"/>
            <a:ext cx="3134995" cy="1149945"/>
          </a:xfrm>
          <a:prstGeom prst="rect">
            <a:avLst/>
          </a:prstGeom>
          <a:noFill/>
        </p:spPr>
        <p:txBody>
          <a:bodyPr wrap="square" lIns="91440" tIns="45720" rIns="91440" bIns="45720" rtlCol="0" anchor="t">
            <a:spAutoFit/>
          </a:bodyPr>
          <a:lstStyle/>
          <a:p>
            <a:pPr algn="just">
              <a:lnSpc>
                <a:spcPct val="130000"/>
              </a:lnSpc>
            </a:pPr>
            <a:r>
              <a:rPr lang="en-US" sz="1400" dirty="0">
                <a:solidFill>
                  <a:srgbClr val="404040"/>
                </a:solidFill>
                <a:latin typeface="MiSans" pitchFamily="34" charset="-122"/>
                <a:ea typeface="MiSans" pitchFamily="34" charset="-122"/>
                <a:cs typeface="MiSans" pitchFamily="34" charset="-120"/>
              </a:rPr>
              <a:t>对油价进行线性插值及前后向填充，确保特征矩阵的完整性。将处理后的油价作为外生变量加入模型，帮助模型学习销量与经济周期的关联。</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8-12:55:55-d2v63mtnfo2stf9dk53g.png"/>
          <p:cNvPicPr>
            <a:picLocks noChangeAspect="1"/>
          </p:cNvPicPr>
          <p:nvPr/>
        </p:nvPicPr>
        <p:blipFill>
          <a:blip r:embed="rId1"/>
          <a:stretch>
            <a:fillRect/>
          </a:stretch>
        </p:blipFill>
        <p:spPr>
          <a:xfrm>
            <a:off x="594995" y="1249680"/>
            <a:ext cx="1257935" cy="1414780"/>
          </a:xfrm>
          <a:prstGeom prst="rect">
            <a:avLst/>
          </a:prstGeom>
        </p:spPr>
      </p:pic>
      <p:sp>
        <p:nvSpPr>
          <p:cNvPr id="3" name="Shape 0"/>
          <p:cNvSpPr/>
          <p:nvPr/>
        </p:nvSpPr>
        <p:spPr>
          <a:xfrm>
            <a:off x="6870700" y="4445"/>
            <a:ext cx="5321300" cy="6854190"/>
          </a:xfrm>
          <a:custGeom>
            <a:avLst/>
            <a:gdLst/>
            <a:ahLst/>
            <a:cxnLst/>
            <a:rect l="l" t="t" r="r" b="b"/>
            <a:pathLst>
              <a:path w="5321300" h="6854190">
                <a:moveTo>
                  <a:pt x="853585" y="0"/>
                </a:moveTo>
                <a:lnTo>
                  <a:pt x="5321300" y="0"/>
                </a:lnTo>
                <a:lnTo>
                  <a:pt x="5321300" y="6854190"/>
                </a:lnTo>
                <a:lnTo>
                  <a:pt x="916820" y="6854190"/>
                </a:lnTo>
                <a:lnTo>
                  <a:pt x="813147" y="6679520"/>
                </a:lnTo>
                <a:cubicBezTo>
                  <a:pt x="305157" y="5781193"/>
                  <a:pt x="0" y="4629518"/>
                  <a:pt x="0" y="3373826"/>
                </a:cubicBezTo>
                <a:cubicBezTo>
                  <a:pt x="0" y="2118134"/>
                  <a:pt x="305157" y="966458"/>
                  <a:pt x="813146" y="68131"/>
                </a:cubicBezTo>
                <a:close/>
              </a:path>
            </a:pathLst>
          </a:custGeom>
          <a:solidFill>
            <a:srgbClr val="015DBB"/>
          </a:solidFill>
        </p:spPr>
      </p:sp>
      <p:sp>
        <p:nvSpPr>
          <p:cNvPr id="4" name="Text 1"/>
          <p:cNvSpPr/>
          <p:nvPr/>
        </p:nvSpPr>
        <p:spPr>
          <a:xfrm>
            <a:off x="6870700" y="4445"/>
            <a:ext cx="5321300" cy="6854190"/>
          </a:xfrm>
          <a:prstGeom prst="rect">
            <a:avLst/>
          </a:prstGeom>
          <a:noFill/>
        </p:spPr>
        <p:txBody>
          <a:bodyPr wrap="square" lIns="45720" tIns="91440" rIns="91440" bIns="45720" rtlCol="0" anchor="ctr"/>
          <a:lstStyle/>
          <a:p>
            <a:pPr>
              <a:lnSpc>
                <a:spcPct val="100000"/>
              </a:lnSpc>
            </a:pPr>
            <a:endParaRPr lang="en-US" sz="1600" dirty="0"/>
          </a:p>
        </p:txBody>
      </p:sp>
      <p:sp>
        <p:nvSpPr>
          <p:cNvPr id="5" name="Shape 2"/>
          <p:cNvSpPr/>
          <p:nvPr/>
        </p:nvSpPr>
        <p:spPr>
          <a:xfrm>
            <a:off x="1056005" y="1828800"/>
            <a:ext cx="10176510" cy="3943350"/>
          </a:xfrm>
          <a:prstGeom prst="roundRect">
            <a:avLst>
              <a:gd name="adj" fmla="val 0"/>
            </a:avLst>
          </a:prstGeom>
          <a:solidFill>
            <a:srgbClr val="FFFFFF"/>
          </a:solidFill>
          <a:ln w="19050">
            <a:solidFill>
              <a:srgbClr val="D2DAFB"/>
            </a:solidFill>
            <a:prstDash val="solid"/>
          </a:ln>
        </p:spPr>
      </p:sp>
      <p:sp>
        <p:nvSpPr>
          <p:cNvPr id="6" name="Text 3"/>
          <p:cNvSpPr/>
          <p:nvPr/>
        </p:nvSpPr>
        <p:spPr>
          <a:xfrm>
            <a:off x="1056005" y="1828800"/>
            <a:ext cx="10176510" cy="3943350"/>
          </a:xfrm>
          <a:prstGeom prst="rect">
            <a:avLst/>
          </a:prstGeom>
          <a:noFill/>
        </p:spPr>
        <p:txBody>
          <a:bodyPr wrap="square" lIns="45720" tIns="91440" rIns="91440" bIns="45720" rtlCol="0" anchor="ctr"/>
          <a:lstStyle/>
          <a:p>
            <a:pPr>
              <a:lnSpc>
                <a:spcPct val="100000"/>
              </a:lnSpc>
            </a:pPr>
            <a:endParaRPr lang="en-US" sz="1600" dirty="0"/>
          </a:p>
        </p:txBody>
      </p:sp>
      <p:sp>
        <p:nvSpPr>
          <p:cNvPr id="7" name="Shape 4"/>
          <p:cNvSpPr/>
          <p:nvPr/>
        </p:nvSpPr>
        <p:spPr>
          <a:xfrm>
            <a:off x="6144578" y="2144395"/>
            <a:ext cx="0" cy="3312160"/>
          </a:xfrm>
          <a:prstGeom prst="straightConnector1">
            <a:avLst/>
          </a:prstGeom>
          <a:noFill/>
          <a:ln w="12700">
            <a:solidFill>
              <a:srgbClr val="0B207A"/>
            </a:solidFill>
            <a:prstDash val="dash"/>
            <a:headEnd type="none"/>
            <a:tailEnd type="none"/>
          </a:ln>
        </p:spPr>
      </p:sp>
      <p:sp>
        <p:nvSpPr>
          <p:cNvPr id="8" name="Text 5"/>
          <p:cNvSpPr/>
          <p:nvPr/>
        </p:nvSpPr>
        <p:spPr>
          <a:xfrm>
            <a:off x="595630" y="525145"/>
            <a:ext cx="7004685" cy="562570"/>
          </a:xfrm>
          <a:prstGeom prst="rect">
            <a:avLst/>
          </a:prstGeom>
          <a:noFill/>
        </p:spPr>
        <p:txBody>
          <a:bodyPr wrap="square" lIns="91440" tIns="45720" rIns="91440" bIns="45720" rtlCol="0" anchor="t">
            <a:spAutoFit/>
          </a:bodyPr>
          <a:lstStyle/>
          <a:p>
            <a:pPr>
              <a:lnSpc>
                <a:spcPct val="100000"/>
              </a:lnSpc>
            </a:pPr>
            <a:r>
              <a:rPr lang="en-US" sz="3600" b="1" dirty="0">
                <a:solidFill>
                  <a:srgbClr val="015DBB"/>
                </a:solidFill>
                <a:latin typeface="MiSans" pitchFamily="34" charset="-122"/>
                <a:ea typeface="MiSans" pitchFamily="34" charset="-122"/>
                <a:cs typeface="MiSans" pitchFamily="34" charset="-120"/>
              </a:rPr>
              <a:t>LSTM模型结构</a:t>
            </a:r>
            <a:endParaRPr lang="en-US" sz="1600" dirty="0"/>
          </a:p>
        </p:txBody>
      </p:sp>
      <p:pic>
        <p:nvPicPr>
          <p:cNvPr id="9" name="Image 1" descr="https://kimi-img.moonshot.cn/pub/slides/slides_tmpl/image/25-09-08-12:55:42-d2v63jlnfo2stf9dk4rg.png"/>
          <p:cNvPicPr>
            <a:picLocks noChangeAspect="1"/>
          </p:cNvPicPr>
          <p:nvPr/>
        </p:nvPicPr>
        <p:blipFill>
          <a:blip r:embed="rId2"/>
          <a:stretch>
            <a:fillRect/>
          </a:stretch>
        </p:blipFill>
        <p:spPr>
          <a:xfrm>
            <a:off x="15240" y="487045"/>
            <a:ext cx="579755" cy="652145"/>
          </a:xfrm>
          <a:prstGeom prst="rect">
            <a:avLst/>
          </a:prstGeom>
        </p:spPr>
      </p:pic>
      <p:sp>
        <p:nvSpPr>
          <p:cNvPr id="10" name="Text 6"/>
          <p:cNvSpPr/>
          <p:nvPr/>
        </p:nvSpPr>
        <p:spPr>
          <a:xfrm>
            <a:off x="1509078" y="2271395"/>
            <a:ext cx="4285615" cy="368300"/>
          </a:xfrm>
          <a:prstGeom prst="rect">
            <a:avLst/>
          </a:prstGeom>
          <a:noFill/>
        </p:spPr>
        <p:txBody>
          <a:bodyPr wrap="square" lIns="91440" tIns="45720" rIns="91440" bIns="45720" rtlCol="0" anchor="t">
            <a:spAutoFit/>
          </a:bodyPr>
          <a:lstStyle/>
          <a:p>
            <a:pPr algn="just">
              <a:lnSpc>
                <a:spcPct val="100000"/>
              </a:lnSpc>
            </a:pPr>
            <a:r>
              <a:rPr lang="en-US" sz="2400" b="1" dirty="0">
                <a:solidFill>
                  <a:srgbClr val="000000"/>
                </a:solidFill>
                <a:latin typeface="MiSans" pitchFamily="34" charset="-122"/>
                <a:ea typeface="MiSans" pitchFamily="34" charset="-122"/>
                <a:cs typeface="MiSans" pitchFamily="34" charset="-120"/>
              </a:rPr>
              <a:t>模型架构</a:t>
            </a:r>
            <a:endParaRPr lang="en-US" sz="1600" dirty="0"/>
          </a:p>
        </p:txBody>
      </p:sp>
      <p:sp>
        <p:nvSpPr>
          <p:cNvPr id="11" name="Text 7"/>
          <p:cNvSpPr/>
          <p:nvPr>
            <p:custDataLst>
              <p:tags r:id="rId3"/>
            </p:custDataLst>
          </p:nvPr>
        </p:nvSpPr>
        <p:spPr>
          <a:xfrm>
            <a:off x="1509078" y="2775585"/>
            <a:ext cx="4284228" cy="1568450"/>
          </a:xfrm>
          <a:prstGeom prst="rect">
            <a:avLst/>
          </a:prstGeom>
          <a:noFill/>
        </p:spPr>
        <p:txBody>
          <a:bodyPr wrap="square" lIns="91440" tIns="45720" rIns="91440" bIns="45720" rtlCol="0" anchor="t">
            <a:spAutoFit/>
          </a:bodyPr>
          <a:lstStyle/>
          <a:p>
            <a:pPr lvl="0" algn="just">
              <a:lnSpc>
                <a:spcPct val="150000"/>
              </a:lnSpc>
            </a:pPr>
            <a:r>
              <a:rPr lang="en-US" sz="1600" dirty="0">
                <a:solidFill>
                  <a:srgbClr val="404040"/>
                </a:solidFill>
                <a:latin typeface="MiSans" pitchFamily="34" charset="-122"/>
                <a:ea typeface="MiSans" pitchFamily="34" charset="-122"/>
                <a:cs typeface="MiSans" pitchFamily="34" charset="-120"/>
              </a:rPr>
              <a:t>LSTM</a:t>
            </a:r>
            <a:r>
              <a:rPr lang="zh-CN" altLang="en-US" sz="1600" dirty="0">
                <a:solidFill>
                  <a:srgbClr val="404040"/>
                </a:solidFill>
                <a:latin typeface="MiSans" pitchFamily="34" charset="-122"/>
                <a:ea typeface="MiSans" pitchFamily="34" charset="-122"/>
                <a:cs typeface="MiSans" pitchFamily="34" charset="-120"/>
              </a:rPr>
              <a:t>模型含嵌入层、全连接投影层、多层</a:t>
            </a:r>
            <a:r>
              <a:rPr lang="en-US" altLang="zh-CN" sz="1600" dirty="0">
                <a:solidFill>
                  <a:srgbClr val="404040"/>
                </a:solidFill>
                <a:latin typeface="MiSans" pitchFamily="34" charset="-122"/>
                <a:ea typeface="MiSans" pitchFamily="34" charset="-122"/>
                <a:cs typeface="MiSans" pitchFamily="34" charset="-120"/>
              </a:rPr>
              <a:t>LSTM</a:t>
            </a:r>
            <a:r>
              <a:rPr lang="zh-CN" altLang="en-US" sz="1600" dirty="0">
                <a:solidFill>
                  <a:srgbClr val="404040"/>
                </a:solidFill>
                <a:latin typeface="MiSans" pitchFamily="34" charset="-122"/>
                <a:ea typeface="MiSans" pitchFamily="34" charset="-122"/>
                <a:cs typeface="MiSans" pitchFamily="34" charset="-120"/>
              </a:rPr>
              <a:t>及输出头，借门控机制捕捉长程时序依赖。</a:t>
            </a:r>
            <a:r>
              <a:rPr lang="en-US" altLang="zh-CN" sz="1600" dirty="0">
                <a:solidFill>
                  <a:srgbClr val="404040"/>
                </a:solidFill>
                <a:latin typeface="MiSans" pitchFamily="34" charset="-122"/>
                <a:ea typeface="MiSans" pitchFamily="34" charset="-122"/>
                <a:cs typeface="MiSans" pitchFamily="34" charset="-120"/>
              </a:rPr>
              <a:t>LSTM</a:t>
            </a:r>
            <a:r>
              <a:rPr lang="zh-CN" altLang="en-US" sz="1600" dirty="0">
                <a:solidFill>
                  <a:srgbClr val="404040"/>
                </a:solidFill>
                <a:latin typeface="MiSans" pitchFamily="34" charset="-122"/>
                <a:ea typeface="MiSans" pitchFamily="34" charset="-122"/>
                <a:cs typeface="MiSans" pitchFamily="34" charset="-120"/>
              </a:rPr>
              <a:t>模型在自然语言处理、语音识别等领域应用广泛。</a:t>
            </a:r>
            <a:endParaRPr lang="en-US" sz="1600" dirty="0"/>
          </a:p>
        </p:txBody>
      </p:sp>
      <p:sp>
        <p:nvSpPr>
          <p:cNvPr id="12" name="Text 8"/>
          <p:cNvSpPr/>
          <p:nvPr/>
        </p:nvSpPr>
        <p:spPr>
          <a:xfrm>
            <a:off x="6494463" y="2271395"/>
            <a:ext cx="4285615" cy="368300"/>
          </a:xfrm>
          <a:prstGeom prst="rect">
            <a:avLst/>
          </a:prstGeom>
          <a:noFill/>
        </p:spPr>
        <p:txBody>
          <a:bodyPr wrap="square" lIns="91440" tIns="45720" rIns="91440" bIns="45720" rtlCol="0" anchor="t">
            <a:spAutoFit/>
          </a:bodyPr>
          <a:lstStyle/>
          <a:p>
            <a:pPr algn="just">
              <a:lnSpc>
                <a:spcPct val="100000"/>
              </a:lnSpc>
            </a:pPr>
            <a:r>
              <a:rPr lang="en-US" sz="2400" b="1" dirty="0">
                <a:solidFill>
                  <a:srgbClr val="000000"/>
                </a:solidFill>
                <a:latin typeface="MiSans" pitchFamily="34" charset="-122"/>
                <a:ea typeface="MiSans" pitchFamily="34" charset="-122"/>
                <a:cs typeface="MiSans" pitchFamily="34" charset="-120"/>
              </a:rPr>
              <a:t>训练效率</a:t>
            </a:r>
            <a:endParaRPr lang="en-US" sz="1600" dirty="0"/>
          </a:p>
        </p:txBody>
      </p:sp>
      <p:sp>
        <p:nvSpPr>
          <p:cNvPr id="13" name="Text 9"/>
          <p:cNvSpPr/>
          <p:nvPr>
            <p:custDataLst>
              <p:tags r:id="rId4"/>
            </p:custDataLst>
          </p:nvPr>
        </p:nvSpPr>
        <p:spPr>
          <a:xfrm>
            <a:off x="6494463" y="2775585"/>
            <a:ext cx="4284228" cy="1198880"/>
          </a:xfrm>
          <a:prstGeom prst="rect">
            <a:avLst/>
          </a:prstGeom>
          <a:noFill/>
        </p:spPr>
        <p:txBody>
          <a:bodyPr wrap="square" lIns="91440" tIns="45720" rIns="91440" bIns="45720" rtlCol="0" anchor="t">
            <a:spAutoFit/>
          </a:bodyPr>
          <a:lstStyle/>
          <a:p>
            <a:pPr lvl="0" algn="just">
              <a:lnSpc>
                <a:spcPct val="150000"/>
              </a:lnSpc>
            </a:pPr>
            <a:r>
              <a:rPr lang="zh-CN" sz="1600" dirty="0">
                <a:solidFill>
                  <a:srgbClr val="404040"/>
                </a:solidFill>
                <a:latin typeface="MiSans" pitchFamily="34" charset="-122"/>
                <a:ea typeface="MiSans" pitchFamily="34" charset="-122"/>
                <a:cs typeface="MiSans" pitchFamily="34" charset="-120"/>
              </a:rPr>
              <a:t>模型参数量</a:t>
            </a:r>
            <a:r>
              <a:rPr lang="en-US" altLang="zh-CN" sz="1600" dirty="0">
                <a:solidFill>
                  <a:srgbClr val="404040"/>
                </a:solidFill>
                <a:latin typeface="MiSans" pitchFamily="34" charset="-122"/>
                <a:ea typeface="MiSans" pitchFamily="34" charset="-122"/>
                <a:cs typeface="MiSans" pitchFamily="34" charset="-120"/>
              </a:rPr>
              <a:t>2.3M</a:t>
            </a:r>
            <a:r>
              <a:rPr lang="zh-CN" altLang="en-US" sz="1600" dirty="0">
                <a:solidFill>
                  <a:srgbClr val="404040"/>
                </a:solidFill>
                <a:latin typeface="MiSans" pitchFamily="34" charset="-122"/>
                <a:ea typeface="MiSans" pitchFamily="34" charset="-122"/>
                <a:cs typeface="MiSans" pitchFamily="34" charset="-120"/>
              </a:rPr>
              <a:t>，单卡训练</a:t>
            </a:r>
            <a:r>
              <a:rPr lang="en-US" altLang="zh-CN" sz="1600" dirty="0">
                <a:solidFill>
                  <a:srgbClr val="404040"/>
                </a:solidFill>
                <a:latin typeface="MiSans" pitchFamily="34" charset="-122"/>
                <a:ea typeface="MiSans" pitchFamily="34" charset="-122"/>
                <a:cs typeface="MiSans" pitchFamily="34" charset="-120"/>
              </a:rPr>
              <a:t>20</a:t>
            </a:r>
            <a:r>
              <a:rPr lang="zh-CN" altLang="en-US" sz="1600" dirty="0">
                <a:solidFill>
                  <a:srgbClr val="404040"/>
                </a:solidFill>
                <a:latin typeface="MiSans" pitchFamily="34" charset="-122"/>
                <a:ea typeface="MiSans" pitchFamily="34" charset="-122"/>
                <a:cs typeface="MiSans" pitchFamily="34" charset="-120"/>
              </a:rPr>
              <a:t>分钟，适配中小数据场景在中小数据场景中，模型表现出色，能够有效捕捉时间序列数据的长期依赖关系。</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119755" y="1664335"/>
            <a:ext cx="8328025" cy="2134870"/>
          </a:xfrm>
          <a:prstGeom prst="rect">
            <a:avLst/>
          </a:prstGeom>
          <a:solidFill>
            <a:srgbClr val="015DBB"/>
          </a:solidFill>
        </p:spPr>
      </p:sp>
      <p:sp>
        <p:nvSpPr>
          <p:cNvPr id="3" name="Text 1"/>
          <p:cNvSpPr/>
          <p:nvPr/>
        </p:nvSpPr>
        <p:spPr>
          <a:xfrm>
            <a:off x="3119755" y="1664335"/>
            <a:ext cx="8328025" cy="2134870"/>
          </a:xfrm>
          <a:prstGeom prst="rect">
            <a:avLst/>
          </a:prstGeom>
          <a:noFill/>
        </p:spPr>
        <p:txBody>
          <a:bodyPr wrap="square" lIns="45720" tIns="91440" rIns="91440" bIns="45720" rtlCol="0" anchor="ctr"/>
          <a:lstStyle/>
          <a:p>
            <a:pPr>
              <a:lnSpc>
                <a:spcPct val="100000"/>
              </a:lnSpc>
            </a:pPr>
            <a:endParaRPr lang="en-US" sz="1600" dirty="0"/>
          </a:p>
        </p:txBody>
      </p:sp>
      <p:pic>
        <p:nvPicPr>
          <p:cNvPr id="4" name="Image 0" descr="https://kimi-img.moonshot.cn/pub/slides/slides_tmpl/image/25-09-08-12:55:47-d2v63ktnfo2stf9dk500.jpeg"/>
          <p:cNvPicPr>
            <a:picLocks noChangeAspect="1"/>
          </p:cNvPicPr>
          <p:nvPr/>
        </p:nvPicPr>
        <p:blipFill>
          <a:blip r:embed="rId1"/>
          <a:srcRect l="14345" r="14345"/>
          <a:stretch>
            <a:fillRect/>
          </a:stretch>
        </p:blipFill>
        <p:spPr>
          <a:xfrm>
            <a:off x="745490" y="1664335"/>
            <a:ext cx="2282825" cy="2133600"/>
          </a:xfrm>
          <a:prstGeom prst="rect">
            <a:avLst/>
          </a:prstGeom>
        </p:spPr>
      </p:pic>
      <p:sp>
        <p:nvSpPr>
          <p:cNvPr id="5" name="Shape 2"/>
          <p:cNvSpPr/>
          <p:nvPr/>
        </p:nvSpPr>
        <p:spPr>
          <a:xfrm flipH="1">
            <a:off x="744855" y="3976370"/>
            <a:ext cx="8328025" cy="2134870"/>
          </a:xfrm>
          <a:prstGeom prst="rect">
            <a:avLst/>
          </a:prstGeom>
          <a:solidFill>
            <a:srgbClr val="015DBB"/>
          </a:solidFill>
        </p:spPr>
      </p:sp>
      <p:sp>
        <p:nvSpPr>
          <p:cNvPr id="6" name="Text 3"/>
          <p:cNvSpPr/>
          <p:nvPr/>
        </p:nvSpPr>
        <p:spPr>
          <a:xfrm>
            <a:off x="744855" y="3976370"/>
            <a:ext cx="8328025" cy="2134870"/>
          </a:xfrm>
          <a:prstGeom prst="rect">
            <a:avLst/>
          </a:prstGeom>
          <a:noFill/>
        </p:spPr>
        <p:txBody>
          <a:bodyPr wrap="square" lIns="45720" tIns="91440" rIns="91440" bIns="45720" rtlCol="0" anchor="ctr"/>
          <a:lstStyle/>
          <a:p>
            <a:pPr>
              <a:lnSpc>
                <a:spcPct val="100000"/>
              </a:lnSpc>
            </a:pPr>
            <a:endParaRPr lang="en-US" sz="1600" dirty="0"/>
          </a:p>
        </p:txBody>
      </p:sp>
      <p:pic>
        <p:nvPicPr>
          <p:cNvPr id="7" name="Image 1" descr="https://kimi-img.moonshot.cn/pub/slides/slides_tmpl/image/25-09-08-12:55:48-d2v63l5nfo2stf9dk510.png"/>
          <p:cNvPicPr>
            <a:picLocks noChangeAspect="1"/>
          </p:cNvPicPr>
          <p:nvPr/>
        </p:nvPicPr>
        <p:blipFill>
          <a:blip r:embed="rId2"/>
          <a:srcRect t="83" b="83"/>
          <a:stretch>
            <a:fillRect/>
          </a:stretch>
        </p:blipFill>
        <p:spPr>
          <a:xfrm>
            <a:off x="9164320" y="3976370"/>
            <a:ext cx="2282825" cy="2133600"/>
          </a:xfrm>
          <a:prstGeom prst="rect">
            <a:avLst/>
          </a:prstGeom>
        </p:spPr>
      </p:pic>
      <p:sp>
        <p:nvSpPr>
          <p:cNvPr id="8" name="Text 4"/>
          <p:cNvSpPr/>
          <p:nvPr/>
        </p:nvSpPr>
        <p:spPr>
          <a:xfrm>
            <a:off x="595630" y="487045"/>
            <a:ext cx="7004685" cy="562570"/>
          </a:xfrm>
          <a:prstGeom prst="rect">
            <a:avLst/>
          </a:prstGeom>
          <a:noFill/>
        </p:spPr>
        <p:txBody>
          <a:bodyPr wrap="square" lIns="91440" tIns="45720" rIns="91440" bIns="45720" rtlCol="0" anchor="t">
            <a:spAutoFit/>
          </a:bodyPr>
          <a:lstStyle/>
          <a:p>
            <a:pPr>
              <a:lnSpc>
                <a:spcPct val="100000"/>
              </a:lnSpc>
            </a:pPr>
            <a:r>
              <a:rPr lang="en-US" sz="3600" b="1" dirty="0">
                <a:solidFill>
                  <a:srgbClr val="015DBB"/>
                </a:solidFill>
                <a:latin typeface="MiSans" pitchFamily="34" charset="-122"/>
                <a:ea typeface="MiSans" pitchFamily="34" charset="-122"/>
                <a:cs typeface="MiSans" pitchFamily="34" charset="-120"/>
              </a:rPr>
              <a:t>Transformer模型结构</a:t>
            </a:r>
            <a:endParaRPr lang="en-US" sz="1600" dirty="0"/>
          </a:p>
        </p:txBody>
      </p:sp>
      <p:pic>
        <p:nvPicPr>
          <p:cNvPr id="9" name="Image 2" descr="https://kimi-img.moonshot.cn/pub/slides/slides_tmpl/image/25-09-08-12:55:42-d2v63jlnfo2stf9dk4rg.png"/>
          <p:cNvPicPr>
            <a:picLocks noChangeAspect="1"/>
          </p:cNvPicPr>
          <p:nvPr/>
        </p:nvPicPr>
        <p:blipFill>
          <a:blip r:embed="rId3"/>
          <a:stretch>
            <a:fillRect/>
          </a:stretch>
        </p:blipFill>
        <p:spPr>
          <a:xfrm>
            <a:off x="15240" y="487045"/>
            <a:ext cx="579755" cy="652145"/>
          </a:xfrm>
          <a:prstGeom prst="rect">
            <a:avLst/>
          </a:prstGeom>
        </p:spPr>
      </p:pic>
      <p:sp>
        <p:nvSpPr>
          <p:cNvPr id="10" name="Text 5"/>
          <p:cNvSpPr/>
          <p:nvPr/>
        </p:nvSpPr>
        <p:spPr>
          <a:xfrm>
            <a:off x="3408045" y="1944370"/>
            <a:ext cx="7664450" cy="303411"/>
          </a:xfrm>
          <a:prstGeom prst="rect">
            <a:avLst/>
          </a:prstGeom>
          <a:noFill/>
        </p:spPr>
        <p:txBody>
          <a:bodyPr wrap="square" lIns="91440" tIns="45720" rIns="91440" bIns="45720" rtlCol="0" anchor="t">
            <a:spAutoFit/>
          </a:bodyPr>
          <a:lstStyle/>
          <a:p>
            <a:pPr algn="just">
              <a:lnSpc>
                <a:spcPct val="100000"/>
              </a:lnSpc>
            </a:pPr>
            <a:r>
              <a:rPr lang="en-US" sz="2000" b="1" dirty="0">
                <a:solidFill>
                  <a:srgbClr val="FFFFFF"/>
                </a:solidFill>
                <a:latin typeface="MiSans" pitchFamily="34" charset="-122"/>
                <a:ea typeface="MiSans" pitchFamily="34" charset="-122"/>
                <a:cs typeface="MiSans" pitchFamily="34" charset="-120"/>
              </a:rPr>
              <a:t>模型架构</a:t>
            </a:r>
            <a:endParaRPr lang="en-US" sz="1600" dirty="0"/>
          </a:p>
        </p:txBody>
      </p:sp>
      <p:sp>
        <p:nvSpPr>
          <p:cNvPr id="11" name="Text 6"/>
          <p:cNvSpPr/>
          <p:nvPr>
            <p:custDataLst>
              <p:tags r:id="rId4"/>
            </p:custDataLst>
          </p:nvPr>
        </p:nvSpPr>
        <p:spPr>
          <a:xfrm>
            <a:off x="3408045" y="2394585"/>
            <a:ext cx="7663180" cy="1198880"/>
          </a:xfrm>
          <a:prstGeom prst="rect">
            <a:avLst/>
          </a:prstGeom>
          <a:noFill/>
        </p:spPr>
        <p:txBody>
          <a:bodyPr wrap="square" lIns="91440" tIns="45720" rIns="91440" bIns="45720" rtlCol="0" anchor="t">
            <a:spAutoFit/>
          </a:bodyPr>
          <a:lstStyle/>
          <a:p>
            <a:pPr algn="just">
              <a:lnSpc>
                <a:spcPct val="150000"/>
              </a:lnSpc>
            </a:pPr>
            <a:r>
              <a:rPr lang="en-US" sz="1600" dirty="0">
                <a:solidFill>
                  <a:srgbClr val="FFFFFF"/>
                </a:solidFill>
                <a:latin typeface="MiSans" pitchFamily="34" charset="-122"/>
                <a:ea typeface="MiSans" pitchFamily="34" charset="-122"/>
                <a:cs typeface="MiSans" pitchFamily="34" charset="-120"/>
              </a:rPr>
              <a:t>Transformer</a:t>
            </a:r>
            <a:r>
              <a:rPr lang="zh-CN" altLang="en-US" sz="1600" dirty="0">
                <a:solidFill>
                  <a:srgbClr val="FFFFFF"/>
                </a:solidFill>
                <a:latin typeface="MiSans" pitchFamily="34" charset="-122"/>
                <a:ea typeface="MiSans" pitchFamily="34" charset="-122"/>
                <a:cs typeface="MiSans" pitchFamily="34" charset="-120"/>
              </a:rPr>
              <a:t>模型包含位置编码、</a:t>
            </a:r>
            <a:r>
              <a:rPr lang="en-US" altLang="zh-CN" sz="1600" dirty="0">
                <a:solidFill>
                  <a:srgbClr val="FFFFFF"/>
                </a:solidFill>
                <a:latin typeface="MiSans" pitchFamily="34" charset="-122"/>
                <a:ea typeface="MiSans" pitchFamily="34" charset="-122"/>
                <a:cs typeface="MiSans" pitchFamily="34" charset="-120"/>
              </a:rPr>
              <a:t>Transformer Encoder</a:t>
            </a:r>
            <a:r>
              <a:rPr lang="zh-CN" altLang="en-US" sz="1600" dirty="0">
                <a:solidFill>
                  <a:srgbClr val="FFFFFF"/>
                </a:solidFill>
                <a:latin typeface="MiSans" pitchFamily="34" charset="-122"/>
                <a:ea typeface="MiSans" pitchFamily="34" charset="-122"/>
                <a:cs typeface="MiSans" pitchFamily="34" charset="-120"/>
              </a:rPr>
              <a:t>层和</a:t>
            </a:r>
            <a:r>
              <a:rPr lang="en-US" altLang="zh-CN" sz="1600" dirty="0">
                <a:solidFill>
                  <a:srgbClr val="FFFFFF"/>
                </a:solidFill>
                <a:latin typeface="MiSans" pitchFamily="34" charset="-122"/>
                <a:ea typeface="MiSans" pitchFamily="34" charset="-122"/>
                <a:cs typeface="MiSans" pitchFamily="34" charset="-120"/>
              </a:rPr>
              <a:t>GELU</a:t>
            </a:r>
            <a:r>
              <a:rPr lang="zh-CN" altLang="en-US" sz="1600" dirty="0">
                <a:solidFill>
                  <a:srgbClr val="FFFFFF"/>
                </a:solidFill>
                <a:latin typeface="MiSans" pitchFamily="34" charset="-122"/>
                <a:ea typeface="MiSans" pitchFamily="34" charset="-122"/>
                <a:cs typeface="MiSans" pitchFamily="34" charset="-120"/>
              </a:rPr>
              <a:t>激活函数。利用自注意力机制并行处理序列信息。在自然语言处理领域，</a:t>
            </a:r>
            <a:r>
              <a:rPr lang="en-US" altLang="zh-CN" sz="1600" dirty="0">
                <a:solidFill>
                  <a:srgbClr val="FFFFFF"/>
                </a:solidFill>
                <a:latin typeface="MiSans" pitchFamily="34" charset="-122"/>
                <a:ea typeface="MiSans" pitchFamily="34" charset="-122"/>
                <a:cs typeface="MiSans" pitchFamily="34" charset="-120"/>
              </a:rPr>
              <a:t>Transformer</a:t>
            </a:r>
            <a:r>
              <a:rPr lang="zh-CN" altLang="en-US" sz="1600" dirty="0">
                <a:solidFill>
                  <a:srgbClr val="FFFFFF"/>
                </a:solidFill>
                <a:latin typeface="MiSans" pitchFamily="34" charset="-122"/>
                <a:ea typeface="MiSans" pitchFamily="34" charset="-122"/>
                <a:cs typeface="MiSans" pitchFamily="34" charset="-120"/>
              </a:rPr>
              <a:t>模型通过自注意力机制显著提升了模型对长距离依赖关系的捕捉能力。</a:t>
            </a:r>
            <a:endParaRPr lang="zh-CN" altLang="en-US" sz="1600" dirty="0">
              <a:solidFill>
                <a:srgbClr val="FFFFFF"/>
              </a:solidFill>
              <a:latin typeface="MiSans" pitchFamily="34" charset="-122"/>
              <a:ea typeface="MiSans" pitchFamily="34" charset="-122"/>
              <a:cs typeface="MiSans" pitchFamily="34" charset="-120"/>
            </a:endParaRPr>
          </a:p>
        </p:txBody>
      </p:sp>
      <p:sp>
        <p:nvSpPr>
          <p:cNvPr id="12" name="Text 7"/>
          <p:cNvSpPr/>
          <p:nvPr/>
        </p:nvSpPr>
        <p:spPr>
          <a:xfrm>
            <a:off x="1121410" y="4256405"/>
            <a:ext cx="7664400" cy="303411"/>
          </a:xfrm>
          <a:prstGeom prst="rect">
            <a:avLst/>
          </a:prstGeom>
          <a:noFill/>
        </p:spPr>
        <p:txBody>
          <a:bodyPr wrap="square" lIns="91440" tIns="45720" rIns="91440" bIns="45720" rtlCol="0" anchor="t">
            <a:spAutoFit/>
          </a:bodyPr>
          <a:lstStyle/>
          <a:p>
            <a:pPr algn="r">
              <a:lnSpc>
                <a:spcPct val="100000"/>
              </a:lnSpc>
            </a:pPr>
            <a:r>
              <a:rPr lang="en-US" sz="2000" b="1" dirty="0">
                <a:solidFill>
                  <a:srgbClr val="FFFFFF"/>
                </a:solidFill>
                <a:latin typeface="MiSans" pitchFamily="34" charset="-122"/>
                <a:ea typeface="MiSans" pitchFamily="34" charset="-122"/>
                <a:cs typeface="MiSans" pitchFamily="34" charset="-120"/>
              </a:rPr>
              <a:t>混合精度训练</a:t>
            </a:r>
            <a:endParaRPr lang="en-US" sz="1600" dirty="0"/>
          </a:p>
        </p:txBody>
      </p:sp>
      <p:sp>
        <p:nvSpPr>
          <p:cNvPr id="13" name="Text 8"/>
          <p:cNvSpPr/>
          <p:nvPr>
            <p:custDataLst>
              <p:tags r:id="rId5"/>
            </p:custDataLst>
          </p:nvPr>
        </p:nvSpPr>
        <p:spPr>
          <a:xfrm>
            <a:off x="1121410" y="4706620"/>
            <a:ext cx="7754620" cy="829945"/>
          </a:xfrm>
          <a:prstGeom prst="rect">
            <a:avLst/>
          </a:prstGeom>
          <a:noFill/>
        </p:spPr>
        <p:txBody>
          <a:bodyPr wrap="square" lIns="91440" tIns="45720" rIns="91440" bIns="45720" rtlCol="0" anchor="t">
            <a:spAutoFit/>
          </a:bodyPr>
          <a:lstStyle/>
          <a:p>
            <a:pPr algn="just">
              <a:lnSpc>
                <a:spcPct val="150000"/>
              </a:lnSpc>
            </a:pPr>
            <a:r>
              <a:rPr lang="zh-CN" sz="1600" dirty="0">
                <a:solidFill>
                  <a:srgbClr val="FFFFFF"/>
                </a:solidFill>
                <a:latin typeface="MiSans" pitchFamily="34" charset="-122"/>
                <a:ea typeface="MiSans" pitchFamily="34" charset="-122"/>
                <a:cs typeface="MiSans" pitchFamily="34" charset="-120"/>
              </a:rPr>
              <a:t>引入</a:t>
            </a:r>
            <a:r>
              <a:rPr lang="en-US" altLang="zh-CN" sz="1600" dirty="0">
                <a:solidFill>
                  <a:srgbClr val="FFFFFF"/>
                </a:solidFill>
                <a:latin typeface="MiSans" pitchFamily="34" charset="-122"/>
                <a:ea typeface="MiSans" pitchFamily="34" charset="-122"/>
                <a:cs typeface="MiSans" pitchFamily="34" charset="-120"/>
              </a:rPr>
              <a:t>AMP</a:t>
            </a:r>
            <a:r>
              <a:rPr lang="zh-CN" altLang="en-US" sz="1600" dirty="0">
                <a:solidFill>
                  <a:srgbClr val="FFFFFF"/>
                </a:solidFill>
                <a:latin typeface="MiSans" pitchFamily="34" charset="-122"/>
                <a:ea typeface="MiSans" pitchFamily="34" charset="-122"/>
                <a:cs typeface="MiSans" pitchFamily="34" charset="-120"/>
              </a:rPr>
              <a:t>混合精度训练，显著减少显存占用并加速训练过程。</a:t>
            </a:r>
            <a:r>
              <a:rPr lang="en-US" altLang="zh-CN" sz="1600" dirty="0">
                <a:solidFill>
                  <a:srgbClr val="FFFFFF"/>
                </a:solidFill>
                <a:latin typeface="MiSans" pitchFamily="34" charset="-122"/>
                <a:ea typeface="MiSans" pitchFamily="34" charset="-122"/>
                <a:cs typeface="MiSans" pitchFamily="34" charset="-120"/>
              </a:rPr>
              <a:t>
</a:t>
            </a:r>
            <a:r>
              <a:rPr lang="zh-CN" altLang="en-US" sz="1600" dirty="0">
                <a:solidFill>
                  <a:srgbClr val="FFFFFF"/>
                </a:solidFill>
                <a:latin typeface="MiSans" pitchFamily="34" charset="-122"/>
                <a:ea typeface="MiSans" pitchFamily="34" charset="-122"/>
                <a:cs typeface="MiSans" pitchFamily="34" charset="-120"/>
              </a:rPr>
              <a:t>同时，通过优化模型结构，进一步提升了</a:t>
            </a:r>
            <a:r>
              <a:rPr lang="en-US" altLang="zh-CN" sz="1600" dirty="0">
                <a:solidFill>
                  <a:srgbClr val="FFFFFF"/>
                </a:solidFill>
                <a:latin typeface="MiSans" pitchFamily="34" charset="-122"/>
                <a:ea typeface="MiSans" pitchFamily="34" charset="-122"/>
                <a:cs typeface="MiSans" pitchFamily="34" charset="-120"/>
              </a:rPr>
              <a:t>Transformer</a:t>
            </a:r>
            <a:r>
              <a:rPr lang="zh-CN" altLang="en-US" sz="1600" dirty="0">
                <a:solidFill>
                  <a:srgbClr val="FFFFFF"/>
                </a:solidFill>
                <a:latin typeface="MiSans" pitchFamily="34" charset="-122"/>
                <a:ea typeface="MiSans" pitchFamily="34" charset="-122"/>
                <a:cs typeface="MiSans" pitchFamily="34" charset="-120"/>
              </a:rPr>
              <a:t>模型的推理速度。</a:t>
            </a:r>
            <a:endParaRPr lang="zh-CN" altLang="en-US" sz="1600" dirty="0">
              <a:solidFill>
                <a:srgbClr val="FFFFFF"/>
              </a:solidFill>
              <a:latin typeface="MiSans" pitchFamily="34" charset="-122"/>
              <a:ea typeface="MiSans" pitchFamily="34" charset="-122"/>
              <a:cs typeface="MiSans" pitchFamily="34" charset="-120"/>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5490" y="1475105"/>
            <a:ext cx="3524250" cy="2437765"/>
          </a:xfrm>
          <a:prstGeom prst="rect">
            <a:avLst/>
          </a:prstGeom>
          <a:solidFill>
            <a:srgbClr val="015DBB"/>
          </a:solidFill>
        </p:spPr>
      </p:sp>
      <p:sp>
        <p:nvSpPr>
          <p:cNvPr id="3" name="Text 1"/>
          <p:cNvSpPr/>
          <p:nvPr/>
        </p:nvSpPr>
        <p:spPr>
          <a:xfrm>
            <a:off x="745490" y="1475105"/>
            <a:ext cx="3524250" cy="2437765"/>
          </a:xfrm>
          <a:prstGeom prst="rect">
            <a:avLst/>
          </a:prstGeom>
          <a:noFill/>
        </p:spPr>
        <p:txBody>
          <a:bodyPr wrap="square" lIns="45720" tIns="91440" rIns="91440" bIns="45720" rtlCol="0" anchor="ctr"/>
          <a:lstStyle/>
          <a:p>
            <a:pPr>
              <a:lnSpc>
                <a:spcPct val="100000"/>
              </a:lnSpc>
            </a:pPr>
            <a:endParaRPr lang="en-US" sz="1600" dirty="0"/>
          </a:p>
        </p:txBody>
      </p:sp>
      <p:pic>
        <p:nvPicPr>
          <p:cNvPr id="4" name="Image 0" descr="https://kimi-img.moonshot.cn/pub/slides/slides_tmpl/image/25-09-08-12:56:03-d2v63otnfo2stf9dk570.jpeg"/>
          <p:cNvPicPr>
            <a:picLocks noChangeAspect="1"/>
          </p:cNvPicPr>
          <p:nvPr/>
        </p:nvPicPr>
        <p:blipFill>
          <a:blip r:embed="rId1"/>
          <a:srcRect l="-8" t="512" r="8" b="512"/>
          <a:stretch>
            <a:fillRect/>
          </a:stretch>
        </p:blipFill>
        <p:spPr>
          <a:xfrm>
            <a:off x="745490" y="3977005"/>
            <a:ext cx="3524885" cy="2343150"/>
          </a:xfrm>
          <a:prstGeom prst="rect">
            <a:avLst/>
          </a:prstGeom>
        </p:spPr>
      </p:pic>
      <p:sp>
        <p:nvSpPr>
          <p:cNvPr id="5" name="Shape 2"/>
          <p:cNvSpPr/>
          <p:nvPr/>
        </p:nvSpPr>
        <p:spPr>
          <a:xfrm>
            <a:off x="8035290" y="1475105"/>
            <a:ext cx="3524250" cy="2437765"/>
          </a:xfrm>
          <a:prstGeom prst="rect">
            <a:avLst/>
          </a:prstGeom>
          <a:solidFill>
            <a:srgbClr val="015DBB"/>
          </a:solidFill>
        </p:spPr>
      </p:sp>
      <p:sp>
        <p:nvSpPr>
          <p:cNvPr id="6" name="Text 3"/>
          <p:cNvSpPr/>
          <p:nvPr/>
        </p:nvSpPr>
        <p:spPr>
          <a:xfrm>
            <a:off x="8035290" y="1475105"/>
            <a:ext cx="3524250" cy="2437765"/>
          </a:xfrm>
          <a:prstGeom prst="rect">
            <a:avLst/>
          </a:prstGeom>
          <a:noFill/>
        </p:spPr>
        <p:txBody>
          <a:bodyPr wrap="square" lIns="45720" tIns="91440" rIns="91440" bIns="45720" rtlCol="0" anchor="ctr"/>
          <a:lstStyle/>
          <a:p>
            <a:pPr>
              <a:lnSpc>
                <a:spcPct val="100000"/>
              </a:lnSpc>
            </a:pPr>
            <a:endParaRPr lang="en-US" sz="1600" dirty="0"/>
          </a:p>
        </p:txBody>
      </p:sp>
      <p:pic>
        <p:nvPicPr>
          <p:cNvPr id="7" name="Image 1" descr="https://kimi-img.moonshot.cn/pub/slides/slides_tmpl/image/25-09-08-12:56:00-d2v63o5nfo2stf9dk550.png"/>
          <p:cNvPicPr>
            <a:picLocks noChangeAspect="1"/>
          </p:cNvPicPr>
          <p:nvPr/>
        </p:nvPicPr>
        <p:blipFill>
          <a:blip r:embed="rId2"/>
          <a:srcRect l="-8" t="24" r="8" b="24"/>
          <a:stretch>
            <a:fillRect/>
          </a:stretch>
        </p:blipFill>
        <p:spPr>
          <a:xfrm>
            <a:off x="8035290" y="3977005"/>
            <a:ext cx="3524885" cy="2343150"/>
          </a:xfrm>
          <a:prstGeom prst="rect">
            <a:avLst/>
          </a:prstGeom>
        </p:spPr>
      </p:pic>
      <p:sp>
        <p:nvSpPr>
          <p:cNvPr id="8" name="Shape 4"/>
          <p:cNvSpPr/>
          <p:nvPr/>
        </p:nvSpPr>
        <p:spPr>
          <a:xfrm>
            <a:off x="4390390" y="3882390"/>
            <a:ext cx="3524250" cy="2437765"/>
          </a:xfrm>
          <a:prstGeom prst="rect">
            <a:avLst/>
          </a:prstGeom>
          <a:solidFill>
            <a:srgbClr val="015DBB"/>
          </a:solidFill>
        </p:spPr>
      </p:sp>
      <p:sp>
        <p:nvSpPr>
          <p:cNvPr id="9" name="Text 5"/>
          <p:cNvSpPr/>
          <p:nvPr/>
        </p:nvSpPr>
        <p:spPr>
          <a:xfrm>
            <a:off x="4390390" y="3882390"/>
            <a:ext cx="3524250" cy="2437765"/>
          </a:xfrm>
          <a:prstGeom prst="rect">
            <a:avLst/>
          </a:prstGeom>
          <a:noFill/>
        </p:spPr>
        <p:txBody>
          <a:bodyPr wrap="square" lIns="45720" tIns="91440" rIns="91440" bIns="45720" rtlCol="0" anchor="ctr"/>
          <a:lstStyle/>
          <a:p>
            <a:pPr>
              <a:lnSpc>
                <a:spcPct val="100000"/>
              </a:lnSpc>
            </a:pPr>
            <a:endParaRPr lang="en-US" sz="1600" dirty="0"/>
          </a:p>
        </p:txBody>
      </p:sp>
      <p:pic>
        <p:nvPicPr>
          <p:cNvPr id="10" name="Image 2" descr="https://kimi-img.moonshot.cn/pub/slides/slides_tmpl/image/25-09-08-12:55:47-d2v63ktnfo2stf9dk4v0.jpeg"/>
          <p:cNvPicPr>
            <a:picLocks noChangeAspect="1"/>
          </p:cNvPicPr>
          <p:nvPr/>
        </p:nvPicPr>
        <p:blipFill>
          <a:blip r:embed="rId3"/>
          <a:srcRect l="7696" r="7696"/>
          <a:stretch>
            <a:fillRect/>
          </a:stretch>
        </p:blipFill>
        <p:spPr>
          <a:xfrm>
            <a:off x="4390390" y="1475105"/>
            <a:ext cx="3524885" cy="2343150"/>
          </a:xfrm>
          <a:prstGeom prst="rect">
            <a:avLst/>
          </a:prstGeom>
        </p:spPr>
      </p:pic>
      <p:sp>
        <p:nvSpPr>
          <p:cNvPr id="11" name="Text 6"/>
          <p:cNvSpPr/>
          <p:nvPr/>
        </p:nvSpPr>
        <p:spPr>
          <a:xfrm>
            <a:off x="595630" y="525145"/>
            <a:ext cx="7004685" cy="562570"/>
          </a:xfrm>
          <a:prstGeom prst="rect">
            <a:avLst/>
          </a:prstGeom>
          <a:noFill/>
        </p:spPr>
        <p:txBody>
          <a:bodyPr wrap="square" lIns="91440" tIns="45720" rIns="91440" bIns="45720" rtlCol="0" anchor="t">
            <a:spAutoFit/>
          </a:bodyPr>
          <a:lstStyle/>
          <a:p>
            <a:pPr>
              <a:lnSpc>
                <a:spcPct val="100000"/>
              </a:lnSpc>
            </a:pPr>
            <a:r>
              <a:rPr lang="en-US" sz="3600" b="1" dirty="0">
                <a:solidFill>
                  <a:srgbClr val="015DBB"/>
                </a:solidFill>
                <a:latin typeface="MiSans" pitchFamily="34" charset="-122"/>
                <a:ea typeface="MiSans" pitchFamily="34" charset="-122"/>
                <a:cs typeface="MiSans" pitchFamily="34" charset="-120"/>
              </a:rPr>
              <a:t>损失函数与训练策略</a:t>
            </a:r>
            <a:endParaRPr lang="en-US" sz="1600" dirty="0"/>
          </a:p>
        </p:txBody>
      </p:sp>
      <p:pic>
        <p:nvPicPr>
          <p:cNvPr id="12" name="Image 3" descr="https://kimi-img.moonshot.cn/pub/slides/slides_tmpl/image/25-09-08-12:55:42-d2v63jlnfo2stf9dk4rg.png"/>
          <p:cNvPicPr>
            <a:picLocks noChangeAspect="1"/>
          </p:cNvPicPr>
          <p:nvPr/>
        </p:nvPicPr>
        <p:blipFill>
          <a:blip r:embed="rId4"/>
          <a:stretch>
            <a:fillRect/>
          </a:stretch>
        </p:blipFill>
        <p:spPr>
          <a:xfrm>
            <a:off x="15240" y="487045"/>
            <a:ext cx="579755" cy="652145"/>
          </a:xfrm>
          <a:prstGeom prst="rect">
            <a:avLst/>
          </a:prstGeom>
        </p:spPr>
      </p:pic>
      <p:sp>
        <p:nvSpPr>
          <p:cNvPr id="13" name="Text 7"/>
          <p:cNvSpPr/>
          <p:nvPr/>
        </p:nvSpPr>
        <p:spPr>
          <a:xfrm>
            <a:off x="974725" y="1602740"/>
            <a:ext cx="3219450" cy="276225"/>
          </a:xfrm>
          <a:prstGeom prst="rect">
            <a:avLst/>
          </a:prstGeom>
          <a:noFill/>
        </p:spPr>
        <p:txBody>
          <a:bodyPr wrap="square" lIns="91440" tIns="45720" rIns="91440" bIns="45720" rtlCol="0" anchor="t">
            <a:spAutoFit/>
          </a:bodyPr>
          <a:lstStyle/>
          <a:p>
            <a:pPr algn="just">
              <a:lnSpc>
                <a:spcPct val="100000"/>
              </a:lnSpc>
            </a:pPr>
            <a:r>
              <a:rPr lang="en-US" sz="1800" b="1" dirty="0">
                <a:solidFill>
                  <a:srgbClr val="FFFFFF"/>
                </a:solidFill>
                <a:latin typeface="MiSans" pitchFamily="34" charset="-122"/>
                <a:ea typeface="MiSans" pitchFamily="34" charset="-122"/>
                <a:cs typeface="MiSans" pitchFamily="34" charset="-120"/>
              </a:rPr>
              <a:t>损失函数</a:t>
            </a:r>
            <a:endParaRPr lang="en-US" sz="1600" dirty="0"/>
          </a:p>
        </p:txBody>
      </p:sp>
      <p:sp>
        <p:nvSpPr>
          <p:cNvPr id="14" name="Text 8"/>
          <p:cNvSpPr/>
          <p:nvPr/>
        </p:nvSpPr>
        <p:spPr>
          <a:xfrm>
            <a:off x="974725" y="1957070"/>
            <a:ext cx="3140710" cy="1762125"/>
          </a:xfrm>
          <a:prstGeom prst="rect">
            <a:avLst/>
          </a:prstGeom>
          <a:noFill/>
        </p:spPr>
        <p:txBody>
          <a:bodyPr wrap="square" lIns="91440" tIns="45720" rIns="91440" bIns="45720" rtlCol="0" anchor="t"/>
          <a:lstStyle/>
          <a:p>
            <a:pPr algn="just">
              <a:lnSpc>
                <a:spcPct val="150000"/>
              </a:lnSpc>
            </a:pPr>
            <a:r>
              <a:rPr lang="en-US" sz="1200" dirty="0">
                <a:solidFill>
                  <a:srgbClr val="FFFFFF"/>
                </a:solidFill>
                <a:latin typeface="MiSans" pitchFamily="34" charset="-122"/>
                <a:ea typeface="MiSans" pitchFamily="34" charset="-122"/>
                <a:cs typeface="MiSans" pitchFamily="34" charset="-120"/>
              </a:rPr>
              <a:t>使用RMSLE（均方根对数误差）的变体作为损失函数，适用于处理销售额数据的偏态分布。</a:t>
            </a:r>
            <a:endParaRPr lang="en-US" sz="1600" dirty="0"/>
          </a:p>
        </p:txBody>
      </p:sp>
      <p:sp>
        <p:nvSpPr>
          <p:cNvPr id="15" name="Text 9"/>
          <p:cNvSpPr/>
          <p:nvPr/>
        </p:nvSpPr>
        <p:spPr>
          <a:xfrm>
            <a:off x="8202930" y="1602740"/>
            <a:ext cx="3141345" cy="276225"/>
          </a:xfrm>
          <a:prstGeom prst="rect">
            <a:avLst/>
          </a:prstGeom>
          <a:noFill/>
        </p:spPr>
        <p:txBody>
          <a:bodyPr wrap="square" lIns="91440" tIns="45720" rIns="91440" bIns="45720" rtlCol="0" anchor="t">
            <a:spAutoFit/>
          </a:bodyPr>
          <a:lstStyle/>
          <a:p>
            <a:pPr algn="just">
              <a:lnSpc>
                <a:spcPct val="100000"/>
              </a:lnSpc>
            </a:pPr>
            <a:r>
              <a:rPr lang="en-US" sz="1800" b="1" dirty="0">
                <a:solidFill>
                  <a:srgbClr val="FFFFFF"/>
                </a:solidFill>
                <a:latin typeface="MiSans" pitchFamily="34" charset="-122"/>
                <a:ea typeface="MiSans" pitchFamily="34" charset="-122"/>
                <a:cs typeface="MiSans" pitchFamily="34" charset="-120"/>
              </a:rPr>
              <a:t>优化器</a:t>
            </a:r>
            <a:endParaRPr lang="en-US" sz="1600" dirty="0"/>
          </a:p>
        </p:txBody>
      </p:sp>
      <p:sp>
        <p:nvSpPr>
          <p:cNvPr id="16" name="Text 10"/>
          <p:cNvSpPr/>
          <p:nvPr/>
        </p:nvSpPr>
        <p:spPr>
          <a:xfrm>
            <a:off x="8218170" y="1957070"/>
            <a:ext cx="3220085" cy="1710690"/>
          </a:xfrm>
          <a:prstGeom prst="rect">
            <a:avLst/>
          </a:prstGeom>
          <a:noFill/>
        </p:spPr>
        <p:txBody>
          <a:bodyPr wrap="square" lIns="91440" tIns="45720" rIns="91440" bIns="45720" rtlCol="0" anchor="t"/>
          <a:lstStyle/>
          <a:p>
            <a:pPr algn="just">
              <a:lnSpc>
                <a:spcPct val="150000"/>
              </a:lnSpc>
            </a:pPr>
            <a:r>
              <a:rPr lang="en-US" sz="1200" dirty="0">
                <a:solidFill>
                  <a:srgbClr val="FFFFFF"/>
                </a:solidFill>
                <a:latin typeface="MiSans" pitchFamily="34" charset="-122"/>
                <a:ea typeface="MiSans" pitchFamily="34" charset="-122"/>
                <a:cs typeface="MiSans" pitchFamily="34" charset="-120"/>
              </a:rPr>
              <a:t>使用AdamW优化器，通过权重衰减防止过拟合。</a:t>
            </a:r>
            <a:endParaRPr lang="en-US" sz="1600" dirty="0"/>
          </a:p>
        </p:txBody>
      </p:sp>
      <p:sp>
        <p:nvSpPr>
          <p:cNvPr id="17" name="Text 11"/>
          <p:cNvSpPr/>
          <p:nvPr/>
        </p:nvSpPr>
        <p:spPr>
          <a:xfrm>
            <a:off x="4542950" y="4010025"/>
            <a:ext cx="3141621" cy="276225"/>
          </a:xfrm>
          <a:prstGeom prst="rect">
            <a:avLst/>
          </a:prstGeom>
          <a:noFill/>
        </p:spPr>
        <p:txBody>
          <a:bodyPr wrap="square" lIns="91440" tIns="45720" rIns="91440" bIns="45720" rtlCol="0" anchor="t">
            <a:spAutoFit/>
          </a:bodyPr>
          <a:lstStyle/>
          <a:p>
            <a:pPr algn="just">
              <a:lnSpc>
                <a:spcPct val="100000"/>
              </a:lnSpc>
            </a:pPr>
            <a:r>
              <a:rPr lang="en-US" sz="1800" dirty="0">
                <a:solidFill>
                  <a:srgbClr val="FFFFFF"/>
                </a:solidFill>
                <a:latin typeface="MiSans" pitchFamily="34" charset="-122"/>
                <a:ea typeface="MiSans" pitchFamily="34" charset="-122"/>
                <a:cs typeface="MiSans" pitchFamily="34" charset="-120"/>
              </a:rPr>
              <a:t>学习率调度</a:t>
            </a:r>
            <a:endParaRPr lang="en-US" sz="1600" dirty="0"/>
          </a:p>
        </p:txBody>
      </p:sp>
      <p:sp>
        <p:nvSpPr>
          <p:cNvPr id="18" name="Text 12"/>
          <p:cNvSpPr/>
          <p:nvPr/>
        </p:nvSpPr>
        <p:spPr>
          <a:xfrm>
            <a:off x="4542950" y="4364355"/>
            <a:ext cx="3219746" cy="1796415"/>
          </a:xfrm>
          <a:prstGeom prst="rect">
            <a:avLst/>
          </a:prstGeom>
          <a:noFill/>
        </p:spPr>
        <p:txBody>
          <a:bodyPr wrap="square" lIns="91440" tIns="45720" rIns="91440" bIns="45720" rtlCol="0" anchor="t"/>
          <a:lstStyle/>
          <a:p>
            <a:pPr algn="just">
              <a:lnSpc>
                <a:spcPct val="150000"/>
              </a:lnSpc>
            </a:pPr>
            <a:r>
              <a:rPr lang="en-US" sz="1200" dirty="0">
                <a:solidFill>
                  <a:srgbClr val="FFFFFF"/>
                </a:solidFill>
                <a:latin typeface="MiSans" pitchFamily="34" charset="-122"/>
                <a:ea typeface="MiSans" pitchFamily="34" charset="-122"/>
                <a:cs typeface="MiSans" pitchFamily="34" charset="-120"/>
              </a:rPr>
              <a:t>LSTM使用ReduceLROnPlateau，当验证集损失不再下降时降低学习率；Transformer使用CosineAnnealingWarmRestarts，以跳出局部最优解。</a:t>
            </a:r>
            <a:endParaRPr lang="en-US" sz="16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8-12:55:47-d2v63ktnfo2stf9dk50g.png"/>
          <p:cNvPicPr>
            <a:picLocks noChangeAspect="1"/>
          </p:cNvPicPr>
          <p:nvPr/>
        </p:nvPicPr>
        <p:blipFill>
          <a:blip r:embed="rId1"/>
          <a:stretch>
            <a:fillRect/>
          </a:stretch>
        </p:blipFill>
        <p:spPr>
          <a:xfrm>
            <a:off x="786765" y="1530350"/>
            <a:ext cx="10719435" cy="4785360"/>
          </a:xfrm>
          <a:prstGeom prst="rect">
            <a:avLst/>
          </a:prstGeom>
        </p:spPr>
      </p:pic>
      <p:sp>
        <p:nvSpPr>
          <p:cNvPr id="3" name="Shape 0"/>
          <p:cNvSpPr/>
          <p:nvPr/>
        </p:nvSpPr>
        <p:spPr>
          <a:xfrm>
            <a:off x="4970780" y="3807460"/>
            <a:ext cx="6037580" cy="0"/>
          </a:xfrm>
          <a:prstGeom prst="line">
            <a:avLst/>
          </a:prstGeom>
          <a:noFill/>
          <a:ln w="12700">
            <a:solidFill>
              <a:srgbClr val="1E46EB"/>
            </a:solidFill>
            <a:prstDash val="dash"/>
            <a:headEnd type="none"/>
            <a:tailEnd type="none"/>
          </a:ln>
        </p:spPr>
      </p:sp>
      <p:pic>
        <p:nvPicPr>
          <p:cNvPr id="4" name="Image 1" descr="https://kimi-img.moonshot.cn/pub/slides/slides_tmpl/image/25-09-08-12:55:50-d2v63llnfo2stf9dk51g.jpeg"/>
          <p:cNvPicPr>
            <a:picLocks noChangeAspect="1"/>
          </p:cNvPicPr>
          <p:nvPr/>
        </p:nvPicPr>
        <p:blipFill>
          <a:blip r:embed="rId2"/>
          <a:srcRect l="31682" t="7916" r="21872" b="17343"/>
          <a:stretch>
            <a:fillRect/>
          </a:stretch>
        </p:blipFill>
        <p:spPr>
          <a:xfrm>
            <a:off x="1231900" y="1927225"/>
            <a:ext cx="3500120" cy="3747135"/>
          </a:xfrm>
          <a:prstGeom prst="rect">
            <a:avLst/>
          </a:prstGeom>
        </p:spPr>
      </p:pic>
      <p:sp>
        <p:nvSpPr>
          <p:cNvPr id="5" name="Text 1"/>
          <p:cNvSpPr/>
          <p:nvPr/>
        </p:nvSpPr>
        <p:spPr>
          <a:xfrm>
            <a:off x="595630" y="487045"/>
            <a:ext cx="7004685" cy="562570"/>
          </a:xfrm>
          <a:prstGeom prst="rect">
            <a:avLst/>
          </a:prstGeom>
          <a:noFill/>
        </p:spPr>
        <p:txBody>
          <a:bodyPr wrap="square" lIns="91440" tIns="45720" rIns="91440" bIns="45720" rtlCol="0" anchor="t">
            <a:spAutoFit/>
          </a:bodyPr>
          <a:lstStyle/>
          <a:p>
            <a:pPr>
              <a:lnSpc>
                <a:spcPct val="100000"/>
              </a:lnSpc>
            </a:pPr>
            <a:r>
              <a:rPr lang="en-US" sz="3600" b="1" dirty="0">
                <a:solidFill>
                  <a:srgbClr val="015DBB"/>
                </a:solidFill>
                <a:latin typeface="MiSans" pitchFamily="34" charset="-122"/>
                <a:ea typeface="MiSans" pitchFamily="34" charset="-122"/>
                <a:cs typeface="MiSans" pitchFamily="34" charset="-120"/>
              </a:rPr>
              <a:t>实验结果与误差对比</a:t>
            </a:r>
            <a:endParaRPr lang="en-US" sz="1600" dirty="0"/>
          </a:p>
        </p:txBody>
      </p:sp>
      <p:pic>
        <p:nvPicPr>
          <p:cNvPr id="6" name="Image 2" descr="https://kimi-img.moonshot.cn/pub/slides/slides_tmpl/image/25-09-08-12:55:42-d2v63jlnfo2stf9dk4rg.png"/>
          <p:cNvPicPr>
            <a:picLocks noChangeAspect="1"/>
          </p:cNvPicPr>
          <p:nvPr/>
        </p:nvPicPr>
        <p:blipFill>
          <a:blip r:embed="rId3"/>
          <a:stretch>
            <a:fillRect/>
          </a:stretch>
        </p:blipFill>
        <p:spPr>
          <a:xfrm>
            <a:off x="15240" y="487045"/>
            <a:ext cx="579755" cy="652145"/>
          </a:xfrm>
          <a:prstGeom prst="rect">
            <a:avLst/>
          </a:prstGeom>
        </p:spPr>
      </p:pic>
      <p:sp>
        <p:nvSpPr>
          <p:cNvPr id="7" name="Text 2"/>
          <p:cNvSpPr/>
          <p:nvPr/>
        </p:nvSpPr>
        <p:spPr>
          <a:xfrm>
            <a:off x="4816475" y="1937385"/>
            <a:ext cx="6218555" cy="276225"/>
          </a:xfrm>
          <a:prstGeom prst="rect">
            <a:avLst/>
          </a:prstGeom>
          <a:noFill/>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122"/>
                <a:ea typeface="MiSans" pitchFamily="34" charset="-122"/>
                <a:cs typeface="MiSans" pitchFamily="34" charset="-120"/>
              </a:rPr>
              <a:t>实验结果</a:t>
            </a:r>
            <a:endParaRPr lang="en-US" sz="1600" dirty="0"/>
          </a:p>
        </p:txBody>
      </p:sp>
      <p:sp>
        <p:nvSpPr>
          <p:cNvPr id="8" name="Text 3"/>
          <p:cNvSpPr/>
          <p:nvPr/>
        </p:nvSpPr>
        <p:spPr>
          <a:xfrm>
            <a:off x="4816475" y="2324735"/>
            <a:ext cx="6292850" cy="960041"/>
          </a:xfrm>
          <a:prstGeom prst="rect">
            <a:avLst/>
          </a:prstGeom>
          <a:noFill/>
        </p:spPr>
        <p:txBody>
          <a:bodyPr wrap="square" lIns="91440" tIns="45720" rIns="91440" bIns="45720" rtlCol="0" anchor="t">
            <a:spAutoFit/>
          </a:bodyPr>
          <a:lstStyle/>
          <a:p>
            <a:pPr algn="just">
              <a:lnSpc>
                <a:spcPct val="150000"/>
              </a:lnSpc>
            </a:pPr>
            <a:r>
              <a:rPr lang="en-US" sz="1400" dirty="0">
                <a:solidFill>
                  <a:srgbClr val="404040"/>
                </a:solidFill>
                <a:latin typeface="MiSans" pitchFamily="34" charset="-122"/>
                <a:ea typeface="MiSans" pitchFamily="34" charset="-122"/>
                <a:cs typeface="MiSans" pitchFamily="34" charset="-120"/>
              </a:rPr>
              <a:t>LSTM模型的Kaggle Public Score约为0.47513，Transformer模型的得分为0.46949。两者表现相当，说明在中小规模数据集上，LSTM的归纳偏置更适合时序规律的捕捉。</a:t>
            </a:r>
            <a:endParaRPr lang="en-US" sz="1600" dirty="0"/>
          </a:p>
        </p:txBody>
      </p:sp>
      <p:sp>
        <p:nvSpPr>
          <p:cNvPr id="9" name="Text 4"/>
          <p:cNvSpPr/>
          <p:nvPr/>
        </p:nvSpPr>
        <p:spPr>
          <a:xfrm>
            <a:off x="4890770" y="3990340"/>
            <a:ext cx="6218555" cy="276225"/>
          </a:xfrm>
          <a:prstGeom prst="rect">
            <a:avLst/>
          </a:prstGeom>
          <a:noFill/>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122"/>
                <a:ea typeface="MiSans" pitchFamily="34" charset="-122"/>
                <a:cs typeface="MiSans" pitchFamily="34" charset="-120"/>
              </a:rPr>
              <a:t>误差对比</a:t>
            </a:r>
            <a:endParaRPr lang="en-US" sz="1600" dirty="0"/>
          </a:p>
        </p:txBody>
      </p:sp>
      <p:sp>
        <p:nvSpPr>
          <p:cNvPr id="10" name="Text 5"/>
          <p:cNvSpPr/>
          <p:nvPr/>
        </p:nvSpPr>
        <p:spPr>
          <a:xfrm>
            <a:off x="4890770" y="4377690"/>
            <a:ext cx="6292850" cy="639961"/>
          </a:xfrm>
          <a:prstGeom prst="rect">
            <a:avLst/>
          </a:prstGeom>
          <a:noFill/>
        </p:spPr>
        <p:txBody>
          <a:bodyPr wrap="square" lIns="91440" tIns="45720" rIns="91440" bIns="45720" rtlCol="0" anchor="t">
            <a:spAutoFit/>
          </a:bodyPr>
          <a:lstStyle/>
          <a:p>
            <a:pPr algn="just">
              <a:lnSpc>
                <a:spcPct val="150000"/>
              </a:lnSpc>
            </a:pPr>
            <a:r>
              <a:rPr lang="en-US" sz="1400" dirty="0">
                <a:solidFill>
                  <a:srgbClr val="404040"/>
                </a:solidFill>
                <a:latin typeface="MiSans" pitchFamily="34" charset="-122"/>
                <a:ea typeface="MiSans" pitchFamily="34" charset="-122"/>
                <a:cs typeface="MiSans" pitchFamily="34" charset="-120"/>
              </a:rPr>
              <a:t>训练曲线显示，LSTM模型训练稳定，验证损失平缓下降；Transformer模型复杂度高，但最终得分略优于LSTM。</a:t>
            </a:r>
            <a:endParaRPr lang="en-US" sz="16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8-12:55:41-d2v63jdnfo2stf9dk4q0.png"/>
          <p:cNvPicPr>
            <a:picLocks noChangeAspect="1"/>
          </p:cNvPicPr>
          <p:nvPr/>
        </p:nvPicPr>
        <p:blipFill>
          <a:blip r:embed="rId1"/>
          <a:stretch>
            <a:fillRect/>
          </a:stretch>
        </p:blipFill>
        <p:spPr>
          <a:xfrm>
            <a:off x="0" y="4660265"/>
            <a:ext cx="12192635" cy="2197735"/>
          </a:xfrm>
          <a:prstGeom prst="rect">
            <a:avLst/>
          </a:prstGeom>
        </p:spPr>
      </p:pic>
      <p:sp>
        <p:nvSpPr>
          <p:cNvPr id="3" name="Text 0"/>
          <p:cNvSpPr/>
          <p:nvPr/>
        </p:nvSpPr>
        <p:spPr>
          <a:xfrm>
            <a:off x="3332163" y="3239770"/>
            <a:ext cx="5956935" cy="1568450"/>
          </a:xfrm>
          <a:prstGeom prst="rect">
            <a:avLst/>
          </a:prstGeom>
          <a:noFill/>
        </p:spPr>
        <p:txBody>
          <a:bodyPr wrap="square" lIns="91440" tIns="45720" rIns="91440" bIns="45720" rtlCol="0" anchor="t">
            <a:spAutoFit/>
          </a:bodyPr>
          <a:lstStyle/>
          <a:p>
            <a:pPr algn="ctr">
              <a:lnSpc>
                <a:spcPct val="100000"/>
              </a:lnSpc>
            </a:pPr>
            <a:r>
              <a:rPr lang="en-US" sz="4800" b="1" dirty="0">
                <a:solidFill>
                  <a:srgbClr val="015DBB"/>
                </a:solidFill>
                <a:latin typeface="MiSans" pitchFamily="34" charset="-122"/>
                <a:ea typeface="MiSans" pitchFamily="34" charset="-122"/>
                <a:cs typeface="MiSans" pitchFamily="34" charset="-120"/>
              </a:rPr>
              <a:t>cyclegan</a:t>
            </a:r>
            <a:r>
              <a:rPr lang="zh-CN" altLang="en-US" sz="4800" b="1" dirty="0">
                <a:solidFill>
                  <a:srgbClr val="015DBB"/>
                </a:solidFill>
                <a:latin typeface="MiSans" pitchFamily="34" charset="-122"/>
                <a:ea typeface="MiSans" pitchFamily="34" charset="-122"/>
                <a:cs typeface="MiSans" pitchFamily="34" charset="-120"/>
              </a:rPr>
              <a:t>循环生成对抗网络</a:t>
            </a:r>
            <a:endParaRPr lang="zh-CN" altLang="en-US" sz="4800" b="1" dirty="0">
              <a:solidFill>
                <a:srgbClr val="015DBB"/>
              </a:solidFill>
              <a:latin typeface="MiSans" pitchFamily="34" charset="-122"/>
              <a:ea typeface="MiSans" pitchFamily="34" charset="-122"/>
              <a:cs typeface="MiSans" pitchFamily="34" charset="-120"/>
            </a:endParaRPr>
          </a:p>
        </p:txBody>
      </p:sp>
      <p:sp>
        <p:nvSpPr>
          <p:cNvPr id="4" name="Text 1"/>
          <p:cNvSpPr/>
          <p:nvPr/>
        </p:nvSpPr>
        <p:spPr>
          <a:xfrm>
            <a:off x="3332163" y="1433195"/>
            <a:ext cx="5956935" cy="1483320"/>
          </a:xfrm>
          <a:prstGeom prst="rect">
            <a:avLst/>
          </a:prstGeom>
          <a:noFill/>
        </p:spPr>
        <p:txBody>
          <a:bodyPr wrap="square" lIns="91440" tIns="45720" rIns="91440" bIns="45720" rtlCol="0" anchor="t">
            <a:spAutoFit/>
          </a:bodyPr>
          <a:lstStyle/>
          <a:p>
            <a:pPr algn="ctr">
              <a:lnSpc>
                <a:spcPct val="100000"/>
              </a:lnSpc>
            </a:pPr>
            <a:r>
              <a:rPr lang="en-US" sz="9600" b="1" dirty="0">
                <a:solidFill>
                  <a:srgbClr val="015DBB"/>
                </a:solidFill>
                <a:latin typeface="MiSans" pitchFamily="34" charset="-122"/>
                <a:ea typeface="MiSans" pitchFamily="34" charset="-122"/>
                <a:cs typeface="MiSans" pitchFamily="34" charset="-120"/>
              </a:rPr>
              <a:t>03</a:t>
            </a:r>
            <a:endParaRPr lang="en-US" sz="1600" dirty="0"/>
          </a:p>
        </p:txBody>
      </p:sp>
      <p:pic>
        <p:nvPicPr>
          <p:cNvPr id="5" name="Image 1" descr="https://kimi-img.moonshot.cn/pub/slides/slides_tmpl/image/25-09-08-12:55:40-d2v63j5nfo2stf9dk4mg.png"/>
          <p:cNvPicPr>
            <a:picLocks noChangeAspect="1"/>
          </p:cNvPicPr>
          <p:nvPr/>
        </p:nvPicPr>
        <p:blipFill>
          <a:blip r:embed="rId2"/>
          <a:srcRect t="1192" b="1192"/>
          <a:stretch>
            <a:fillRect/>
          </a:stretch>
        </p:blipFill>
        <p:spPr>
          <a:xfrm>
            <a:off x="5251133" y="1950720"/>
            <a:ext cx="2118995" cy="1132205"/>
          </a:xfrm>
          <a:prstGeom prst="rect">
            <a:avLst/>
          </a:prstGeom>
        </p:spPr>
      </p:pic>
      <p:pic>
        <p:nvPicPr>
          <p:cNvPr id="6" name="Image 2" descr="https://kimi-img.moonshot.cn/pub/slides/slides_tmpl/image/25-09-08-12:55:57-d2v63ndnfo2stf9dk540.png"/>
          <p:cNvPicPr>
            <a:picLocks noChangeAspect="1"/>
          </p:cNvPicPr>
          <p:nvPr/>
        </p:nvPicPr>
        <p:blipFill>
          <a:blip r:embed="rId3"/>
          <a:srcRect t="22162"/>
          <a:stretch>
            <a:fillRect/>
          </a:stretch>
        </p:blipFill>
        <p:spPr>
          <a:xfrm>
            <a:off x="533400" y="1191895"/>
            <a:ext cx="3402965" cy="2649220"/>
          </a:xfrm>
          <a:prstGeom prst="rect">
            <a:avLst/>
          </a:prstGeom>
        </p:spPr>
      </p:pic>
      <p:pic>
        <p:nvPicPr>
          <p:cNvPr id="7" name="Image 3" descr="https://kimi-img.moonshot.cn/pub/slides/slides_tmpl/image/25-09-08-12:55:57-d2v63ndnfo2stf9dk540.png"/>
          <p:cNvPicPr>
            <a:picLocks noChangeAspect="1"/>
          </p:cNvPicPr>
          <p:nvPr/>
        </p:nvPicPr>
        <p:blipFill>
          <a:blip r:embed="rId3">
            <a:alphaModFix amt="30000"/>
          </a:blip>
          <a:srcRect t="22162"/>
          <a:stretch>
            <a:fillRect/>
          </a:stretch>
        </p:blipFill>
        <p:spPr>
          <a:xfrm flipH="1">
            <a:off x="8581390" y="779780"/>
            <a:ext cx="3402965" cy="2649220"/>
          </a:xfrm>
          <a:prstGeom prst="rect">
            <a:avLst/>
          </a:prstGeom>
        </p:spPr>
      </p:pic>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Image 1" descr="https://kimi-img.moonshot.cn/pub/slides/slides_tmpl/image/25-09-08-12:55:42-d2v63jlnfo2stf9dk4rg.png"/>
          <p:cNvPicPr>
            <a:picLocks noChangeAspect="1"/>
          </p:cNvPicPr>
          <p:nvPr/>
        </p:nvPicPr>
        <p:blipFill>
          <a:blip r:embed="rId1"/>
          <a:stretch>
            <a:fillRect/>
          </a:stretch>
        </p:blipFill>
        <p:spPr>
          <a:xfrm>
            <a:off x="15240" y="487045"/>
            <a:ext cx="579755" cy="652145"/>
          </a:xfrm>
          <a:prstGeom prst="rect">
            <a:avLst/>
          </a:prstGeom>
        </p:spPr>
      </p:pic>
      <p:sp>
        <p:nvSpPr>
          <p:cNvPr id="2" name="文本框 1"/>
          <p:cNvSpPr txBox="1"/>
          <p:nvPr/>
        </p:nvSpPr>
        <p:spPr>
          <a:xfrm>
            <a:off x="610235" y="494030"/>
            <a:ext cx="5232400" cy="645160"/>
          </a:xfrm>
          <a:prstGeom prst="rect">
            <a:avLst/>
          </a:prstGeom>
          <a:noFill/>
        </p:spPr>
        <p:txBody>
          <a:bodyPr wrap="square" rtlCol="0">
            <a:spAutoFit/>
          </a:bodyPr>
          <a:p>
            <a:r>
              <a:rPr lang="zh-CN" altLang="en-US" sz="3600" b="1" dirty="0">
                <a:solidFill>
                  <a:srgbClr val="015DBB"/>
                </a:solidFill>
                <a:latin typeface="MiSans" pitchFamily="34" charset="-122"/>
                <a:ea typeface="MiSans" pitchFamily="34" charset="-122"/>
                <a:cs typeface="MiSans" pitchFamily="34" charset="-120"/>
                <a:sym typeface="+mn-ea"/>
              </a:rPr>
              <a:t>无配对图像翻译的突破</a:t>
            </a:r>
            <a:endParaRPr lang="en-US" altLang="zh-CN" sz="3600" b="1" dirty="0">
              <a:solidFill>
                <a:srgbClr val="015DBB"/>
              </a:solidFill>
              <a:latin typeface="MiSans" pitchFamily="34" charset="-122"/>
              <a:ea typeface="MiSans" pitchFamily="34" charset="-122"/>
              <a:cs typeface="MiSans" pitchFamily="34" charset="-120"/>
              <a:sym typeface="+mn-ea"/>
            </a:endParaRPr>
          </a:p>
        </p:txBody>
      </p:sp>
      <p:pic>
        <p:nvPicPr>
          <p:cNvPr id="21" name="Image 0" descr="https://kimi-web-img.moonshot.cn/img/img-blog.csdnimg.cn/07ba1be8c7a99588bffc3baf2912dbcee8f08b24.png"/>
          <p:cNvPicPr>
            <a:picLocks noChangeAspect="1"/>
          </p:cNvPicPr>
          <p:nvPr/>
        </p:nvPicPr>
        <p:blipFill>
          <a:blip r:embed="rId2"/>
          <a:srcRect t="88" b="88"/>
          <a:stretch>
            <a:fillRect/>
          </a:stretch>
        </p:blipFill>
        <p:spPr>
          <a:xfrm>
            <a:off x="6096000" y="2308860"/>
            <a:ext cx="5681980" cy="2030730"/>
          </a:xfrm>
          <a:prstGeom prst="roundRect">
            <a:avLst>
              <a:gd name="adj" fmla="val 6324"/>
            </a:avLst>
          </a:prstGeom>
        </p:spPr>
      </p:pic>
      <p:sp>
        <p:nvSpPr>
          <p:cNvPr id="3" name="Shape 4"/>
          <p:cNvSpPr/>
          <p:nvPr>
            <p:custDataLst>
              <p:tags r:id="rId3"/>
            </p:custDataLst>
          </p:nvPr>
        </p:nvSpPr>
        <p:spPr>
          <a:xfrm>
            <a:off x="90170" y="1290955"/>
            <a:ext cx="5509260" cy="1685290"/>
          </a:xfrm>
          <a:custGeom>
            <a:avLst/>
            <a:gdLst/>
            <a:ahLst/>
            <a:cxnLst/>
            <a:rect l="l" t="t" r="r" b="b"/>
            <a:pathLst>
              <a:path w="5977206" h="1975729">
                <a:moveTo>
                  <a:pt x="0" y="0"/>
                </a:moveTo>
                <a:lnTo>
                  <a:pt x="5877175" y="0"/>
                </a:lnTo>
                <a:cubicBezTo>
                  <a:pt x="5932421" y="0"/>
                  <a:pt x="5977206" y="44785"/>
                  <a:pt x="5977206" y="100031"/>
                </a:cubicBezTo>
                <a:lnTo>
                  <a:pt x="5977206" y="1875698"/>
                </a:lnTo>
                <a:cubicBezTo>
                  <a:pt x="5977206" y="1930944"/>
                  <a:pt x="5932421" y="1975729"/>
                  <a:pt x="5877175" y="1975729"/>
                </a:cubicBezTo>
                <a:lnTo>
                  <a:pt x="0" y="1975729"/>
                </a:lnTo>
                <a:lnTo>
                  <a:pt x="0" y="0"/>
                </a:lnTo>
                <a:close/>
              </a:path>
            </a:pathLst>
          </a:custGeom>
          <a:solidFill>
            <a:srgbClr val="5F87A7">
              <a:alpha val="10196"/>
            </a:srgbClr>
          </a:solidFill>
        </p:spPr>
        <p:txBody>
          <a:bodyPr/>
          <a:p>
            <a:pPr>
              <a:lnSpc>
                <a:spcPct val="120000"/>
              </a:lnSpc>
            </a:pPr>
            <a:r>
              <a:rPr lang="en-US" b="1" dirty="0">
                <a:solidFill>
                  <a:schemeClr val="tx1"/>
                </a:solidFill>
                <a:latin typeface="MiSans" pitchFamily="34" charset="-122"/>
                <a:ea typeface="MiSans" pitchFamily="34" charset="-122"/>
                <a:cs typeface="MiSans" pitchFamily="34" charset="-120"/>
                <a:sym typeface="+mn-ea"/>
              </a:rPr>
              <a:t>        技术突破</a:t>
            </a:r>
            <a:endParaRPr lang="en-US" b="1" dirty="0">
              <a:solidFill>
                <a:schemeClr val="tx1"/>
              </a:solidFill>
              <a:latin typeface="MiSans" pitchFamily="34" charset="-122"/>
              <a:ea typeface="MiSans" pitchFamily="34" charset="-122"/>
              <a:cs typeface="MiSans" pitchFamily="34" charset="-120"/>
              <a:sym typeface="+mn-ea"/>
            </a:endParaRPr>
          </a:p>
          <a:p>
            <a:pPr>
              <a:lnSpc>
                <a:spcPct val="120000"/>
              </a:lnSpc>
            </a:pPr>
            <a:r>
              <a:rPr lang="en-US" sz="1600" dirty="0">
                <a:solidFill>
                  <a:schemeClr val="tx1"/>
                </a:solidFill>
                <a:latin typeface="MiSans" pitchFamily="34" charset="-122"/>
                <a:ea typeface="MiSans" pitchFamily="34" charset="-122"/>
                <a:cs typeface="MiSans" pitchFamily="34" charset="-120"/>
                <a:sym typeface="+mn-ea"/>
              </a:rPr>
              <a:t>传统神经风格迁移需要成对训练数据且处理速度慢，CycleGAN通过循环一致性机制实现无配对数据的艺术风格转换，大幅降低数据获取成本并提升训练效率。</a:t>
            </a:r>
            <a:endParaRPr lang="en-US" altLang="en-US" sz="1600" b="1" dirty="0">
              <a:solidFill>
                <a:schemeClr val="tx1"/>
              </a:solidFill>
              <a:latin typeface="MiSans" pitchFamily="34" charset="-122"/>
              <a:ea typeface="MiSans" pitchFamily="34" charset="-122"/>
              <a:cs typeface="MiSans" pitchFamily="34" charset="-120"/>
              <a:sym typeface="+mn-ea"/>
            </a:endParaRPr>
          </a:p>
        </p:txBody>
      </p:sp>
      <p:sp>
        <p:nvSpPr>
          <p:cNvPr id="5" name="Shape 4"/>
          <p:cNvSpPr/>
          <p:nvPr>
            <p:custDataLst>
              <p:tags r:id="rId4"/>
            </p:custDataLst>
          </p:nvPr>
        </p:nvSpPr>
        <p:spPr>
          <a:xfrm>
            <a:off x="105410" y="5034915"/>
            <a:ext cx="5518785" cy="1627505"/>
          </a:xfrm>
          <a:custGeom>
            <a:avLst/>
            <a:gdLst/>
            <a:ahLst/>
            <a:cxnLst/>
            <a:rect l="l" t="t" r="r" b="b"/>
            <a:pathLst>
              <a:path w="5977206" h="1975729">
                <a:moveTo>
                  <a:pt x="0" y="0"/>
                </a:moveTo>
                <a:lnTo>
                  <a:pt x="5877175" y="0"/>
                </a:lnTo>
                <a:cubicBezTo>
                  <a:pt x="5932421" y="0"/>
                  <a:pt x="5977206" y="44785"/>
                  <a:pt x="5977206" y="100031"/>
                </a:cubicBezTo>
                <a:lnTo>
                  <a:pt x="5977206" y="1875698"/>
                </a:lnTo>
                <a:cubicBezTo>
                  <a:pt x="5977206" y="1930944"/>
                  <a:pt x="5932421" y="1975729"/>
                  <a:pt x="5877175" y="1975729"/>
                </a:cubicBezTo>
                <a:lnTo>
                  <a:pt x="0" y="1975729"/>
                </a:lnTo>
                <a:lnTo>
                  <a:pt x="0" y="0"/>
                </a:lnTo>
                <a:close/>
              </a:path>
            </a:pathLst>
          </a:custGeom>
          <a:solidFill>
            <a:srgbClr val="5F87A7">
              <a:alpha val="10196"/>
            </a:srgbClr>
          </a:solidFill>
        </p:spPr>
        <p:txBody>
          <a:bodyPr/>
          <a:p>
            <a:r>
              <a:rPr lang="en-US" b="1" dirty="0">
                <a:solidFill>
                  <a:schemeClr val="tx1"/>
                </a:solidFill>
                <a:latin typeface="MiSans" pitchFamily="34" charset="-122"/>
                <a:ea typeface="MiSans" pitchFamily="34" charset="-122"/>
                <a:cs typeface="MiSans" pitchFamily="34" charset="-120"/>
                <a:sym typeface="+mn-ea"/>
              </a:rPr>
              <a:t>        完整工程化</a:t>
            </a:r>
            <a:endParaRPr lang="en-US" b="1" dirty="0">
              <a:solidFill>
                <a:schemeClr val="tx1"/>
              </a:solidFill>
              <a:latin typeface="MiSans" pitchFamily="34" charset="-122"/>
              <a:ea typeface="MiSans" pitchFamily="34" charset="-122"/>
              <a:cs typeface="MiSans" pitchFamily="34" charset="-120"/>
              <a:sym typeface="+mn-ea"/>
            </a:endParaRPr>
          </a:p>
          <a:p>
            <a:r>
              <a:rPr lang="en-US" sz="1600" dirty="0">
                <a:solidFill>
                  <a:schemeClr val="tx1"/>
                </a:solidFill>
                <a:latin typeface="MiSans" pitchFamily="34" charset="-122"/>
                <a:ea typeface="MiSans" pitchFamily="34" charset="-122"/>
                <a:cs typeface="MiSans" pitchFamily="34" charset="-120"/>
                <a:sym typeface="+mn-ea"/>
              </a:rPr>
              <a:t>构建了从数据处理、模型训练、性能评估到Web应用部署的完整闭环系统，形成从理论研究到实际应用的完整解决方案</a:t>
            </a:r>
            <a:r>
              <a:rPr lang="en-US" dirty="0">
                <a:solidFill>
                  <a:srgbClr val="8899A6"/>
                </a:solidFill>
                <a:latin typeface="MiSans" pitchFamily="34" charset="-122"/>
                <a:ea typeface="MiSans" pitchFamily="34" charset="-122"/>
                <a:cs typeface="MiSans" pitchFamily="34" charset="-120"/>
                <a:sym typeface="+mn-ea"/>
              </a:rPr>
              <a:t>。</a:t>
            </a:r>
            <a:endParaRPr lang="en-US" altLang="en-US" b="1" dirty="0">
              <a:solidFill>
                <a:schemeClr val="tx1"/>
              </a:solidFill>
              <a:latin typeface="MiSans" pitchFamily="34" charset="-122"/>
              <a:ea typeface="MiSans" pitchFamily="34" charset="-122"/>
              <a:cs typeface="MiSans" pitchFamily="34" charset="-120"/>
              <a:sym typeface="+mn-ea"/>
            </a:endParaRPr>
          </a:p>
        </p:txBody>
      </p:sp>
      <p:sp>
        <p:nvSpPr>
          <p:cNvPr id="7" name="Shape 4"/>
          <p:cNvSpPr/>
          <p:nvPr>
            <p:custDataLst>
              <p:tags r:id="rId5"/>
            </p:custDataLst>
          </p:nvPr>
        </p:nvSpPr>
        <p:spPr>
          <a:xfrm>
            <a:off x="90170" y="3162935"/>
            <a:ext cx="5534025" cy="1685290"/>
          </a:xfrm>
          <a:custGeom>
            <a:avLst/>
            <a:gdLst/>
            <a:ahLst/>
            <a:cxnLst/>
            <a:rect l="l" t="t" r="r" b="b"/>
            <a:pathLst>
              <a:path w="5977206" h="1975729">
                <a:moveTo>
                  <a:pt x="0" y="0"/>
                </a:moveTo>
                <a:lnTo>
                  <a:pt x="5877175" y="0"/>
                </a:lnTo>
                <a:cubicBezTo>
                  <a:pt x="5932421" y="0"/>
                  <a:pt x="5977206" y="44785"/>
                  <a:pt x="5977206" y="100031"/>
                </a:cubicBezTo>
                <a:lnTo>
                  <a:pt x="5977206" y="1875698"/>
                </a:lnTo>
                <a:cubicBezTo>
                  <a:pt x="5977206" y="1930944"/>
                  <a:pt x="5932421" y="1975729"/>
                  <a:pt x="5877175" y="1975729"/>
                </a:cubicBezTo>
                <a:lnTo>
                  <a:pt x="0" y="1975729"/>
                </a:lnTo>
                <a:lnTo>
                  <a:pt x="0" y="0"/>
                </a:lnTo>
                <a:close/>
              </a:path>
            </a:pathLst>
          </a:custGeom>
          <a:solidFill>
            <a:srgbClr val="5F87A7">
              <a:alpha val="10196"/>
            </a:srgbClr>
          </a:solidFill>
        </p:spPr>
        <p:txBody>
          <a:bodyPr/>
          <a:p>
            <a:pPr>
              <a:lnSpc>
                <a:spcPct val="120000"/>
              </a:lnSpc>
            </a:pPr>
            <a:r>
              <a:rPr lang="en-US" b="1" dirty="0">
                <a:solidFill>
                  <a:schemeClr val="tx1"/>
                </a:solidFill>
                <a:latin typeface="MiSans" pitchFamily="34" charset="-122"/>
                <a:ea typeface="MiSans" pitchFamily="34" charset="-122"/>
                <a:cs typeface="MiSans" pitchFamily="34" charset="-120"/>
                <a:sym typeface="+mn-ea"/>
              </a:rPr>
              <a:t>        三大艺术风格</a:t>
            </a:r>
            <a:endParaRPr lang="en-US" b="1" dirty="0">
              <a:solidFill>
                <a:schemeClr val="tx1"/>
              </a:solidFill>
              <a:latin typeface="MiSans" pitchFamily="34" charset="-122"/>
              <a:ea typeface="MiSans" pitchFamily="34" charset="-122"/>
              <a:cs typeface="MiSans" pitchFamily="34" charset="-120"/>
              <a:sym typeface="+mn-ea"/>
            </a:endParaRPr>
          </a:p>
          <a:p>
            <a:pPr>
              <a:lnSpc>
                <a:spcPct val="120000"/>
              </a:lnSpc>
            </a:pPr>
            <a:r>
              <a:rPr lang="en-US" sz="1600" dirty="0">
                <a:solidFill>
                  <a:schemeClr val="tx1"/>
                </a:solidFill>
                <a:latin typeface="MiSans" pitchFamily="34" charset="-122"/>
                <a:ea typeface="MiSans" pitchFamily="34" charset="-122"/>
                <a:cs typeface="MiSans" pitchFamily="34" charset="-120"/>
                <a:sym typeface="+mn-ea"/>
              </a:rPr>
              <a:t>系统支持莫奈印象派、吉卜力动画、新海诚动画三种艺术风格的双向转换，实现真实照片与艺术风格之间的无缝迁移。</a:t>
            </a:r>
            <a:endParaRPr lang="en-US" altLang="en-US" sz="1600" b="1" dirty="0">
              <a:solidFill>
                <a:schemeClr val="tx1"/>
              </a:solidFill>
              <a:latin typeface="MiSans" pitchFamily="34" charset="-122"/>
              <a:ea typeface="MiSans" pitchFamily="34" charset="-122"/>
              <a:cs typeface="MiSans" pitchFamily="34" charset="-120"/>
              <a:sym typeface="+mn-ea"/>
            </a:endParaRPr>
          </a:p>
        </p:txBody>
      </p:sp>
      <p:sp>
        <p:nvSpPr>
          <p:cNvPr id="8" name="Shape 6"/>
          <p:cNvSpPr/>
          <p:nvPr>
            <p:custDataLst>
              <p:tags r:id="rId6"/>
            </p:custDataLst>
          </p:nvPr>
        </p:nvSpPr>
        <p:spPr>
          <a:xfrm>
            <a:off x="364783" y="1340680"/>
            <a:ext cx="225083" cy="300111"/>
          </a:xfrm>
          <a:custGeom>
            <a:avLst/>
            <a:gdLst/>
            <a:ahLst/>
            <a:cxnLst/>
            <a:rect l="l" t="t" r="r" b="b"/>
            <a:pathLst>
              <a:path w="225083" h="300111">
                <a:moveTo>
                  <a:pt x="171684" y="225083"/>
                </a:moveTo>
                <a:cubicBezTo>
                  <a:pt x="175963" y="212012"/>
                  <a:pt x="184521" y="200172"/>
                  <a:pt x="194193" y="189972"/>
                </a:cubicBezTo>
                <a:cubicBezTo>
                  <a:pt x="213360" y="169809"/>
                  <a:pt x="225083" y="142553"/>
                  <a:pt x="225083" y="112542"/>
                </a:cubicBezTo>
                <a:cubicBezTo>
                  <a:pt x="225083" y="50409"/>
                  <a:pt x="174674" y="0"/>
                  <a:pt x="112542" y="0"/>
                </a:cubicBezTo>
                <a:cubicBezTo>
                  <a:pt x="50409" y="0"/>
                  <a:pt x="0" y="50409"/>
                  <a:pt x="0" y="112542"/>
                </a:cubicBezTo>
                <a:cubicBezTo>
                  <a:pt x="0" y="142553"/>
                  <a:pt x="11723" y="169809"/>
                  <a:pt x="30890" y="189972"/>
                </a:cubicBezTo>
                <a:cubicBezTo>
                  <a:pt x="40562" y="200172"/>
                  <a:pt x="49178" y="212012"/>
                  <a:pt x="53399" y="225083"/>
                </a:cubicBezTo>
                <a:lnTo>
                  <a:pt x="171626" y="225083"/>
                </a:lnTo>
                <a:close/>
                <a:moveTo>
                  <a:pt x="168812" y="253218"/>
                </a:moveTo>
                <a:lnTo>
                  <a:pt x="56271" y="253218"/>
                </a:lnTo>
                <a:lnTo>
                  <a:pt x="56271" y="262597"/>
                </a:lnTo>
                <a:cubicBezTo>
                  <a:pt x="56271" y="288505"/>
                  <a:pt x="77255" y="309489"/>
                  <a:pt x="103163" y="309489"/>
                </a:cubicBezTo>
                <a:lnTo>
                  <a:pt x="121920" y="309489"/>
                </a:lnTo>
                <a:cubicBezTo>
                  <a:pt x="147828" y="309489"/>
                  <a:pt x="168812" y="288505"/>
                  <a:pt x="168812" y="262597"/>
                </a:cubicBezTo>
                <a:lnTo>
                  <a:pt x="168812" y="253218"/>
                </a:lnTo>
                <a:close/>
                <a:moveTo>
                  <a:pt x="107852" y="65649"/>
                </a:moveTo>
                <a:cubicBezTo>
                  <a:pt x="84523" y="65649"/>
                  <a:pt x="65649" y="84523"/>
                  <a:pt x="65649" y="107852"/>
                </a:cubicBezTo>
                <a:cubicBezTo>
                  <a:pt x="65649" y="115648"/>
                  <a:pt x="59377" y="121920"/>
                  <a:pt x="51582" y="121920"/>
                </a:cubicBezTo>
                <a:cubicBezTo>
                  <a:pt x="43786" y="121920"/>
                  <a:pt x="37514" y="115648"/>
                  <a:pt x="37514" y="107852"/>
                </a:cubicBezTo>
                <a:cubicBezTo>
                  <a:pt x="37514" y="68990"/>
                  <a:pt x="68990" y="37514"/>
                  <a:pt x="107852" y="37514"/>
                </a:cubicBezTo>
                <a:cubicBezTo>
                  <a:pt x="115648" y="37514"/>
                  <a:pt x="121920" y="43786"/>
                  <a:pt x="121920" y="51582"/>
                </a:cubicBezTo>
                <a:cubicBezTo>
                  <a:pt x="121920" y="59377"/>
                  <a:pt x="115648" y="65649"/>
                  <a:pt x="107852" y="65649"/>
                </a:cubicBezTo>
                <a:close/>
              </a:path>
            </a:pathLst>
          </a:custGeom>
          <a:solidFill>
            <a:schemeClr val="accent3">
              <a:lumMod val="75000"/>
            </a:schemeClr>
          </a:solidFill>
        </p:spPr>
        <p:txBody>
          <a:bodyPr/>
          <a:p>
            <a:endParaRPr lang="zh-CN" altLang="en-US"/>
          </a:p>
        </p:txBody>
      </p:sp>
      <p:sp>
        <p:nvSpPr>
          <p:cNvPr id="13" name="Shape 11"/>
          <p:cNvSpPr/>
          <p:nvPr>
            <p:custDataLst>
              <p:tags r:id="rId7"/>
            </p:custDataLst>
          </p:nvPr>
        </p:nvSpPr>
        <p:spPr>
          <a:xfrm>
            <a:off x="294884" y="3235813"/>
            <a:ext cx="300111" cy="300111"/>
          </a:xfrm>
          <a:custGeom>
            <a:avLst/>
            <a:gdLst/>
            <a:ahLst/>
            <a:cxnLst/>
            <a:rect l="l" t="t" r="r" b="b"/>
            <a:pathLst>
              <a:path w="300111" h="300111">
                <a:moveTo>
                  <a:pt x="300111" y="150055"/>
                </a:moveTo>
                <a:cubicBezTo>
                  <a:pt x="300111" y="150583"/>
                  <a:pt x="300111" y="151110"/>
                  <a:pt x="300111" y="151638"/>
                </a:cubicBezTo>
                <a:cubicBezTo>
                  <a:pt x="299876" y="173033"/>
                  <a:pt x="280416" y="187569"/>
                  <a:pt x="259021" y="187569"/>
                </a:cubicBezTo>
                <a:lnTo>
                  <a:pt x="201637" y="187569"/>
                </a:lnTo>
                <a:cubicBezTo>
                  <a:pt x="186104" y="187569"/>
                  <a:pt x="173502" y="200172"/>
                  <a:pt x="173502" y="215705"/>
                </a:cubicBezTo>
                <a:cubicBezTo>
                  <a:pt x="173502" y="217698"/>
                  <a:pt x="173736" y="219632"/>
                  <a:pt x="174088" y="221508"/>
                </a:cubicBezTo>
                <a:cubicBezTo>
                  <a:pt x="175319" y="227486"/>
                  <a:pt x="177898" y="233231"/>
                  <a:pt x="180418" y="239034"/>
                </a:cubicBezTo>
                <a:cubicBezTo>
                  <a:pt x="183994" y="247122"/>
                  <a:pt x="187511" y="255153"/>
                  <a:pt x="187511" y="263652"/>
                </a:cubicBezTo>
                <a:cubicBezTo>
                  <a:pt x="187511" y="282292"/>
                  <a:pt x="174850" y="299232"/>
                  <a:pt x="156210" y="299994"/>
                </a:cubicBezTo>
                <a:cubicBezTo>
                  <a:pt x="154158" y="300052"/>
                  <a:pt x="152107" y="300111"/>
                  <a:pt x="149997" y="300111"/>
                </a:cubicBezTo>
                <a:cubicBezTo>
                  <a:pt x="67115" y="300111"/>
                  <a:pt x="-59" y="232938"/>
                  <a:pt x="-59" y="150055"/>
                </a:cubicBezTo>
                <a:cubicBezTo>
                  <a:pt x="-59" y="67173"/>
                  <a:pt x="67173" y="0"/>
                  <a:pt x="150055" y="0"/>
                </a:cubicBezTo>
                <a:cubicBezTo>
                  <a:pt x="232938" y="0"/>
                  <a:pt x="300111" y="67173"/>
                  <a:pt x="300111" y="150055"/>
                </a:cubicBezTo>
                <a:close/>
                <a:moveTo>
                  <a:pt x="75028" y="168812"/>
                </a:moveTo>
                <a:cubicBezTo>
                  <a:pt x="75028" y="158460"/>
                  <a:pt x="66623" y="150055"/>
                  <a:pt x="56271" y="150055"/>
                </a:cubicBezTo>
                <a:cubicBezTo>
                  <a:pt x="45919" y="150055"/>
                  <a:pt x="37514" y="158460"/>
                  <a:pt x="37514" y="168812"/>
                </a:cubicBezTo>
                <a:cubicBezTo>
                  <a:pt x="37514" y="179165"/>
                  <a:pt x="45919" y="187569"/>
                  <a:pt x="56271" y="187569"/>
                </a:cubicBezTo>
                <a:cubicBezTo>
                  <a:pt x="66623" y="187569"/>
                  <a:pt x="75028" y="179165"/>
                  <a:pt x="75028" y="168812"/>
                </a:cubicBezTo>
                <a:close/>
                <a:moveTo>
                  <a:pt x="75028" y="112542"/>
                </a:moveTo>
                <a:cubicBezTo>
                  <a:pt x="85380" y="112542"/>
                  <a:pt x="93785" y="104137"/>
                  <a:pt x="93785" y="93785"/>
                </a:cubicBezTo>
                <a:cubicBezTo>
                  <a:pt x="93785" y="83432"/>
                  <a:pt x="85380" y="75028"/>
                  <a:pt x="75028" y="75028"/>
                </a:cubicBezTo>
                <a:cubicBezTo>
                  <a:pt x="64675" y="75028"/>
                  <a:pt x="56271" y="83432"/>
                  <a:pt x="56271" y="93785"/>
                </a:cubicBezTo>
                <a:cubicBezTo>
                  <a:pt x="56271" y="104137"/>
                  <a:pt x="64675" y="112542"/>
                  <a:pt x="75028" y="112542"/>
                </a:cubicBezTo>
                <a:close/>
                <a:moveTo>
                  <a:pt x="168812" y="56271"/>
                </a:moveTo>
                <a:cubicBezTo>
                  <a:pt x="168812" y="45919"/>
                  <a:pt x="160408" y="37514"/>
                  <a:pt x="150055" y="37514"/>
                </a:cubicBezTo>
                <a:cubicBezTo>
                  <a:pt x="139703" y="37514"/>
                  <a:pt x="131298" y="45919"/>
                  <a:pt x="131298" y="56271"/>
                </a:cubicBezTo>
                <a:cubicBezTo>
                  <a:pt x="131298" y="66623"/>
                  <a:pt x="139703" y="75028"/>
                  <a:pt x="150055" y="75028"/>
                </a:cubicBezTo>
                <a:cubicBezTo>
                  <a:pt x="160408" y="75028"/>
                  <a:pt x="168812" y="66623"/>
                  <a:pt x="168812" y="56271"/>
                </a:cubicBezTo>
                <a:close/>
                <a:moveTo>
                  <a:pt x="225083" y="112542"/>
                </a:moveTo>
                <a:cubicBezTo>
                  <a:pt x="235435" y="112542"/>
                  <a:pt x="243840" y="104137"/>
                  <a:pt x="243840" y="93785"/>
                </a:cubicBezTo>
                <a:cubicBezTo>
                  <a:pt x="243840" y="83432"/>
                  <a:pt x="235435" y="75028"/>
                  <a:pt x="225083" y="75028"/>
                </a:cubicBezTo>
                <a:cubicBezTo>
                  <a:pt x="214731" y="75028"/>
                  <a:pt x="206326" y="83432"/>
                  <a:pt x="206326" y="93785"/>
                </a:cubicBezTo>
                <a:cubicBezTo>
                  <a:pt x="206326" y="104137"/>
                  <a:pt x="214731" y="112542"/>
                  <a:pt x="225083" y="112542"/>
                </a:cubicBezTo>
                <a:close/>
              </a:path>
            </a:pathLst>
          </a:custGeom>
          <a:solidFill>
            <a:schemeClr val="accent3">
              <a:lumMod val="75000"/>
            </a:schemeClr>
          </a:solidFill>
        </p:spPr>
        <p:txBody>
          <a:bodyPr/>
          <a:p>
            <a:endParaRPr lang="zh-CN" altLang="en-US"/>
          </a:p>
        </p:txBody>
      </p:sp>
      <p:sp>
        <p:nvSpPr>
          <p:cNvPr id="18" name="Shape 16"/>
          <p:cNvSpPr/>
          <p:nvPr>
            <p:custDataLst>
              <p:tags r:id="rId8"/>
            </p:custDataLst>
          </p:nvPr>
        </p:nvSpPr>
        <p:spPr>
          <a:xfrm>
            <a:off x="277495" y="5042535"/>
            <a:ext cx="312420" cy="271780"/>
          </a:xfrm>
          <a:custGeom>
            <a:avLst/>
            <a:gdLst/>
            <a:ahLst/>
            <a:cxnLst/>
            <a:rect l="l" t="t" r="r" b="b"/>
            <a:pathLst>
              <a:path w="375138" h="300111">
                <a:moveTo>
                  <a:pt x="243781" y="123385"/>
                </a:moveTo>
                <a:cubicBezTo>
                  <a:pt x="250932" y="121451"/>
                  <a:pt x="258435" y="124851"/>
                  <a:pt x="261659" y="131474"/>
                </a:cubicBezTo>
                <a:lnTo>
                  <a:pt x="272562" y="153514"/>
                </a:lnTo>
                <a:cubicBezTo>
                  <a:pt x="278599" y="154334"/>
                  <a:pt x="284519" y="155976"/>
                  <a:pt x="290088" y="158262"/>
                </a:cubicBezTo>
                <a:lnTo>
                  <a:pt x="310603" y="144604"/>
                </a:lnTo>
                <a:cubicBezTo>
                  <a:pt x="316758" y="140501"/>
                  <a:pt x="324905" y="141322"/>
                  <a:pt x="330122" y="146538"/>
                </a:cubicBezTo>
                <a:lnTo>
                  <a:pt x="341376" y="157793"/>
                </a:lnTo>
                <a:cubicBezTo>
                  <a:pt x="346593" y="163009"/>
                  <a:pt x="347413" y="171216"/>
                  <a:pt x="343310" y="177312"/>
                </a:cubicBezTo>
                <a:lnTo>
                  <a:pt x="329653" y="197768"/>
                </a:lnTo>
                <a:cubicBezTo>
                  <a:pt x="330767" y="200523"/>
                  <a:pt x="331763" y="203395"/>
                  <a:pt x="332584" y="206385"/>
                </a:cubicBezTo>
                <a:cubicBezTo>
                  <a:pt x="333404" y="209374"/>
                  <a:pt x="333932" y="212305"/>
                  <a:pt x="334342" y="215294"/>
                </a:cubicBezTo>
                <a:lnTo>
                  <a:pt x="356440" y="226197"/>
                </a:lnTo>
                <a:cubicBezTo>
                  <a:pt x="363064" y="229479"/>
                  <a:pt x="366463" y="236982"/>
                  <a:pt x="364529" y="244074"/>
                </a:cubicBezTo>
                <a:lnTo>
                  <a:pt x="360426" y="259432"/>
                </a:lnTo>
                <a:cubicBezTo>
                  <a:pt x="358492" y="266524"/>
                  <a:pt x="351868" y="271331"/>
                  <a:pt x="344483" y="270862"/>
                </a:cubicBezTo>
                <a:lnTo>
                  <a:pt x="319864" y="269279"/>
                </a:lnTo>
                <a:cubicBezTo>
                  <a:pt x="316171" y="274027"/>
                  <a:pt x="311892" y="278423"/>
                  <a:pt x="307027" y="282174"/>
                </a:cubicBezTo>
                <a:lnTo>
                  <a:pt x="308610" y="306734"/>
                </a:lnTo>
                <a:cubicBezTo>
                  <a:pt x="309079" y="314120"/>
                  <a:pt x="304272" y="320802"/>
                  <a:pt x="297180" y="322678"/>
                </a:cubicBezTo>
                <a:lnTo>
                  <a:pt x="281823" y="326781"/>
                </a:lnTo>
                <a:cubicBezTo>
                  <a:pt x="274672" y="328715"/>
                  <a:pt x="267228" y="325315"/>
                  <a:pt x="263945" y="318692"/>
                </a:cubicBezTo>
                <a:lnTo>
                  <a:pt x="253043" y="296652"/>
                </a:lnTo>
                <a:cubicBezTo>
                  <a:pt x="247005" y="295832"/>
                  <a:pt x="241085" y="294191"/>
                  <a:pt x="235517" y="291905"/>
                </a:cubicBezTo>
                <a:lnTo>
                  <a:pt x="215001" y="305562"/>
                </a:lnTo>
                <a:cubicBezTo>
                  <a:pt x="208847" y="309665"/>
                  <a:pt x="200699" y="308844"/>
                  <a:pt x="195482" y="303628"/>
                </a:cubicBezTo>
                <a:lnTo>
                  <a:pt x="184228" y="292374"/>
                </a:lnTo>
                <a:cubicBezTo>
                  <a:pt x="179011" y="287157"/>
                  <a:pt x="178191" y="279009"/>
                  <a:pt x="182294" y="272855"/>
                </a:cubicBezTo>
                <a:lnTo>
                  <a:pt x="195951" y="252339"/>
                </a:lnTo>
                <a:cubicBezTo>
                  <a:pt x="194838" y="249584"/>
                  <a:pt x="193841" y="246712"/>
                  <a:pt x="193020" y="243723"/>
                </a:cubicBezTo>
                <a:cubicBezTo>
                  <a:pt x="192200" y="240733"/>
                  <a:pt x="191672" y="237744"/>
                  <a:pt x="191262" y="234813"/>
                </a:cubicBezTo>
                <a:lnTo>
                  <a:pt x="169164" y="223911"/>
                </a:lnTo>
                <a:cubicBezTo>
                  <a:pt x="162540" y="220628"/>
                  <a:pt x="159199" y="213126"/>
                  <a:pt x="161075" y="206033"/>
                </a:cubicBezTo>
                <a:lnTo>
                  <a:pt x="165178" y="190676"/>
                </a:lnTo>
                <a:cubicBezTo>
                  <a:pt x="167112" y="183583"/>
                  <a:pt x="173736" y="178777"/>
                  <a:pt x="181122" y="179246"/>
                </a:cubicBezTo>
                <a:lnTo>
                  <a:pt x="205681" y="180828"/>
                </a:lnTo>
                <a:cubicBezTo>
                  <a:pt x="209374" y="176081"/>
                  <a:pt x="213653" y="171684"/>
                  <a:pt x="218518" y="167933"/>
                </a:cubicBezTo>
                <a:lnTo>
                  <a:pt x="216936" y="143432"/>
                </a:lnTo>
                <a:cubicBezTo>
                  <a:pt x="216467" y="136046"/>
                  <a:pt x="221273" y="129364"/>
                  <a:pt x="228366" y="127488"/>
                </a:cubicBezTo>
                <a:lnTo>
                  <a:pt x="243723" y="123385"/>
                </a:lnTo>
                <a:close/>
                <a:moveTo>
                  <a:pt x="262831" y="199292"/>
                </a:moveTo>
                <a:cubicBezTo>
                  <a:pt x="248597" y="199308"/>
                  <a:pt x="237054" y="210878"/>
                  <a:pt x="237070" y="225112"/>
                </a:cubicBezTo>
                <a:cubicBezTo>
                  <a:pt x="237086" y="239347"/>
                  <a:pt x="248656" y="250890"/>
                  <a:pt x="262890" y="250874"/>
                </a:cubicBezTo>
                <a:cubicBezTo>
                  <a:pt x="277124" y="250858"/>
                  <a:pt x="288668" y="239288"/>
                  <a:pt x="288651" y="225054"/>
                </a:cubicBezTo>
                <a:cubicBezTo>
                  <a:pt x="288635" y="210819"/>
                  <a:pt x="277066" y="199276"/>
                  <a:pt x="262831" y="199292"/>
                </a:cubicBezTo>
                <a:close/>
                <a:moveTo>
                  <a:pt x="131826" y="-26670"/>
                </a:moveTo>
                <a:lnTo>
                  <a:pt x="147183" y="-22567"/>
                </a:lnTo>
                <a:cubicBezTo>
                  <a:pt x="154276" y="-20633"/>
                  <a:pt x="159082" y="-13950"/>
                  <a:pt x="158613" y="-6624"/>
                </a:cubicBezTo>
                <a:lnTo>
                  <a:pt x="157031" y="17878"/>
                </a:lnTo>
                <a:cubicBezTo>
                  <a:pt x="161896" y="21629"/>
                  <a:pt x="166175" y="25967"/>
                  <a:pt x="169867" y="30773"/>
                </a:cubicBezTo>
                <a:lnTo>
                  <a:pt x="194486" y="29190"/>
                </a:lnTo>
                <a:cubicBezTo>
                  <a:pt x="201813" y="28722"/>
                  <a:pt x="208495" y="33528"/>
                  <a:pt x="210429" y="40620"/>
                </a:cubicBezTo>
                <a:lnTo>
                  <a:pt x="214532" y="55978"/>
                </a:lnTo>
                <a:cubicBezTo>
                  <a:pt x="216408" y="63070"/>
                  <a:pt x="213067" y="70573"/>
                  <a:pt x="206443" y="73855"/>
                </a:cubicBezTo>
                <a:lnTo>
                  <a:pt x="184345" y="84758"/>
                </a:lnTo>
                <a:cubicBezTo>
                  <a:pt x="183935" y="87747"/>
                  <a:pt x="183349" y="90737"/>
                  <a:pt x="182587" y="93667"/>
                </a:cubicBezTo>
                <a:cubicBezTo>
                  <a:pt x="181825" y="96598"/>
                  <a:pt x="180770" y="99529"/>
                  <a:pt x="179656" y="102284"/>
                </a:cubicBezTo>
                <a:lnTo>
                  <a:pt x="193314" y="122799"/>
                </a:lnTo>
                <a:cubicBezTo>
                  <a:pt x="197417" y="128954"/>
                  <a:pt x="196596" y="137101"/>
                  <a:pt x="191379" y="142318"/>
                </a:cubicBezTo>
                <a:lnTo>
                  <a:pt x="180125" y="153572"/>
                </a:lnTo>
                <a:cubicBezTo>
                  <a:pt x="174908" y="158789"/>
                  <a:pt x="166761" y="159610"/>
                  <a:pt x="160606" y="155507"/>
                </a:cubicBezTo>
                <a:lnTo>
                  <a:pt x="140091" y="141849"/>
                </a:lnTo>
                <a:cubicBezTo>
                  <a:pt x="134522" y="144135"/>
                  <a:pt x="128602" y="145776"/>
                  <a:pt x="122565" y="146597"/>
                </a:cubicBezTo>
                <a:lnTo>
                  <a:pt x="111662" y="168636"/>
                </a:lnTo>
                <a:cubicBezTo>
                  <a:pt x="108380" y="175260"/>
                  <a:pt x="100877" y="178601"/>
                  <a:pt x="93785" y="176725"/>
                </a:cubicBezTo>
                <a:lnTo>
                  <a:pt x="78427" y="172622"/>
                </a:lnTo>
                <a:cubicBezTo>
                  <a:pt x="71276" y="170688"/>
                  <a:pt x="66528" y="164006"/>
                  <a:pt x="66997" y="156679"/>
                </a:cubicBezTo>
                <a:lnTo>
                  <a:pt x="68580" y="132119"/>
                </a:lnTo>
                <a:cubicBezTo>
                  <a:pt x="63715" y="128368"/>
                  <a:pt x="59436" y="124030"/>
                  <a:pt x="55743" y="119224"/>
                </a:cubicBezTo>
                <a:lnTo>
                  <a:pt x="31125" y="120806"/>
                </a:lnTo>
                <a:cubicBezTo>
                  <a:pt x="23798" y="121275"/>
                  <a:pt x="17116" y="116469"/>
                  <a:pt x="15181" y="109376"/>
                </a:cubicBezTo>
                <a:lnTo>
                  <a:pt x="11078" y="94019"/>
                </a:lnTo>
                <a:cubicBezTo>
                  <a:pt x="9203" y="86927"/>
                  <a:pt x="12544" y="79424"/>
                  <a:pt x="19167" y="76141"/>
                </a:cubicBezTo>
                <a:lnTo>
                  <a:pt x="41265" y="65239"/>
                </a:lnTo>
                <a:cubicBezTo>
                  <a:pt x="41676" y="62250"/>
                  <a:pt x="42262" y="59319"/>
                  <a:pt x="43024" y="56329"/>
                </a:cubicBezTo>
                <a:cubicBezTo>
                  <a:pt x="43844" y="53340"/>
                  <a:pt x="44782" y="50468"/>
                  <a:pt x="45954" y="47713"/>
                </a:cubicBezTo>
                <a:lnTo>
                  <a:pt x="32297" y="27256"/>
                </a:lnTo>
                <a:cubicBezTo>
                  <a:pt x="28194" y="21102"/>
                  <a:pt x="29015" y="12954"/>
                  <a:pt x="34231" y="7737"/>
                </a:cubicBezTo>
                <a:lnTo>
                  <a:pt x="45486" y="-3517"/>
                </a:lnTo>
                <a:cubicBezTo>
                  <a:pt x="50702" y="-8734"/>
                  <a:pt x="58850" y="-9554"/>
                  <a:pt x="65004" y="-5451"/>
                </a:cubicBezTo>
                <a:lnTo>
                  <a:pt x="85520" y="8206"/>
                </a:lnTo>
                <a:cubicBezTo>
                  <a:pt x="91088" y="5920"/>
                  <a:pt x="97008" y="4279"/>
                  <a:pt x="103046" y="3458"/>
                </a:cubicBezTo>
                <a:lnTo>
                  <a:pt x="113948" y="-18581"/>
                </a:lnTo>
                <a:cubicBezTo>
                  <a:pt x="117231" y="-25205"/>
                  <a:pt x="124675" y="-28546"/>
                  <a:pt x="131826" y="-26670"/>
                </a:cubicBezTo>
                <a:close/>
                <a:moveTo>
                  <a:pt x="112776" y="49237"/>
                </a:moveTo>
                <a:cubicBezTo>
                  <a:pt x="98542" y="49237"/>
                  <a:pt x="86985" y="60793"/>
                  <a:pt x="86985" y="75028"/>
                </a:cubicBezTo>
                <a:cubicBezTo>
                  <a:pt x="86985" y="89262"/>
                  <a:pt x="98542" y="100818"/>
                  <a:pt x="112776" y="100818"/>
                </a:cubicBezTo>
                <a:cubicBezTo>
                  <a:pt x="127010" y="100818"/>
                  <a:pt x="138567" y="89262"/>
                  <a:pt x="138567" y="75028"/>
                </a:cubicBezTo>
                <a:cubicBezTo>
                  <a:pt x="138567" y="60793"/>
                  <a:pt x="127010" y="49237"/>
                  <a:pt x="112776" y="49237"/>
                </a:cubicBezTo>
                <a:close/>
              </a:path>
            </a:pathLst>
          </a:custGeom>
          <a:solidFill>
            <a:schemeClr val="accent3">
              <a:lumMod val="75000"/>
            </a:schemeClr>
          </a:solidFill>
        </p:spPr>
        <p:txBody>
          <a:bodyPr/>
          <a:p>
            <a:endParaRPr lang="zh-CN" altLang="en-US"/>
          </a:p>
        </p:txBody>
      </p:sp>
      <p:sp>
        <p:nvSpPr>
          <p:cNvPr id="10" name="Shape 5"/>
          <p:cNvSpPr/>
          <p:nvPr>
            <p:custDataLst>
              <p:tags r:id="rId9"/>
            </p:custDataLst>
          </p:nvPr>
        </p:nvSpPr>
        <p:spPr>
          <a:xfrm flipH="1">
            <a:off x="88900" y="1290320"/>
            <a:ext cx="77470" cy="1679575"/>
          </a:xfrm>
          <a:custGeom>
            <a:avLst/>
            <a:gdLst/>
            <a:ahLst/>
            <a:cxnLst/>
            <a:rect l="l" t="t" r="r" b="b"/>
            <a:pathLst>
              <a:path w="50018" h="1975729">
                <a:moveTo>
                  <a:pt x="0" y="0"/>
                </a:moveTo>
                <a:lnTo>
                  <a:pt x="50018" y="0"/>
                </a:lnTo>
                <a:lnTo>
                  <a:pt x="50018" y="1975729"/>
                </a:lnTo>
                <a:lnTo>
                  <a:pt x="0" y="1975729"/>
                </a:lnTo>
                <a:lnTo>
                  <a:pt x="0" y="0"/>
                </a:lnTo>
                <a:close/>
              </a:path>
            </a:pathLst>
          </a:custGeom>
          <a:solidFill>
            <a:schemeClr val="accent3">
              <a:lumMod val="75000"/>
            </a:schemeClr>
          </a:solidFill>
        </p:spPr>
      </p:sp>
      <p:sp>
        <p:nvSpPr>
          <p:cNvPr id="11" name="Shape 5"/>
          <p:cNvSpPr/>
          <p:nvPr>
            <p:custDataLst>
              <p:tags r:id="rId10"/>
            </p:custDataLst>
          </p:nvPr>
        </p:nvSpPr>
        <p:spPr>
          <a:xfrm flipH="1">
            <a:off x="90170" y="3162300"/>
            <a:ext cx="76200" cy="1711325"/>
          </a:xfrm>
          <a:custGeom>
            <a:avLst/>
            <a:gdLst/>
            <a:ahLst/>
            <a:cxnLst/>
            <a:rect l="l" t="t" r="r" b="b"/>
            <a:pathLst>
              <a:path w="50018" h="1975729">
                <a:moveTo>
                  <a:pt x="0" y="0"/>
                </a:moveTo>
                <a:lnTo>
                  <a:pt x="50018" y="0"/>
                </a:lnTo>
                <a:lnTo>
                  <a:pt x="50018" y="1975729"/>
                </a:lnTo>
                <a:lnTo>
                  <a:pt x="0" y="1975729"/>
                </a:lnTo>
                <a:lnTo>
                  <a:pt x="0" y="0"/>
                </a:lnTo>
                <a:close/>
              </a:path>
            </a:pathLst>
          </a:custGeom>
          <a:solidFill>
            <a:schemeClr val="accent3">
              <a:lumMod val="75000"/>
            </a:schemeClr>
          </a:solidFill>
        </p:spPr>
      </p:sp>
      <p:sp>
        <p:nvSpPr>
          <p:cNvPr id="12" name="Shape 5"/>
          <p:cNvSpPr/>
          <p:nvPr>
            <p:custDataLst>
              <p:tags r:id="rId11"/>
            </p:custDataLst>
          </p:nvPr>
        </p:nvSpPr>
        <p:spPr>
          <a:xfrm>
            <a:off x="105410" y="5041265"/>
            <a:ext cx="76200" cy="1621790"/>
          </a:xfrm>
          <a:custGeom>
            <a:avLst/>
            <a:gdLst/>
            <a:ahLst/>
            <a:cxnLst/>
            <a:rect l="l" t="t" r="r" b="b"/>
            <a:pathLst>
              <a:path w="50018" h="1975729">
                <a:moveTo>
                  <a:pt x="0" y="0"/>
                </a:moveTo>
                <a:lnTo>
                  <a:pt x="50018" y="0"/>
                </a:lnTo>
                <a:lnTo>
                  <a:pt x="50018" y="1975729"/>
                </a:lnTo>
                <a:lnTo>
                  <a:pt x="0" y="1975729"/>
                </a:lnTo>
                <a:lnTo>
                  <a:pt x="0" y="0"/>
                </a:lnTo>
                <a:close/>
              </a:path>
            </a:pathLst>
          </a:custGeom>
          <a:solidFill>
            <a:schemeClr val="accent3">
              <a:lumMod val="75000"/>
            </a:schemeClr>
          </a:solidFill>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Image 1" descr="https://kimi-img.moonshot.cn/pub/slides/slides_tmpl/image/25-09-08-12:55:42-d2v63jlnfo2stf9dk4rg.png"/>
          <p:cNvPicPr>
            <a:picLocks noChangeAspect="1"/>
          </p:cNvPicPr>
          <p:nvPr/>
        </p:nvPicPr>
        <p:blipFill>
          <a:blip r:embed="rId1"/>
          <a:stretch>
            <a:fillRect/>
          </a:stretch>
        </p:blipFill>
        <p:spPr>
          <a:xfrm>
            <a:off x="15240" y="487045"/>
            <a:ext cx="579755" cy="652145"/>
          </a:xfrm>
          <a:prstGeom prst="rect">
            <a:avLst/>
          </a:prstGeom>
        </p:spPr>
      </p:pic>
      <p:sp>
        <p:nvSpPr>
          <p:cNvPr id="2" name="文本框 1"/>
          <p:cNvSpPr txBox="1"/>
          <p:nvPr/>
        </p:nvSpPr>
        <p:spPr>
          <a:xfrm>
            <a:off x="594995" y="487045"/>
            <a:ext cx="4064000" cy="645160"/>
          </a:xfrm>
          <a:prstGeom prst="rect">
            <a:avLst/>
          </a:prstGeom>
          <a:noFill/>
        </p:spPr>
        <p:txBody>
          <a:bodyPr wrap="square" rtlCol="0">
            <a:spAutoFit/>
          </a:bodyPr>
          <a:p>
            <a:r>
              <a:rPr lang="zh-CN" altLang="en-US" sz="3600" b="1" dirty="0">
                <a:solidFill>
                  <a:srgbClr val="015DBB"/>
                </a:solidFill>
                <a:latin typeface="MiSans" pitchFamily="34" charset="-122"/>
                <a:ea typeface="MiSans" pitchFamily="34" charset="-122"/>
                <a:cs typeface="MiSans" pitchFamily="34" charset="-120"/>
                <a:sym typeface="+mn-ea"/>
              </a:rPr>
              <a:t>项目背景与意义</a:t>
            </a:r>
            <a:endParaRPr lang="zh-CN" altLang="en-US" sz="3600"/>
          </a:p>
        </p:txBody>
      </p:sp>
      <p:sp>
        <p:nvSpPr>
          <p:cNvPr id="5" name="Shape 2"/>
          <p:cNvSpPr/>
          <p:nvPr/>
        </p:nvSpPr>
        <p:spPr>
          <a:xfrm>
            <a:off x="1007745" y="1828800"/>
            <a:ext cx="10189845" cy="4425315"/>
          </a:xfrm>
          <a:prstGeom prst="roundRect">
            <a:avLst>
              <a:gd name="adj" fmla="val 0"/>
            </a:avLst>
          </a:prstGeom>
          <a:solidFill>
            <a:srgbClr val="FFFFFF"/>
          </a:solidFill>
          <a:ln w="19050">
            <a:solidFill>
              <a:srgbClr val="D2DAFB"/>
            </a:solidFill>
            <a:prstDash val="solid"/>
          </a:ln>
        </p:spPr>
        <p:txBody>
          <a:bodyPr/>
          <a:p>
            <a:endParaRPr lang="en-US" sz="2000" dirty="0">
              <a:solidFill>
                <a:schemeClr val="tx1"/>
              </a:solidFill>
              <a:latin typeface="MiSans" pitchFamily="34" charset="-122"/>
              <a:ea typeface="MiSans" pitchFamily="34" charset="-122"/>
              <a:cs typeface="MiSans" pitchFamily="34" charset="-120"/>
              <a:sym typeface="+mn-ea"/>
            </a:endParaRPr>
          </a:p>
          <a:p>
            <a:r>
              <a:rPr lang="zh-CN" altLang="en-US" sz="2800" b="1" dirty="0">
                <a:solidFill>
                  <a:srgbClr val="015DBB"/>
                </a:solidFill>
                <a:latin typeface="MiSans" pitchFamily="34" charset="-122"/>
                <a:ea typeface="MiSans" pitchFamily="34" charset="-122"/>
                <a:cs typeface="MiSans" pitchFamily="34" charset="-120"/>
                <a:sym typeface="+mn-ea"/>
              </a:rPr>
              <a:t>研究</a:t>
            </a:r>
            <a:r>
              <a:rPr lang="en-US" sz="2800" b="1" dirty="0">
                <a:solidFill>
                  <a:srgbClr val="015DBB"/>
                </a:solidFill>
                <a:latin typeface="MiSans" pitchFamily="34" charset="-122"/>
                <a:ea typeface="MiSans" pitchFamily="34" charset="-122"/>
                <a:cs typeface="MiSans" pitchFamily="34" charset="-120"/>
                <a:sym typeface="+mn-ea"/>
              </a:rPr>
              <a:t>背景</a:t>
            </a:r>
            <a:endParaRPr lang="en-US" sz="2800" b="1" dirty="0">
              <a:solidFill>
                <a:srgbClr val="015DBB"/>
              </a:solidFill>
              <a:latin typeface="MiSans" pitchFamily="34" charset="-122"/>
              <a:ea typeface="MiSans" pitchFamily="34" charset="-122"/>
              <a:cs typeface="MiSans" pitchFamily="34" charset="-120"/>
              <a:sym typeface="+mn-ea"/>
            </a:endParaRPr>
          </a:p>
          <a:p>
            <a:endParaRPr lang="en-US" sz="2000" dirty="0">
              <a:solidFill>
                <a:schemeClr val="tx1"/>
              </a:solidFill>
              <a:latin typeface="MiSans" pitchFamily="34" charset="-122"/>
              <a:ea typeface="MiSans" pitchFamily="34" charset="-122"/>
              <a:cs typeface="MiSans" pitchFamily="34" charset="-120"/>
              <a:sym typeface="+mn-ea"/>
            </a:endParaRPr>
          </a:p>
          <a:p>
            <a:r>
              <a:rPr lang="en-US" sz="2000" dirty="0">
                <a:solidFill>
                  <a:schemeClr val="tx1"/>
                </a:solidFill>
                <a:latin typeface="MiSans" pitchFamily="34" charset="-122"/>
                <a:ea typeface="MiSans" pitchFamily="34" charset="-122"/>
                <a:cs typeface="MiSans" pitchFamily="34" charset="-120"/>
                <a:sym typeface="+mn-ea"/>
              </a:rPr>
              <a:t>图像风格迁移技术旨在将一幅图像的内容与另一幅图像的风格相结合，生成具有艺术效果的新图像。</a:t>
            </a:r>
            <a:r>
              <a:rPr lang="en-US" sz="2000" b="1" dirty="0">
                <a:solidFill>
                  <a:srgbClr val="6ED3CF"/>
                </a:solidFill>
                <a:latin typeface="MiSans" pitchFamily="34" charset="-122"/>
                <a:ea typeface="MiSans" pitchFamily="34" charset="-122"/>
                <a:cs typeface="MiSans" pitchFamily="34" charset="-120"/>
                <a:sym typeface="+mn-ea"/>
              </a:rPr>
              <a:t>早期的神经风格迁移方法基于卷积神经网络的特征提取</a:t>
            </a:r>
            <a:r>
              <a:rPr lang="zh-CN" altLang="en-US" sz="2000" b="1" dirty="0">
                <a:solidFill>
                  <a:srgbClr val="6ED3CF"/>
                </a:solidFill>
                <a:latin typeface="MiSans" pitchFamily="34" charset="-122"/>
                <a:ea typeface="MiSans" pitchFamily="34" charset="-122"/>
                <a:cs typeface="MiSans" pitchFamily="34" charset="-120"/>
                <a:sym typeface="+mn-ea"/>
              </a:rPr>
              <a:t>。</a:t>
            </a:r>
            <a:endParaRPr lang="zh-CN" altLang="en-US" sz="2000" b="1" dirty="0">
              <a:solidFill>
                <a:srgbClr val="6ED3CF"/>
              </a:solidFill>
              <a:latin typeface="MiSans" pitchFamily="34" charset="-122"/>
              <a:ea typeface="MiSans" pitchFamily="34" charset="-122"/>
              <a:cs typeface="MiSans" pitchFamily="34" charset="-120"/>
              <a:sym typeface="+mn-ea"/>
            </a:endParaRPr>
          </a:p>
          <a:p>
            <a:endParaRPr lang="zh-CN" altLang="en-US" sz="2000" b="1" dirty="0">
              <a:solidFill>
                <a:srgbClr val="6ED3CF"/>
              </a:solidFill>
              <a:latin typeface="MiSans" pitchFamily="34" charset="-122"/>
              <a:ea typeface="MiSans" pitchFamily="34" charset="-122"/>
              <a:cs typeface="MiSans" pitchFamily="34" charset="-120"/>
              <a:sym typeface="+mn-ea"/>
            </a:endParaRPr>
          </a:p>
          <a:p>
            <a:endParaRPr lang="zh-CN" altLang="en-US" sz="2000" b="1" dirty="0">
              <a:solidFill>
                <a:srgbClr val="6ED3CF"/>
              </a:solidFill>
              <a:latin typeface="MiSans" pitchFamily="34" charset="-122"/>
              <a:ea typeface="MiSans" pitchFamily="34" charset="-122"/>
              <a:cs typeface="MiSans" pitchFamily="34" charset="-120"/>
              <a:sym typeface="+mn-ea"/>
            </a:endParaRPr>
          </a:p>
          <a:p>
            <a:r>
              <a:rPr lang="zh-CN" altLang="en-US" sz="2800" b="1" dirty="0">
                <a:solidFill>
                  <a:srgbClr val="015DBB"/>
                </a:solidFill>
                <a:latin typeface="MiSans" pitchFamily="34" charset="-122"/>
                <a:ea typeface="MiSans" pitchFamily="34" charset="-122"/>
                <a:cs typeface="MiSans" pitchFamily="34" charset="-120"/>
                <a:sym typeface="+mn-ea"/>
              </a:rPr>
              <a:t>项目意义</a:t>
            </a:r>
            <a:endParaRPr lang="zh-CN" altLang="en-US" sz="2800" b="1" dirty="0">
              <a:solidFill>
                <a:srgbClr val="015DBB"/>
              </a:solidFill>
              <a:latin typeface="MiSans" pitchFamily="34" charset="-122"/>
              <a:ea typeface="MiSans" pitchFamily="34" charset="-122"/>
              <a:cs typeface="MiSans" pitchFamily="34" charset="-120"/>
              <a:sym typeface="+mn-ea"/>
            </a:endParaRPr>
          </a:p>
          <a:p>
            <a:endParaRPr lang="zh-CN" altLang="en-US" sz="2800" b="1" dirty="0">
              <a:solidFill>
                <a:srgbClr val="6ED3CF"/>
              </a:solidFill>
              <a:latin typeface="MiSans" pitchFamily="34" charset="-122"/>
              <a:ea typeface="MiSans" pitchFamily="34" charset="-122"/>
              <a:cs typeface="MiSans" pitchFamily="34" charset="-120"/>
              <a:sym typeface="+mn-ea"/>
            </a:endParaRPr>
          </a:p>
          <a:p>
            <a:r>
              <a:rPr lang="en-US" sz="2000" dirty="0">
                <a:solidFill>
                  <a:schemeClr val="tx1"/>
                </a:solidFill>
                <a:latin typeface="MiSans" pitchFamily="34" charset="-122"/>
                <a:ea typeface="MiSans" pitchFamily="34" charset="-122"/>
                <a:cs typeface="MiSans" pitchFamily="34" charset="-120"/>
                <a:sym typeface="+mn-ea"/>
              </a:rPr>
              <a:t>探索了无监督图像翻译在艺术创作中的应用，为深度学习在跨域转换领域的理论研究提供了实践验证</a:t>
            </a:r>
            <a:r>
              <a:rPr lang="zh-CN" altLang="en-US" sz="2000" dirty="0">
                <a:solidFill>
                  <a:schemeClr val="tx1"/>
                </a:solidFill>
                <a:latin typeface="MiSans" pitchFamily="34" charset="-122"/>
                <a:ea typeface="MiSans" pitchFamily="34" charset="-122"/>
                <a:cs typeface="MiSans" pitchFamily="34" charset="-120"/>
                <a:sym typeface="+mn-ea"/>
              </a:rPr>
              <a:t>。</a:t>
            </a:r>
            <a:endParaRPr lang="zh-CN" altLang="en-US" sz="2000" dirty="0">
              <a:solidFill>
                <a:schemeClr val="tx1"/>
              </a:solidFill>
              <a:latin typeface="MiSans" pitchFamily="34" charset="-122"/>
              <a:ea typeface="MiSans" pitchFamily="34" charset="-122"/>
              <a:cs typeface="MiSans" pitchFamily="34" charset="-120"/>
              <a:sym typeface="+mn-ea"/>
            </a:endParaRPr>
          </a:p>
          <a:p>
            <a:r>
              <a:rPr lang="en-US" sz="2000" dirty="0">
                <a:solidFill>
                  <a:schemeClr val="tx1"/>
                </a:solidFill>
                <a:latin typeface="MiSans" pitchFamily="34" charset="-122"/>
                <a:ea typeface="MiSans" pitchFamily="34" charset="-122"/>
                <a:cs typeface="MiSans" pitchFamily="34" charset="-120"/>
                <a:sym typeface="+mn-ea"/>
              </a:rPr>
              <a:t>为自动化专业学生提供了深度学习项目实践的完整案例，涵盖数据处理、模型训练到部署的全流程</a:t>
            </a:r>
            <a:r>
              <a:rPr lang="zh-CN" altLang="en-US" sz="2000" dirty="0">
                <a:solidFill>
                  <a:schemeClr val="tx1"/>
                </a:solidFill>
                <a:latin typeface="MiSans" pitchFamily="34" charset="-122"/>
                <a:ea typeface="MiSans" pitchFamily="34" charset="-122"/>
                <a:cs typeface="MiSans" pitchFamily="34" charset="-120"/>
                <a:sym typeface="+mn-ea"/>
              </a:rPr>
              <a:t>。</a:t>
            </a:r>
            <a:endParaRPr lang="en-US" sz="2000" dirty="0">
              <a:solidFill>
                <a:schemeClr val="tx1"/>
              </a:solidFill>
            </a:endParaRPr>
          </a:p>
          <a:p>
            <a:endParaRPr lang="en-US" sz="2000" dirty="0">
              <a:solidFill>
                <a:schemeClr val="tx1"/>
              </a:solidFill>
            </a:endParaRPr>
          </a:p>
          <a:p>
            <a:endParaRPr lang="en-US" altLang="en-US" sz="2000" b="1" dirty="0">
              <a:solidFill>
                <a:schemeClr val="tx1"/>
              </a:solidFill>
              <a:latin typeface="MiSans" pitchFamily="34" charset="-122"/>
              <a:ea typeface="MiSans" pitchFamily="34" charset="-122"/>
              <a:cs typeface="MiSans" pitchFamily="34" charset="-120"/>
              <a:sym typeface="+mn-ea"/>
            </a:endParaRPr>
          </a:p>
        </p:txBody>
      </p:sp>
      <p:sp>
        <p:nvSpPr>
          <p:cNvPr id="3" name="Shape 0"/>
          <p:cNvSpPr/>
          <p:nvPr/>
        </p:nvSpPr>
        <p:spPr>
          <a:xfrm>
            <a:off x="1252220" y="3792855"/>
            <a:ext cx="9687560" cy="7620"/>
          </a:xfrm>
          <a:prstGeom prst="line">
            <a:avLst/>
          </a:prstGeom>
          <a:noFill/>
          <a:ln w="12700">
            <a:solidFill>
              <a:srgbClr val="1E46EB"/>
            </a:solidFill>
            <a:prstDash val="dash"/>
            <a:headEnd type="none"/>
            <a:tailEnd type="none"/>
          </a:ln>
        </p:spPr>
      </p:sp>
      <p:pic>
        <p:nvPicPr>
          <p:cNvPr id="6" name="Image 2" descr="https://kimi-img.moonshot.cn/pub/slides/slides_tmpl/image/25-09-08-12:55:57-d2v63ndnfo2stf9dk540.png"/>
          <p:cNvPicPr>
            <a:picLocks noChangeAspect="1"/>
          </p:cNvPicPr>
          <p:nvPr/>
        </p:nvPicPr>
        <p:blipFill>
          <a:blip r:embed="rId2"/>
          <a:srcRect t="22162"/>
          <a:stretch>
            <a:fillRect/>
          </a:stretch>
        </p:blipFill>
        <p:spPr>
          <a:xfrm>
            <a:off x="8048625" y="746125"/>
            <a:ext cx="3446145" cy="268287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Image 1" descr="https://kimi-img.moonshot.cn/pub/slides/slides_tmpl/image/25-09-08-12:55:42-d2v63jlnfo2stf9dk4rg.png"/>
          <p:cNvPicPr>
            <a:picLocks noChangeAspect="1"/>
          </p:cNvPicPr>
          <p:nvPr/>
        </p:nvPicPr>
        <p:blipFill>
          <a:blip r:embed="rId1"/>
          <a:stretch>
            <a:fillRect/>
          </a:stretch>
        </p:blipFill>
        <p:spPr>
          <a:xfrm>
            <a:off x="15240" y="487045"/>
            <a:ext cx="579755" cy="652145"/>
          </a:xfrm>
          <a:prstGeom prst="rect">
            <a:avLst/>
          </a:prstGeom>
        </p:spPr>
      </p:pic>
      <p:sp>
        <p:nvSpPr>
          <p:cNvPr id="3" name="文本框 2"/>
          <p:cNvSpPr txBox="1"/>
          <p:nvPr/>
        </p:nvSpPr>
        <p:spPr>
          <a:xfrm>
            <a:off x="594995" y="546100"/>
            <a:ext cx="6096000" cy="534035"/>
          </a:xfrm>
          <a:prstGeom prst="rect">
            <a:avLst/>
          </a:prstGeom>
          <a:noFill/>
        </p:spPr>
        <p:txBody>
          <a:bodyPr wrap="square" rtlCol="0" anchor="t">
            <a:spAutoFit/>
          </a:bodyPr>
          <a:p>
            <a:pPr>
              <a:lnSpc>
                <a:spcPct val="80000"/>
              </a:lnSpc>
            </a:pPr>
            <a:r>
              <a:rPr lang="zh-CN" altLang="en-US" sz="3600" b="1" dirty="0">
                <a:solidFill>
                  <a:srgbClr val="015DBB"/>
                </a:solidFill>
                <a:latin typeface="MiSans" pitchFamily="34" charset="-122"/>
                <a:ea typeface="MiSans" pitchFamily="34" charset="-122"/>
                <a:cs typeface="MiSans" pitchFamily="34" charset="-120"/>
                <a:sym typeface="+mn-ea"/>
              </a:rPr>
              <a:t>核心算法：损失函数设计</a:t>
            </a:r>
            <a:endParaRPr lang="en-US" altLang="zh-CN" sz="3600" b="1" dirty="0">
              <a:solidFill>
                <a:srgbClr val="015DBB"/>
              </a:solidFill>
              <a:latin typeface="MiSans" pitchFamily="34" charset="-122"/>
              <a:ea typeface="MiSans" pitchFamily="34" charset="-122"/>
              <a:cs typeface="MiSans" pitchFamily="34" charset="-120"/>
              <a:sym typeface="+mn-ea"/>
            </a:endParaRPr>
          </a:p>
        </p:txBody>
      </p:sp>
      <p:sp>
        <p:nvSpPr>
          <p:cNvPr id="6" name="Shape 4"/>
          <p:cNvSpPr/>
          <p:nvPr>
            <p:custDataLst>
              <p:tags r:id="rId2"/>
            </p:custDataLst>
          </p:nvPr>
        </p:nvSpPr>
        <p:spPr>
          <a:xfrm>
            <a:off x="285750" y="1529715"/>
            <a:ext cx="5034280" cy="1776095"/>
          </a:xfrm>
          <a:custGeom>
            <a:avLst/>
            <a:gdLst/>
            <a:ahLst/>
            <a:cxnLst/>
            <a:rect l="l" t="t" r="r" b="b"/>
            <a:pathLst>
              <a:path w="7561437" h="2375206">
                <a:moveTo>
                  <a:pt x="43582" y="0"/>
                </a:moveTo>
                <a:lnTo>
                  <a:pt x="7430682" y="0"/>
                </a:lnTo>
                <a:cubicBezTo>
                  <a:pt x="7502896" y="0"/>
                  <a:pt x="7561437" y="58541"/>
                  <a:pt x="7561437" y="130755"/>
                </a:cubicBezTo>
                <a:lnTo>
                  <a:pt x="7561437" y="2244451"/>
                </a:lnTo>
                <a:cubicBezTo>
                  <a:pt x="7561437" y="2316665"/>
                  <a:pt x="7502896" y="2375206"/>
                  <a:pt x="7430682" y="2375206"/>
                </a:cubicBezTo>
                <a:lnTo>
                  <a:pt x="43582" y="2375206"/>
                </a:lnTo>
                <a:cubicBezTo>
                  <a:pt x="19512" y="2375206"/>
                  <a:pt x="0" y="2355694"/>
                  <a:pt x="0" y="2331625"/>
                </a:cubicBezTo>
                <a:lnTo>
                  <a:pt x="0" y="43582"/>
                </a:lnTo>
                <a:cubicBezTo>
                  <a:pt x="0" y="19528"/>
                  <a:pt x="19528" y="0"/>
                  <a:pt x="43582" y="0"/>
                </a:cubicBezTo>
                <a:close/>
              </a:path>
            </a:pathLst>
          </a:custGeom>
          <a:solidFill>
            <a:srgbClr val="5F87A7">
              <a:alpha val="10196"/>
            </a:srgbClr>
          </a:solidFill>
        </p:spPr>
        <p:txBody>
          <a:bodyPr/>
          <a:p>
            <a:r>
              <a:rPr lang="en-US" b="1" dirty="0">
                <a:solidFill>
                  <a:schemeClr val="accent3">
                    <a:lumMod val="50000"/>
                  </a:schemeClr>
                </a:solidFill>
                <a:latin typeface="MiSans" pitchFamily="34" charset="-122"/>
                <a:ea typeface="MiSans" pitchFamily="34" charset="-122"/>
                <a:cs typeface="MiSans" pitchFamily="34" charset="-120"/>
                <a:sym typeface="+mn-ea"/>
              </a:rPr>
              <a:t>   对抗损失</a:t>
            </a:r>
            <a:endParaRPr lang="en-US" b="1" dirty="0">
              <a:solidFill>
                <a:schemeClr val="accent3">
                  <a:lumMod val="50000"/>
                </a:schemeClr>
              </a:solidFill>
              <a:latin typeface="MiSans" pitchFamily="34" charset="-122"/>
              <a:ea typeface="MiSans" pitchFamily="34" charset="-122"/>
              <a:cs typeface="MiSans" pitchFamily="34" charset="-120"/>
              <a:sym typeface="+mn-ea"/>
            </a:endParaRPr>
          </a:p>
          <a:p>
            <a:r>
              <a:rPr lang="en-US" b="1" dirty="0">
                <a:solidFill>
                  <a:schemeClr val="accent3">
                    <a:lumMod val="50000"/>
                  </a:schemeClr>
                </a:solidFill>
                <a:latin typeface="MiSans" pitchFamily="34" charset="-122"/>
                <a:ea typeface="MiSans" pitchFamily="34" charset="-122"/>
                <a:cs typeface="MiSans" pitchFamily="34" charset="-120"/>
                <a:sym typeface="+mn-ea"/>
              </a:rPr>
              <a:t>   </a:t>
            </a:r>
            <a:r>
              <a:rPr lang="en-US" sz="1200" dirty="0">
                <a:solidFill>
                  <a:schemeClr val="tx1"/>
                </a:solidFill>
                <a:latin typeface="MiSans" pitchFamily="34" charset="-122"/>
                <a:ea typeface="MiSans" pitchFamily="34" charset="-122"/>
                <a:cs typeface="MiSans" pitchFamily="34" charset="-120"/>
                <a:sym typeface="+mn-ea"/>
              </a:rPr>
              <a:t>确保生成图像与真实图像分布一致，让生成器能够欺骗判别器</a:t>
            </a:r>
            <a:endParaRPr lang="en-US" sz="1200" dirty="0">
              <a:solidFill>
                <a:schemeClr val="tx1"/>
              </a:solidFill>
              <a:latin typeface="MiSans" pitchFamily="34" charset="-122"/>
              <a:ea typeface="MiSans" pitchFamily="34" charset="-122"/>
              <a:cs typeface="MiSans" pitchFamily="34" charset="-120"/>
              <a:sym typeface="+mn-ea"/>
            </a:endParaRPr>
          </a:p>
          <a:p>
            <a:r>
              <a:rPr lang="en-US" sz="1000" dirty="0">
                <a:solidFill>
                  <a:srgbClr val="8899A6"/>
                </a:solidFill>
                <a:latin typeface="MiSans" pitchFamily="34" charset="-122"/>
                <a:ea typeface="MiSans" pitchFamily="34" charset="-122"/>
                <a:cs typeface="MiSans" pitchFamily="34" charset="-120"/>
                <a:sym typeface="+mn-ea"/>
              </a:rPr>
              <a:t>   </a:t>
            </a:r>
            <a:endParaRPr lang="en-US" sz="1000" dirty="0">
              <a:solidFill>
                <a:srgbClr val="8899A6"/>
              </a:solidFill>
              <a:latin typeface="MiSans" pitchFamily="34" charset="-122"/>
              <a:ea typeface="MiSans" pitchFamily="34" charset="-122"/>
              <a:cs typeface="MiSans" pitchFamily="34" charset="-120"/>
              <a:sym typeface="+mn-ea"/>
            </a:endParaRPr>
          </a:p>
          <a:p>
            <a:endParaRPr lang="en-US" sz="1000" dirty="0">
              <a:solidFill>
                <a:srgbClr val="8899A6"/>
              </a:solidFill>
              <a:latin typeface="MiSans" pitchFamily="34" charset="-122"/>
              <a:ea typeface="MiSans" pitchFamily="34" charset="-122"/>
              <a:cs typeface="MiSans" pitchFamily="34" charset="-120"/>
              <a:sym typeface="+mn-ea"/>
            </a:endParaRPr>
          </a:p>
          <a:p>
            <a:r>
              <a:rPr lang="en-US" sz="1000" dirty="0">
                <a:solidFill>
                  <a:srgbClr val="8899A6"/>
                </a:solidFill>
                <a:latin typeface="MiSans" pitchFamily="34" charset="-122"/>
                <a:ea typeface="MiSans" pitchFamily="34" charset="-122"/>
                <a:cs typeface="MiSans" pitchFamily="34" charset="-120"/>
                <a:sym typeface="+mn-ea"/>
              </a:rPr>
              <a:t>      </a:t>
            </a:r>
            <a:r>
              <a:rPr lang="en-US" sz="1200" dirty="0">
                <a:solidFill>
                  <a:srgbClr val="00B0F0"/>
                </a:solidFill>
                <a:latin typeface="MiSans" pitchFamily="34" charset="-122"/>
                <a:ea typeface="MiSans" pitchFamily="34" charset="-122"/>
                <a:cs typeface="MiSans" pitchFamily="34" charset="-120"/>
                <a:sym typeface="+mn-ea"/>
              </a:rPr>
              <a:t>𝓛GAN(G,DY,X,Y) = 𝔼y~Y[log DY(y)] + 𝔼x~X[log(1-DY(G(x)))]</a:t>
            </a:r>
            <a:endParaRPr lang="en-US" sz="1000" dirty="0">
              <a:solidFill>
                <a:srgbClr val="00B0F0"/>
              </a:solidFill>
              <a:latin typeface="MiSans" pitchFamily="34" charset="-122"/>
              <a:ea typeface="MiSans" pitchFamily="34" charset="-122"/>
              <a:cs typeface="MiSans" pitchFamily="34" charset="-120"/>
              <a:sym typeface="+mn-ea"/>
            </a:endParaRPr>
          </a:p>
          <a:p>
            <a:endParaRPr lang="en-US" sz="1000" dirty="0">
              <a:solidFill>
                <a:srgbClr val="00B0F0"/>
              </a:solidFill>
              <a:latin typeface="MiSans" pitchFamily="34" charset="-122"/>
              <a:ea typeface="MiSans" pitchFamily="34" charset="-122"/>
              <a:cs typeface="MiSans" pitchFamily="34" charset="-120"/>
              <a:sym typeface="+mn-ea"/>
            </a:endParaRPr>
          </a:p>
          <a:p>
            <a:endParaRPr lang="en-US" sz="1000" dirty="0">
              <a:solidFill>
                <a:srgbClr val="00B0F0"/>
              </a:solidFill>
              <a:latin typeface="MiSans" pitchFamily="34" charset="-122"/>
              <a:ea typeface="MiSans" pitchFamily="34" charset="-122"/>
              <a:cs typeface="MiSans" pitchFamily="34" charset="-120"/>
              <a:sym typeface="+mn-ea"/>
            </a:endParaRPr>
          </a:p>
          <a:p>
            <a:r>
              <a:rPr lang="en-US" sz="1000" dirty="0">
                <a:solidFill>
                  <a:srgbClr val="00B0F0"/>
                </a:solidFill>
                <a:latin typeface="MiSans" pitchFamily="34" charset="-122"/>
                <a:ea typeface="MiSans" pitchFamily="34" charset="-122"/>
                <a:cs typeface="MiSans" pitchFamily="34" charset="-120"/>
                <a:sym typeface="+mn-ea"/>
              </a:rPr>
              <a:t>      </a:t>
            </a:r>
            <a:r>
              <a:rPr lang="en-US" sz="1200" dirty="0">
                <a:solidFill>
                  <a:schemeClr val="tx1"/>
                </a:solidFill>
                <a:latin typeface="MiSans" pitchFamily="34" charset="-122"/>
                <a:ea typeface="MiSans" pitchFamily="34" charset="-122"/>
                <a:cs typeface="MiSans" pitchFamily="34" charset="-120"/>
                <a:sym typeface="+mn-ea"/>
              </a:rPr>
              <a:t>G试图最小化该损失，D试图最大化该损失</a:t>
            </a:r>
            <a:endParaRPr lang="en-US" sz="1000" dirty="0"/>
          </a:p>
          <a:p>
            <a:endParaRPr lang="en-US" sz="1000" dirty="0">
              <a:solidFill>
                <a:srgbClr val="00B0F0"/>
              </a:solidFill>
            </a:endParaRPr>
          </a:p>
          <a:p>
            <a:endParaRPr lang="en-US" altLang="en-US" sz="1000" dirty="0">
              <a:solidFill>
                <a:srgbClr val="00B0F0"/>
              </a:solidFill>
            </a:endParaRPr>
          </a:p>
        </p:txBody>
      </p:sp>
      <p:sp>
        <p:nvSpPr>
          <p:cNvPr id="7" name="Shape 4"/>
          <p:cNvSpPr/>
          <p:nvPr>
            <p:custDataLst>
              <p:tags r:id="rId3"/>
            </p:custDataLst>
          </p:nvPr>
        </p:nvSpPr>
        <p:spPr>
          <a:xfrm>
            <a:off x="5639435" y="1529715"/>
            <a:ext cx="5034280" cy="1776095"/>
          </a:xfrm>
          <a:custGeom>
            <a:avLst/>
            <a:gdLst/>
            <a:ahLst/>
            <a:cxnLst/>
            <a:rect l="l" t="t" r="r" b="b"/>
            <a:pathLst>
              <a:path w="7561437" h="2375206">
                <a:moveTo>
                  <a:pt x="43582" y="0"/>
                </a:moveTo>
                <a:lnTo>
                  <a:pt x="7430682" y="0"/>
                </a:lnTo>
                <a:cubicBezTo>
                  <a:pt x="7502896" y="0"/>
                  <a:pt x="7561437" y="58541"/>
                  <a:pt x="7561437" y="130755"/>
                </a:cubicBezTo>
                <a:lnTo>
                  <a:pt x="7561437" y="2244451"/>
                </a:lnTo>
                <a:cubicBezTo>
                  <a:pt x="7561437" y="2316665"/>
                  <a:pt x="7502896" y="2375206"/>
                  <a:pt x="7430682" y="2375206"/>
                </a:cubicBezTo>
                <a:lnTo>
                  <a:pt x="43582" y="2375206"/>
                </a:lnTo>
                <a:cubicBezTo>
                  <a:pt x="19512" y="2375206"/>
                  <a:pt x="0" y="2355694"/>
                  <a:pt x="0" y="2331625"/>
                </a:cubicBezTo>
                <a:lnTo>
                  <a:pt x="0" y="43582"/>
                </a:lnTo>
                <a:cubicBezTo>
                  <a:pt x="0" y="19528"/>
                  <a:pt x="19528" y="0"/>
                  <a:pt x="43582" y="0"/>
                </a:cubicBezTo>
                <a:close/>
              </a:path>
            </a:pathLst>
          </a:custGeom>
          <a:solidFill>
            <a:srgbClr val="5F87A7">
              <a:alpha val="10196"/>
            </a:srgbClr>
          </a:solidFill>
        </p:spPr>
        <p:txBody>
          <a:bodyPr/>
          <a:p>
            <a:r>
              <a:rPr lang="en-US" b="1" dirty="0">
                <a:solidFill>
                  <a:schemeClr val="accent3">
                    <a:lumMod val="50000"/>
                  </a:schemeClr>
                </a:solidFill>
                <a:latin typeface="MiSans" pitchFamily="34" charset="-122"/>
                <a:ea typeface="MiSans" pitchFamily="34" charset="-122"/>
                <a:cs typeface="MiSans" pitchFamily="34" charset="-120"/>
                <a:sym typeface="+mn-ea"/>
              </a:rPr>
              <a:t>   循环一致性损失</a:t>
            </a:r>
            <a:endParaRPr lang="en-US" dirty="0"/>
          </a:p>
          <a:p>
            <a:r>
              <a:rPr lang="en-US" altLang="zh-CN"/>
              <a:t>   </a:t>
            </a:r>
            <a:r>
              <a:rPr lang="en-US" sz="1200" dirty="0">
                <a:solidFill>
                  <a:schemeClr val="tx1"/>
                </a:solidFill>
                <a:latin typeface="MiSans" pitchFamily="34" charset="-122"/>
                <a:ea typeface="MiSans" pitchFamily="34" charset="-122"/>
                <a:cs typeface="MiSans" pitchFamily="34" charset="-120"/>
                <a:sym typeface="+mn-ea"/>
              </a:rPr>
              <a:t>保证双向转换的准确性，确保图像转换后能够还原回原始图像</a:t>
            </a:r>
            <a:endParaRPr lang="en-US" sz="1200" dirty="0">
              <a:solidFill>
                <a:schemeClr val="tx1"/>
              </a:solidFill>
              <a:latin typeface="MiSans" pitchFamily="34" charset="-122"/>
              <a:ea typeface="MiSans" pitchFamily="34" charset="-122"/>
              <a:cs typeface="MiSans" pitchFamily="34" charset="-120"/>
              <a:sym typeface="+mn-ea"/>
            </a:endParaRPr>
          </a:p>
          <a:p>
            <a:r>
              <a:rPr lang="en-US" sz="1200" dirty="0">
                <a:solidFill>
                  <a:schemeClr val="tx1"/>
                </a:solidFill>
                <a:latin typeface="MiSans" pitchFamily="34" charset="-122"/>
                <a:ea typeface="MiSans" pitchFamily="34" charset="-122"/>
                <a:cs typeface="MiSans" pitchFamily="34" charset="-120"/>
                <a:sym typeface="+mn-ea"/>
              </a:rPr>
              <a:t>    </a:t>
            </a:r>
            <a:endParaRPr lang="en-US" sz="1200" dirty="0">
              <a:solidFill>
                <a:schemeClr val="tx1"/>
              </a:solidFill>
              <a:latin typeface="MiSans" pitchFamily="34" charset="-122"/>
              <a:ea typeface="MiSans" pitchFamily="34" charset="-122"/>
              <a:cs typeface="MiSans" pitchFamily="34" charset="-120"/>
              <a:sym typeface="+mn-ea"/>
            </a:endParaRPr>
          </a:p>
          <a:p>
            <a:endParaRPr lang="en-US" sz="1200" dirty="0">
              <a:solidFill>
                <a:schemeClr val="tx1"/>
              </a:solidFill>
              <a:latin typeface="MiSans" pitchFamily="34" charset="-122"/>
              <a:ea typeface="MiSans" pitchFamily="34" charset="-122"/>
              <a:cs typeface="MiSans" pitchFamily="34" charset="-120"/>
              <a:sym typeface="+mn-ea"/>
            </a:endParaRPr>
          </a:p>
          <a:p>
            <a:r>
              <a:rPr lang="en-US" sz="1200" dirty="0">
                <a:solidFill>
                  <a:schemeClr val="tx1"/>
                </a:solidFill>
                <a:latin typeface="MiSans" pitchFamily="34" charset="-122"/>
                <a:ea typeface="MiSans" pitchFamily="34" charset="-122"/>
                <a:cs typeface="MiSans" pitchFamily="34" charset="-120"/>
                <a:sym typeface="+mn-ea"/>
              </a:rPr>
              <a:t>    </a:t>
            </a:r>
            <a:r>
              <a:rPr lang="en-US" sz="1200" dirty="0">
                <a:solidFill>
                  <a:srgbClr val="00B0F0"/>
                </a:solidFill>
                <a:latin typeface="MiSans" pitchFamily="34" charset="-122"/>
                <a:ea typeface="MiSans" pitchFamily="34" charset="-122"/>
                <a:cs typeface="MiSans" pitchFamily="34" charset="-120"/>
                <a:sym typeface="+mn-ea"/>
              </a:rPr>
              <a:t>𝓛cyc(G,F) = 𝔼x~X[||F(G(x))-x||1] + 𝔼y~Y[||G(F(y))-y||1]</a:t>
            </a:r>
            <a:endParaRPr lang="en-US" sz="1200" dirty="0">
              <a:solidFill>
                <a:srgbClr val="00B0F0"/>
              </a:solidFill>
              <a:latin typeface="MiSans" pitchFamily="34" charset="-122"/>
              <a:ea typeface="MiSans" pitchFamily="34" charset="-122"/>
              <a:cs typeface="MiSans" pitchFamily="34" charset="-120"/>
              <a:sym typeface="+mn-ea"/>
            </a:endParaRPr>
          </a:p>
          <a:p>
            <a:endParaRPr lang="en-US" dirty="0"/>
          </a:p>
          <a:p>
            <a:r>
              <a:rPr lang="en-US" dirty="0"/>
              <a:t>   </a:t>
            </a:r>
            <a:r>
              <a:rPr lang="en-US" sz="1200" dirty="0">
                <a:solidFill>
                  <a:schemeClr val="tx1"/>
                </a:solidFill>
                <a:latin typeface="MiSans" pitchFamily="34" charset="-122"/>
                <a:ea typeface="MiSans" pitchFamily="34" charset="-122"/>
                <a:cs typeface="MiSans" pitchFamily="34" charset="-120"/>
                <a:sym typeface="+mn-ea"/>
              </a:rPr>
              <a:t>L1损失确保重建图像与原始图像一致</a:t>
            </a:r>
            <a:endParaRPr lang="en-US" sz="1200" dirty="0">
              <a:solidFill>
                <a:schemeClr val="tx1"/>
              </a:solidFill>
            </a:endParaRPr>
          </a:p>
          <a:p>
            <a:endParaRPr lang="en-US" dirty="0"/>
          </a:p>
          <a:p>
            <a:endParaRPr lang="en-US" altLang="zh-CN"/>
          </a:p>
        </p:txBody>
      </p:sp>
      <p:sp>
        <p:nvSpPr>
          <p:cNvPr id="8" name="Shape 4"/>
          <p:cNvSpPr/>
          <p:nvPr>
            <p:custDataLst>
              <p:tags r:id="rId4"/>
            </p:custDataLst>
          </p:nvPr>
        </p:nvSpPr>
        <p:spPr>
          <a:xfrm>
            <a:off x="285750" y="3881120"/>
            <a:ext cx="5034280" cy="1776095"/>
          </a:xfrm>
          <a:custGeom>
            <a:avLst/>
            <a:gdLst/>
            <a:ahLst/>
            <a:cxnLst/>
            <a:rect l="l" t="t" r="r" b="b"/>
            <a:pathLst>
              <a:path w="7561437" h="2375206">
                <a:moveTo>
                  <a:pt x="43582" y="0"/>
                </a:moveTo>
                <a:lnTo>
                  <a:pt x="7430682" y="0"/>
                </a:lnTo>
                <a:cubicBezTo>
                  <a:pt x="7502896" y="0"/>
                  <a:pt x="7561437" y="58541"/>
                  <a:pt x="7561437" y="130755"/>
                </a:cubicBezTo>
                <a:lnTo>
                  <a:pt x="7561437" y="2244451"/>
                </a:lnTo>
                <a:cubicBezTo>
                  <a:pt x="7561437" y="2316665"/>
                  <a:pt x="7502896" y="2375206"/>
                  <a:pt x="7430682" y="2375206"/>
                </a:cubicBezTo>
                <a:lnTo>
                  <a:pt x="43582" y="2375206"/>
                </a:lnTo>
                <a:cubicBezTo>
                  <a:pt x="19512" y="2375206"/>
                  <a:pt x="0" y="2355694"/>
                  <a:pt x="0" y="2331625"/>
                </a:cubicBezTo>
                <a:lnTo>
                  <a:pt x="0" y="43582"/>
                </a:lnTo>
                <a:cubicBezTo>
                  <a:pt x="0" y="19528"/>
                  <a:pt x="19528" y="0"/>
                  <a:pt x="43582" y="0"/>
                </a:cubicBezTo>
                <a:close/>
              </a:path>
            </a:pathLst>
          </a:custGeom>
          <a:solidFill>
            <a:srgbClr val="5F87A7">
              <a:alpha val="10196"/>
            </a:srgbClr>
          </a:solidFill>
        </p:spPr>
        <p:txBody>
          <a:bodyPr/>
          <a:p>
            <a:r>
              <a:rPr lang="en-US" b="1" dirty="0">
                <a:solidFill>
                  <a:schemeClr val="accent3">
                    <a:lumMod val="50000"/>
                  </a:schemeClr>
                </a:solidFill>
                <a:latin typeface="MiSans" pitchFamily="34" charset="-122"/>
                <a:ea typeface="MiSans" pitchFamily="34" charset="-122"/>
                <a:cs typeface="MiSans" pitchFamily="34" charset="-120"/>
                <a:sym typeface="+mn-ea"/>
              </a:rPr>
              <a:t>   身份映射损失</a:t>
            </a:r>
            <a:endParaRPr lang="en-US" dirty="0"/>
          </a:p>
          <a:p>
            <a:r>
              <a:rPr lang="en-US" altLang="zh-CN"/>
              <a:t>    </a:t>
            </a:r>
            <a:r>
              <a:rPr lang="en-US" sz="1200" dirty="0">
                <a:solidFill>
                  <a:schemeClr val="tx1"/>
                </a:solidFill>
                <a:latin typeface="MiSans" pitchFamily="34" charset="-122"/>
                <a:ea typeface="MiSans" pitchFamily="34" charset="-122"/>
                <a:cs typeface="MiSans" pitchFamily="34" charset="-120"/>
                <a:sym typeface="+mn-ea"/>
              </a:rPr>
              <a:t>保持原始图像特征，确保生成器在输入已为目标域图像时无需转换</a:t>
            </a:r>
            <a:endParaRPr lang="en-US" dirty="0"/>
          </a:p>
          <a:p>
            <a:r>
              <a:rPr lang="en-US" altLang="zh-CN"/>
              <a:t>  </a:t>
            </a:r>
            <a:endParaRPr lang="en-US" altLang="zh-CN"/>
          </a:p>
          <a:p>
            <a:r>
              <a:rPr lang="en-US" altLang="zh-CN"/>
              <a:t>   </a:t>
            </a:r>
            <a:r>
              <a:rPr lang="en-US" altLang="zh-CN" sz="1200">
                <a:solidFill>
                  <a:srgbClr val="00B0F0"/>
                </a:solidFill>
              </a:rPr>
              <a:t> </a:t>
            </a:r>
            <a:r>
              <a:rPr lang="en-US" sz="1200" dirty="0">
                <a:solidFill>
                  <a:srgbClr val="00B0F0"/>
                </a:solidFill>
                <a:latin typeface="MiSans" pitchFamily="34" charset="-122"/>
                <a:ea typeface="MiSans" pitchFamily="34" charset="-122"/>
                <a:cs typeface="MiSans" pitchFamily="34" charset="-120"/>
                <a:sym typeface="+mn-ea"/>
              </a:rPr>
              <a:t>𝓛identity(G,F) = 𝔼y~Y[||G(y)-y||1] + 𝔼x~X[||F(x)-x||1]</a:t>
            </a:r>
            <a:endParaRPr lang="en-US" sz="1200" dirty="0">
              <a:solidFill>
                <a:srgbClr val="00B0F0"/>
              </a:solidFill>
              <a:latin typeface="MiSans" pitchFamily="34" charset="-122"/>
              <a:ea typeface="MiSans" pitchFamily="34" charset="-122"/>
              <a:cs typeface="MiSans" pitchFamily="34" charset="-120"/>
              <a:sym typeface="+mn-ea"/>
            </a:endParaRPr>
          </a:p>
          <a:p>
            <a:endParaRPr lang="en-US" sz="1200" dirty="0">
              <a:solidFill>
                <a:srgbClr val="00B0F0"/>
              </a:solidFill>
              <a:latin typeface="MiSans" pitchFamily="34" charset="-122"/>
              <a:ea typeface="MiSans" pitchFamily="34" charset="-122"/>
              <a:cs typeface="MiSans" pitchFamily="34" charset="-120"/>
              <a:sym typeface="+mn-ea"/>
            </a:endParaRPr>
          </a:p>
          <a:p>
            <a:endParaRPr lang="en-US" sz="1200" dirty="0">
              <a:solidFill>
                <a:srgbClr val="00B0F0"/>
              </a:solidFill>
              <a:latin typeface="MiSans" pitchFamily="34" charset="-122"/>
              <a:ea typeface="MiSans" pitchFamily="34" charset="-122"/>
              <a:cs typeface="MiSans" pitchFamily="34" charset="-120"/>
              <a:sym typeface="+mn-ea"/>
            </a:endParaRPr>
          </a:p>
          <a:p>
            <a:r>
              <a:rPr lang="en-US" sz="1200" dirty="0">
                <a:solidFill>
                  <a:srgbClr val="00B0F0"/>
                </a:solidFill>
                <a:latin typeface="MiSans" pitchFamily="34" charset="-122"/>
                <a:ea typeface="MiSans" pitchFamily="34" charset="-122"/>
                <a:cs typeface="MiSans" pitchFamily="34" charset="-120"/>
                <a:sym typeface="+mn-ea"/>
              </a:rPr>
              <a:t>    </a:t>
            </a:r>
            <a:r>
              <a:rPr lang="en-US" sz="1200" dirty="0">
                <a:solidFill>
                  <a:schemeClr val="tx1"/>
                </a:solidFill>
                <a:latin typeface="MiSans" pitchFamily="34" charset="-122"/>
                <a:ea typeface="MiSans" pitchFamily="34" charset="-122"/>
                <a:cs typeface="MiSans" pitchFamily="34" charset="-120"/>
                <a:sym typeface="+mn-ea"/>
              </a:rPr>
              <a:t>防止生成器对目标域图像进行过度转换</a:t>
            </a:r>
            <a:endParaRPr lang="en-US" sz="1200" dirty="0">
              <a:solidFill>
                <a:schemeClr val="tx1"/>
              </a:solidFill>
            </a:endParaRPr>
          </a:p>
          <a:p>
            <a:endParaRPr lang="en-US" altLang="zh-CN" sz="1200" dirty="0">
              <a:solidFill>
                <a:schemeClr val="tx1"/>
              </a:solidFill>
            </a:endParaRPr>
          </a:p>
        </p:txBody>
      </p:sp>
      <p:sp>
        <p:nvSpPr>
          <p:cNvPr id="9" name="Shape 4"/>
          <p:cNvSpPr/>
          <p:nvPr>
            <p:custDataLst>
              <p:tags r:id="rId5"/>
            </p:custDataLst>
          </p:nvPr>
        </p:nvSpPr>
        <p:spPr>
          <a:xfrm>
            <a:off x="5639435" y="3881120"/>
            <a:ext cx="5034280" cy="1776095"/>
          </a:xfrm>
          <a:custGeom>
            <a:avLst/>
            <a:gdLst/>
            <a:ahLst/>
            <a:cxnLst/>
            <a:rect l="l" t="t" r="r" b="b"/>
            <a:pathLst>
              <a:path w="7561437" h="2375206">
                <a:moveTo>
                  <a:pt x="43582" y="0"/>
                </a:moveTo>
                <a:lnTo>
                  <a:pt x="7430682" y="0"/>
                </a:lnTo>
                <a:cubicBezTo>
                  <a:pt x="7502896" y="0"/>
                  <a:pt x="7561437" y="58541"/>
                  <a:pt x="7561437" y="130755"/>
                </a:cubicBezTo>
                <a:lnTo>
                  <a:pt x="7561437" y="2244451"/>
                </a:lnTo>
                <a:cubicBezTo>
                  <a:pt x="7561437" y="2316665"/>
                  <a:pt x="7502896" y="2375206"/>
                  <a:pt x="7430682" y="2375206"/>
                </a:cubicBezTo>
                <a:lnTo>
                  <a:pt x="43582" y="2375206"/>
                </a:lnTo>
                <a:cubicBezTo>
                  <a:pt x="19512" y="2375206"/>
                  <a:pt x="0" y="2355694"/>
                  <a:pt x="0" y="2331625"/>
                </a:cubicBezTo>
                <a:lnTo>
                  <a:pt x="0" y="43582"/>
                </a:lnTo>
                <a:cubicBezTo>
                  <a:pt x="0" y="19528"/>
                  <a:pt x="19528" y="0"/>
                  <a:pt x="43582" y="0"/>
                </a:cubicBezTo>
                <a:close/>
              </a:path>
            </a:pathLst>
          </a:custGeom>
          <a:solidFill>
            <a:srgbClr val="5F87A7">
              <a:alpha val="10196"/>
            </a:srgbClr>
          </a:solidFill>
        </p:spPr>
        <p:txBody>
          <a:bodyPr/>
          <a:p>
            <a:pPr>
              <a:lnSpc>
                <a:spcPct val="110000"/>
              </a:lnSpc>
            </a:pPr>
            <a:r>
              <a:rPr lang="en-US" b="1" dirty="0">
                <a:solidFill>
                  <a:schemeClr val="accent3">
                    <a:lumMod val="50000"/>
                  </a:schemeClr>
                </a:solidFill>
                <a:latin typeface="MiSans" pitchFamily="34" charset="-122"/>
                <a:ea typeface="MiSans" pitchFamily="34" charset="-122"/>
                <a:cs typeface="MiSans" pitchFamily="34" charset="-120"/>
                <a:sym typeface="+mn-ea"/>
              </a:rPr>
              <a:t>   总损失函数</a:t>
            </a:r>
            <a:endParaRPr lang="en-US" b="1" dirty="0">
              <a:solidFill>
                <a:schemeClr val="accent3">
                  <a:lumMod val="50000"/>
                </a:schemeClr>
              </a:solidFill>
              <a:latin typeface="MiSans" pitchFamily="34" charset="-122"/>
              <a:ea typeface="MiSans" pitchFamily="34" charset="-122"/>
              <a:cs typeface="MiSans" pitchFamily="34" charset="-120"/>
              <a:sym typeface="+mn-ea"/>
            </a:endParaRPr>
          </a:p>
          <a:p>
            <a:pPr>
              <a:lnSpc>
                <a:spcPct val="110000"/>
              </a:lnSpc>
            </a:pPr>
            <a:r>
              <a:rPr lang="en-US" altLang="en-US" b="1" dirty="0">
                <a:solidFill>
                  <a:schemeClr val="accent3">
                    <a:lumMod val="50000"/>
                  </a:schemeClr>
                </a:solidFill>
                <a:latin typeface="MiSans" pitchFamily="34" charset="-122"/>
                <a:ea typeface="MiSans" pitchFamily="34" charset="-122"/>
                <a:cs typeface="MiSans" pitchFamily="34" charset="-120"/>
                <a:sym typeface="+mn-ea"/>
              </a:rPr>
              <a:t>   </a:t>
            </a:r>
            <a:r>
              <a:rPr lang="en-US" sz="1200" dirty="0">
                <a:solidFill>
                  <a:schemeClr val="tx1"/>
                </a:solidFill>
                <a:latin typeface="MiSans" pitchFamily="34" charset="-122"/>
                <a:ea typeface="MiSans" pitchFamily="34" charset="-122"/>
                <a:cs typeface="MiSans" pitchFamily="34" charset="-120"/>
                <a:sym typeface="+mn-ea"/>
              </a:rPr>
              <a:t>四项损失的加权和，平衡各项损失对最终生成效果的影响</a:t>
            </a:r>
            <a:endParaRPr lang="en-US" sz="1200" dirty="0">
              <a:solidFill>
                <a:schemeClr val="tx1"/>
              </a:solidFill>
              <a:latin typeface="MiSans" pitchFamily="34" charset="-122"/>
              <a:ea typeface="MiSans" pitchFamily="34" charset="-122"/>
              <a:cs typeface="MiSans" pitchFamily="34" charset="-120"/>
              <a:sym typeface="+mn-ea"/>
            </a:endParaRPr>
          </a:p>
          <a:p>
            <a:pPr>
              <a:lnSpc>
                <a:spcPct val="110000"/>
              </a:lnSpc>
            </a:pPr>
            <a:endParaRPr lang="en-US" sz="1200" dirty="0">
              <a:solidFill>
                <a:schemeClr val="tx1"/>
              </a:solidFill>
              <a:latin typeface="MiSans" pitchFamily="34" charset="-122"/>
              <a:ea typeface="MiSans" pitchFamily="34" charset="-122"/>
              <a:cs typeface="MiSans" pitchFamily="34" charset="-120"/>
              <a:sym typeface="+mn-ea"/>
            </a:endParaRPr>
          </a:p>
          <a:p>
            <a:pPr>
              <a:lnSpc>
                <a:spcPct val="110000"/>
              </a:lnSpc>
            </a:pPr>
            <a:r>
              <a:rPr lang="en-US" sz="1200" dirty="0">
                <a:solidFill>
                  <a:schemeClr val="tx1"/>
                </a:solidFill>
                <a:latin typeface="MiSans" pitchFamily="34" charset="-122"/>
                <a:ea typeface="MiSans" pitchFamily="34" charset="-122"/>
                <a:cs typeface="MiSans" pitchFamily="34" charset="-120"/>
                <a:sym typeface="+mn-ea"/>
              </a:rPr>
              <a:t>    </a:t>
            </a:r>
            <a:r>
              <a:rPr lang="en-US" sz="1200" dirty="0">
                <a:solidFill>
                  <a:srgbClr val="00B0F0"/>
                </a:solidFill>
                <a:latin typeface="MiSans" pitchFamily="34" charset="-122"/>
                <a:ea typeface="MiSans" pitchFamily="34" charset="-122"/>
                <a:cs typeface="MiSans" pitchFamily="34" charset="-120"/>
                <a:sym typeface="+mn-ea"/>
              </a:rPr>
              <a:t> 𝓛total = 𝓛GAN + λcyc𝓛cyc + λid𝓛identity</a:t>
            </a:r>
            <a:endParaRPr lang="en-US" dirty="0"/>
          </a:p>
          <a:p>
            <a:pPr>
              <a:lnSpc>
                <a:spcPct val="110000"/>
              </a:lnSpc>
            </a:pPr>
            <a:endParaRPr lang="en-US" dirty="0"/>
          </a:p>
          <a:p>
            <a:pPr>
              <a:lnSpc>
                <a:spcPct val="110000"/>
              </a:lnSpc>
            </a:pPr>
            <a:r>
              <a:rPr lang="en-US" altLang="en-US" b="1" dirty="0">
                <a:solidFill>
                  <a:schemeClr val="accent3">
                    <a:lumMod val="50000"/>
                  </a:schemeClr>
                </a:solidFill>
                <a:latin typeface="MiSans" pitchFamily="34" charset="-122"/>
                <a:ea typeface="MiSans" pitchFamily="34" charset="-122"/>
                <a:cs typeface="MiSans" pitchFamily="34" charset="-120"/>
                <a:sym typeface="+mn-ea"/>
              </a:rPr>
              <a:t>    </a:t>
            </a:r>
            <a:r>
              <a:rPr lang="en-US" sz="1200" dirty="0">
                <a:solidFill>
                  <a:schemeClr val="tx1"/>
                </a:solidFill>
                <a:latin typeface="MiSans" pitchFamily="34" charset="-122"/>
                <a:ea typeface="MiSans" pitchFamily="34" charset="-122"/>
                <a:cs typeface="MiSans" pitchFamily="34" charset="-120"/>
                <a:sym typeface="+mn-ea"/>
              </a:rPr>
              <a:t>λcyc = 10.0                      λid = 5.0</a:t>
            </a:r>
            <a:endParaRPr lang="en-US" sz="1200" dirty="0">
              <a:solidFill>
                <a:schemeClr val="tx1"/>
              </a:solidFill>
            </a:endParaRPr>
          </a:p>
          <a:p>
            <a:pPr>
              <a:lnSpc>
                <a:spcPct val="110000"/>
              </a:lnSpc>
            </a:pPr>
            <a:endParaRPr lang="en-US" sz="1200" dirty="0">
              <a:solidFill>
                <a:schemeClr val="tx1"/>
              </a:solidFill>
            </a:endParaRPr>
          </a:p>
          <a:p>
            <a:pPr>
              <a:lnSpc>
                <a:spcPct val="110000"/>
              </a:lnSpc>
            </a:pPr>
            <a:endParaRPr lang="en-US" altLang="en-US" sz="1200" b="1" dirty="0">
              <a:solidFill>
                <a:schemeClr val="tx1"/>
              </a:solidFill>
              <a:latin typeface="MiSans" pitchFamily="34" charset="-122"/>
              <a:ea typeface="MiSans" pitchFamily="34" charset="-122"/>
              <a:cs typeface="MiSans" pitchFamily="34" charset="-120"/>
              <a:sym typeface="+mn-ea"/>
            </a:endParaRPr>
          </a:p>
        </p:txBody>
      </p:sp>
      <p:sp>
        <p:nvSpPr>
          <p:cNvPr id="14" name="Shape 5"/>
          <p:cNvSpPr/>
          <p:nvPr>
            <p:custDataLst>
              <p:tags r:id="rId6"/>
            </p:custDataLst>
          </p:nvPr>
        </p:nvSpPr>
        <p:spPr>
          <a:xfrm flipH="1">
            <a:off x="283845" y="1529080"/>
            <a:ext cx="76200" cy="1776095"/>
          </a:xfrm>
          <a:custGeom>
            <a:avLst/>
            <a:gdLst/>
            <a:ahLst/>
            <a:cxnLst/>
            <a:rect l="l" t="t" r="r" b="b"/>
            <a:pathLst>
              <a:path w="43582" h="2375206">
                <a:moveTo>
                  <a:pt x="43582" y="0"/>
                </a:moveTo>
                <a:lnTo>
                  <a:pt x="43582" y="0"/>
                </a:lnTo>
                <a:lnTo>
                  <a:pt x="43582" y="2375206"/>
                </a:lnTo>
                <a:lnTo>
                  <a:pt x="43582" y="2375206"/>
                </a:lnTo>
                <a:cubicBezTo>
                  <a:pt x="19512" y="2375206"/>
                  <a:pt x="0" y="2355694"/>
                  <a:pt x="0" y="2331625"/>
                </a:cubicBezTo>
                <a:lnTo>
                  <a:pt x="0" y="43582"/>
                </a:lnTo>
                <a:cubicBezTo>
                  <a:pt x="0" y="19528"/>
                  <a:pt x="19528" y="0"/>
                  <a:pt x="43582" y="0"/>
                </a:cubicBezTo>
                <a:close/>
              </a:path>
            </a:pathLst>
          </a:custGeom>
          <a:solidFill>
            <a:schemeClr val="accent3">
              <a:lumMod val="75000"/>
            </a:schemeClr>
          </a:solidFill>
        </p:spPr>
        <p:txBody>
          <a:bodyPr/>
          <a:p>
            <a:endParaRPr lang="zh-CN" altLang="en-US"/>
          </a:p>
        </p:txBody>
      </p:sp>
      <p:sp>
        <p:nvSpPr>
          <p:cNvPr id="16" name="Shape 5"/>
          <p:cNvSpPr/>
          <p:nvPr>
            <p:custDataLst>
              <p:tags r:id="rId7"/>
            </p:custDataLst>
          </p:nvPr>
        </p:nvSpPr>
        <p:spPr>
          <a:xfrm flipH="1">
            <a:off x="285750" y="3859530"/>
            <a:ext cx="76200" cy="1797685"/>
          </a:xfrm>
          <a:custGeom>
            <a:avLst/>
            <a:gdLst/>
            <a:ahLst/>
            <a:cxnLst/>
            <a:rect l="l" t="t" r="r" b="b"/>
            <a:pathLst>
              <a:path w="43582" h="2375206">
                <a:moveTo>
                  <a:pt x="43582" y="0"/>
                </a:moveTo>
                <a:lnTo>
                  <a:pt x="43582" y="0"/>
                </a:lnTo>
                <a:lnTo>
                  <a:pt x="43582" y="2375206"/>
                </a:lnTo>
                <a:lnTo>
                  <a:pt x="43582" y="2375206"/>
                </a:lnTo>
                <a:cubicBezTo>
                  <a:pt x="19512" y="2375206"/>
                  <a:pt x="0" y="2355694"/>
                  <a:pt x="0" y="2331625"/>
                </a:cubicBezTo>
                <a:lnTo>
                  <a:pt x="0" y="43582"/>
                </a:lnTo>
                <a:cubicBezTo>
                  <a:pt x="0" y="19528"/>
                  <a:pt x="19528" y="0"/>
                  <a:pt x="43582" y="0"/>
                </a:cubicBezTo>
                <a:close/>
              </a:path>
            </a:pathLst>
          </a:custGeom>
          <a:solidFill>
            <a:schemeClr val="accent3">
              <a:lumMod val="75000"/>
            </a:schemeClr>
          </a:solidFill>
        </p:spPr>
        <p:txBody>
          <a:bodyPr/>
          <a:p>
            <a:endParaRPr lang="zh-CN" altLang="en-US"/>
          </a:p>
        </p:txBody>
      </p:sp>
      <p:sp>
        <p:nvSpPr>
          <p:cNvPr id="17" name="Shape 5"/>
          <p:cNvSpPr/>
          <p:nvPr>
            <p:custDataLst>
              <p:tags r:id="rId8"/>
            </p:custDataLst>
          </p:nvPr>
        </p:nvSpPr>
        <p:spPr>
          <a:xfrm flipH="1">
            <a:off x="5639435" y="3881120"/>
            <a:ext cx="76200" cy="1776095"/>
          </a:xfrm>
          <a:custGeom>
            <a:avLst/>
            <a:gdLst/>
            <a:ahLst/>
            <a:cxnLst/>
            <a:rect l="l" t="t" r="r" b="b"/>
            <a:pathLst>
              <a:path w="43582" h="2375206">
                <a:moveTo>
                  <a:pt x="43582" y="0"/>
                </a:moveTo>
                <a:lnTo>
                  <a:pt x="43582" y="0"/>
                </a:lnTo>
                <a:lnTo>
                  <a:pt x="43582" y="2375206"/>
                </a:lnTo>
                <a:lnTo>
                  <a:pt x="43582" y="2375206"/>
                </a:lnTo>
                <a:cubicBezTo>
                  <a:pt x="19512" y="2375206"/>
                  <a:pt x="0" y="2355694"/>
                  <a:pt x="0" y="2331625"/>
                </a:cubicBezTo>
                <a:lnTo>
                  <a:pt x="0" y="43582"/>
                </a:lnTo>
                <a:cubicBezTo>
                  <a:pt x="0" y="19528"/>
                  <a:pt x="19528" y="0"/>
                  <a:pt x="43582" y="0"/>
                </a:cubicBezTo>
                <a:close/>
              </a:path>
            </a:pathLst>
          </a:custGeom>
          <a:solidFill>
            <a:schemeClr val="accent3">
              <a:lumMod val="75000"/>
            </a:schemeClr>
          </a:solidFill>
        </p:spPr>
        <p:txBody>
          <a:bodyPr/>
          <a:p>
            <a:endParaRPr lang="zh-CN" altLang="en-US"/>
          </a:p>
        </p:txBody>
      </p:sp>
      <p:sp>
        <p:nvSpPr>
          <p:cNvPr id="18" name="Shape 5"/>
          <p:cNvSpPr/>
          <p:nvPr>
            <p:custDataLst>
              <p:tags r:id="rId9"/>
            </p:custDataLst>
          </p:nvPr>
        </p:nvSpPr>
        <p:spPr>
          <a:xfrm flipH="1">
            <a:off x="5639435" y="1529715"/>
            <a:ext cx="76200" cy="1776095"/>
          </a:xfrm>
          <a:custGeom>
            <a:avLst/>
            <a:gdLst/>
            <a:ahLst/>
            <a:cxnLst/>
            <a:rect l="l" t="t" r="r" b="b"/>
            <a:pathLst>
              <a:path w="43582" h="2375206">
                <a:moveTo>
                  <a:pt x="43582" y="0"/>
                </a:moveTo>
                <a:lnTo>
                  <a:pt x="43582" y="0"/>
                </a:lnTo>
                <a:lnTo>
                  <a:pt x="43582" y="2375206"/>
                </a:lnTo>
                <a:lnTo>
                  <a:pt x="43582" y="2375206"/>
                </a:lnTo>
                <a:cubicBezTo>
                  <a:pt x="19512" y="2375206"/>
                  <a:pt x="0" y="2355694"/>
                  <a:pt x="0" y="2331625"/>
                </a:cubicBezTo>
                <a:lnTo>
                  <a:pt x="0" y="43582"/>
                </a:lnTo>
                <a:cubicBezTo>
                  <a:pt x="0" y="19528"/>
                  <a:pt x="19528" y="0"/>
                  <a:pt x="43582" y="0"/>
                </a:cubicBezTo>
                <a:close/>
              </a:path>
            </a:pathLst>
          </a:custGeom>
          <a:solidFill>
            <a:schemeClr val="accent3">
              <a:lumMod val="75000"/>
            </a:schemeClr>
          </a:solidFill>
        </p:spPr>
        <p:txBody>
          <a:bodyPr/>
          <a:p>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Image 1" descr="https://kimi-img.moonshot.cn/pub/slides/slides_tmpl/image/25-09-08-12:55:42-d2v63jlnfo2stf9dk4rg.png"/>
          <p:cNvPicPr>
            <a:picLocks noChangeAspect="1"/>
          </p:cNvPicPr>
          <p:nvPr/>
        </p:nvPicPr>
        <p:blipFill>
          <a:blip r:embed="rId1"/>
          <a:stretch>
            <a:fillRect/>
          </a:stretch>
        </p:blipFill>
        <p:spPr>
          <a:xfrm>
            <a:off x="15240" y="487045"/>
            <a:ext cx="579755" cy="652145"/>
          </a:xfrm>
          <a:prstGeom prst="rect">
            <a:avLst/>
          </a:prstGeom>
        </p:spPr>
      </p:pic>
      <p:sp>
        <p:nvSpPr>
          <p:cNvPr id="2" name="文本框 1"/>
          <p:cNvSpPr txBox="1"/>
          <p:nvPr/>
        </p:nvSpPr>
        <p:spPr>
          <a:xfrm>
            <a:off x="552450" y="552450"/>
            <a:ext cx="4573270" cy="645160"/>
          </a:xfrm>
          <a:prstGeom prst="rect">
            <a:avLst/>
          </a:prstGeom>
          <a:noFill/>
        </p:spPr>
        <p:txBody>
          <a:bodyPr wrap="square" rtlCol="0">
            <a:spAutoFit/>
          </a:bodyPr>
          <a:p>
            <a:r>
              <a:rPr lang="zh-CN" altLang="en-US" sz="3600" b="1" dirty="0">
                <a:solidFill>
                  <a:srgbClr val="015DBB"/>
                </a:solidFill>
                <a:latin typeface="MiSans" pitchFamily="34" charset="-122"/>
                <a:ea typeface="MiSans" pitchFamily="34" charset="-122"/>
                <a:cs typeface="MiSans" pitchFamily="34" charset="-120"/>
                <a:sym typeface="+mn-ea"/>
              </a:rPr>
              <a:t>性能优化与系统部署</a:t>
            </a:r>
            <a:endParaRPr lang="zh-CN" altLang="en-US" sz="3600" b="1" dirty="0">
              <a:solidFill>
                <a:srgbClr val="015DBB"/>
              </a:solidFill>
              <a:latin typeface="MiSans" pitchFamily="34" charset="-122"/>
              <a:ea typeface="MiSans" pitchFamily="34" charset="-122"/>
              <a:cs typeface="MiSans" pitchFamily="34" charset="-120"/>
              <a:sym typeface="+mn-ea"/>
            </a:endParaRPr>
          </a:p>
        </p:txBody>
      </p:sp>
      <p:sp>
        <p:nvSpPr>
          <p:cNvPr id="9" name="Shape 7"/>
          <p:cNvSpPr/>
          <p:nvPr/>
        </p:nvSpPr>
        <p:spPr>
          <a:xfrm>
            <a:off x="90805" y="1519555"/>
            <a:ext cx="2764155" cy="1243965"/>
          </a:xfrm>
          <a:custGeom>
            <a:avLst/>
            <a:gdLst/>
            <a:ahLst/>
            <a:cxnLst/>
            <a:rect l="l" t="t" r="r" b="b"/>
            <a:pathLst>
              <a:path w="3242407" h="1582734">
                <a:moveTo>
                  <a:pt x="43965" y="0"/>
                </a:moveTo>
                <a:lnTo>
                  <a:pt x="3154470" y="0"/>
                </a:lnTo>
                <a:cubicBezTo>
                  <a:pt x="3203036" y="0"/>
                  <a:pt x="3242407" y="39371"/>
                  <a:pt x="3242407" y="87937"/>
                </a:cubicBezTo>
                <a:lnTo>
                  <a:pt x="3242407" y="1494798"/>
                </a:lnTo>
                <a:cubicBezTo>
                  <a:pt x="3242407" y="1543364"/>
                  <a:pt x="3203036" y="1582734"/>
                  <a:pt x="3154470" y="1582734"/>
                </a:cubicBezTo>
                <a:lnTo>
                  <a:pt x="43965" y="1582734"/>
                </a:lnTo>
                <a:cubicBezTo>
                  <a:pt x="19684" y="1582734"/>
                  <a:pt x="0" y="1563051"/>
                  <a:pt x="0" y="1538769"/>
                </a:cubicBezTo>
                <a:lnTo>
                  <a:pt x="0" y="43965"/>
                </a:lnTo>
                <a:cubicBezTo>
                  <a:pt x="0" y="19684"/>
                  <a:pt x="19684" y="0"/>
                  <a:pt x="43965" y="0"/>
                </a:cubicBezTo>
                <a:close/>
              </a:path>
            </a:pathLst>
          </a:custGeom>
          <a:solidFill>
            <a:srgbClr val="6ED3CF">
              <a:alpha val="10196"/>
            </a:srgbClr>
          </a:solidFill>
        </p:spPr>
        <p:txBody>
          <a:bodyPr/>
          <a:p>
            <a:r>
              <a:rPr lang="en-US" altLang="zh-CN"/>
              <a:t>     </a:t>
            </a:r>
            <a:r>
              <a:rPr lang="en-US" b="1" dirty="0">
                <a:solidFill>
                  <a:schemeClr val="tx1"/>
                </a:solidFill>
                <a:latin typeface="MiSans" pitchFamily="34" charset="-122"/>
                <a:ea typeface="MiSans" pitchFamily="34" charset="-122"/>
                <a:cs typeface="MiSans" pitchFamily="34" charset="-120"/>
                <a:sym typeface="+mn-ea"/>
              </a:rPr>
              <a:t>图像尺寸优化</a:t>
            </a:r>
            <a:r>
              <a:rPr lang="en-US" altLang="zh-CN"/>
              <a:t>  </a:t>
            </a:r>
            <a:endParaRPr lang="en-US" altLang="zh-CN"/>
          </a:p>
          <a:p>
            <a:r>
              <a:rPr lang="en-US" sz="1200" dirty="0">
                <a:solidFill>
                  <a:schemeClr val="tx1"/>
                </a:solidFill>
                <a:latin typeface="MiSans" pitchFamily="34" charset="-122"/>
                <a:ea typeface="MiSans" pitchFamily="34" charset="-122"/>
                <a:cs typeface="MiSans" pitchFamily="34" charset="-120"/>
                <a:sym typeface="+mn-ea"/>
              </a:rPr>
              <a:t>统一调整为256×256像素，平衡生成质量与推理速度</a:t>
            </a:r>
            <a:endParaRPr lang="en-US" sz="1200" dirty="0">
              <a:solidFill>
                <a:schemeClr val="tx1"/>
              </a:solidFill>
              <a:latin typeface="MiSans" pitchFamily="34" charset="-122"/>
              <a:ea typeface="MiSans" pitchFamily="34" charset="-122"/>
              <a:cs typeface="MiSans" pitchFamily="34" charset="-120"/>
              <a:sym typeface="+mn-ea"/>
            </a:endParaRPr>
          </a:p>
          <a:p>
            <a:endParaRPr lang="en-US" sz="1200" dirty="0">
              <a:solidFill>
                <a:schemeClr val="tx1"/>
              </a:solidFill>
              <a:latin typeface="MiSans" pitchFamily="34" charset="-122"/>
              <a:ea typeface="MiSans" pitchFamily="34" charset="-122"/>
              <a:cs typeface="MiSans" pitchFamily="34" charset="-120"/>
              <a:sym typeface="+mn-ea"/>
            </a:endParaRPr>
          </a:p>
          <a:p>
            <a:r>
              <a:rPr lang="en-US" sz="1200" dirty="0">
                <a:solidFill>
                  <a:srgbClr val="0070C0"/>
                </a:solidFill>
                <a:latin typeface="MiSans" pitchFamily="34" charset="-122"/>
                <a:ea typeface="MiSans" pitchFamily="34" charset="-122"/>
                <a:cs typeface="MiSans" pitchFamily="34" charset="-120"/>
                <a:sym typeface="+mn-ea"/>
              </a:rPr>
              <a:t>速度提升: 3倍</a:t>
            </a:r>
            <a:endParaRPr lang="en-US" sz="1200" dirty="0">
              <a:solidFill>
                <a:schemeClr val="tx1"/>
              </a:solidFill>
            </a:endParaRPr>
          </a:p>
          <a:p>
            <a:r>
              <a:rPr lang="en-US" altLang="zh-CN"/>
              <a:t>   </a:t>
            </a:r>
            <a:endParaRPr lang="en-US" altLang="zh-CN"/>
          </a:p>
        </p:txBody>
      </p:sp>
      <p:sp>
        <p:nvSpPr>
          <p:cNvPr id="5" name="Shape 7"/>
          <p:cNvSpPr/>
          <p:nvPr/>
        </p:nvSpPr>
        <p:spPr>
          <a:xfrm>
            <a:off x="90805" y="3688715"/>
            <a:ext cx="2764155" cy="1243965"/>
          </a:xfrm>
          <a:custGeom>
            <a:avLst/>
            <a:gdLst/>
            <a:ahLst/>
            <a:cxnLst/>
            <a:rect l="l" t="t" r="r" b="b"/>
            <a:pathLst>
              <a:path w="3242407" h="1582734">
                <a:moveTo>
                  <a:pt x="43965" y="0"/>
                </a:moveTo>
                <a:lnTo>
                  <a:pt x="3154470" y="0"/>
                </a:lnTo>
                <a:cubicBezTo>
                  <a:pt x="3203036" y="0"/>
                  <a:pt x="3242407" y="39371"/>
                  <a:pt x="3242407" y="87937"/>
                </a:cubicBezTo>
                <a:lnTo>
                  <a:pt x="3242407" y="1494798"/>
                </a:lnTo>
                <a:cubicBezTo>
                  <a:pt x="3242407" y="1543364"/>
                  <a:pt x="3203036" y="1582734"/>
                  <a:pt x="3154470" y="1582734"/>
                </a:cubicBezTo>
                <a:lnTo>
                  <a:pt x="43965" y="1582734"/>
                </a:lnTo>
                <a:cubicBezTo>
                  <a:pt x="19684" y="1582734"/>
                  <a:pt x="0" y="1563051"/>
                  <a:pt x="0" y="1538769"/>
                </a:cubicBezTo>
                <a:lnTo>
                  <a:pt x="0" y="43965"/>
                </a:lnTo>
                <a:cubicBezTo>
                  <a:pt x="0" y="19684"/>
                  <a:pt x="19684" y="0"/>
                  <a:pt x="43965" y="0"/>
                </a:cubicBezTo>
                <a:close/>
              </a:path>
            </a:pathLst>
          </a:custGeom>
          <a:solidFill>
            <a:srgbClr val="6ED3CF">
              <a:alpha val="10196"/>
            </a:srgbClr>
          </a:solidFill>
        </p:spPr>
        <p:txBody>
          <a:bodyPr/>
          <a:p>
            <a:r>
              <a:rPr lang="en-US" altLang="zh-CN"/>
              <a:t>     </a:t>
            </a:r>
            <a:r>
              <a:rPr lang="en-US" b="1" dirty="0">
                <a:solidFill>
                  <a:schemeClr val="tx1"/>
                </a:solidFill>
                <a:latin typeface="MiSans" pitchFamily="34" charset="-122"/>
                <a:ea typeface="MiSans" pitchFamily="34" charset="-122"/>
                <a:cs typeface="MiSans" pitchFamily="34" charset="-120"/>
                <a:sym typeface="+mn-ea"/>
              </a:rPr>
              <a:t>推理加速</a:t>
            </a:r>
            <a:endParaRPr lang="en-US" b="1" dirty="0">
              <a:solidFill>
                <a:schemeClr val="tx1"/>
              </a:solidFill>
              <a:latin typeface="MiSans" pitchFamily="34" charset="-122"/>
              <a:ea typeface="MiSans" pitchFamily="34" charset="-122"/>
              <a:cs typeface="MiSans" pitchFamily="34" charset="-120"/>
              <a:sym typeface="+mn-ea"/>
            </a:endParaRPr>
          </a:p>
          <a:p>
            <a:r>
              <a:rPr lang="en-US" sz="1200" dirty="0">
                <a:solidFill>
                  <a:schemeClr val="tx1"/>
                </a:solidFill>
                <a:latin typeface="MiSans" pitchFamily="34" charset="-122"/>
                <a:ea typeface="MiSans" pitchFamily="34" charset="-122"/>
                <a:cs typeface="MiSans" pitchFamily="34" charset="-120"/>
                <a:sym typeface="+mn-ea"/>
              </a:rPr>
              <a:t>使用ONNX格式优化推理速度，支持多平台部署</a:t>
            </a:r>
            <a:endParaRPr lang="en-US" sz="1200" dirty="0">
              <a:solidFill>
                <a:schemeClr val="tx1"/>
              </a:solidFill>
              <a:latin typeface="MiSans" pitchFamily="34" charset="-122"/>
              <a:ea typeface="MiSans" pitchFamily="34" charset="-122"/>
              <a:cs typeface="MiSans" pitchFamily="34" charset="-120"/>
              <a:sym typeface="+mn-ea"/>
            </a:endParaRPr>
          </a:p>
          <a:p>
            <a:endParaRPr lang="en-US" sz="1200" dirty="0">
              <a:solidFill>
                <a:schemeClr val="tx1"/>
              </a:solidFill>
              <a:latin typeface="MiSans" pitchFamily="34" charset="-122"/>
              <a:ea typeface="MiSans" pitchFamily="34" charset="-122"/>
              <a:cs typeface="MiSans" pitchFamily="34" charset="-120"/>
              <a:sym typeface="+mn-ea"/>
            </a:endParaRPr>
          </a:p>
          <a:p>
            <a:r>
              <a:rPr lang="en-US" sz="1200" dirty="0">
                <a:solidFill>
                  <a:srgbClr val="0070C0"/>
                </a:solidFill>
                <a:latin typeface="MiSans" pitchFamily="34" charset="-122"/>
                <a:ea typeface="MiSans" pitchFamily="34" charset="-122"/>
                <a:cs typeface="MiSans" pitchFamily="34" charset="-120"/>
                <a:sym typeface="+mn-ea"/>
              </a:rPr>
              <a:t>推理加速: 2.5倍</a:t>
            </a:r>
            <a:endParaRPr lang="en-US" sz="1200" dirty="0"/>
          </a:p>
          <a:p>
            <a:endParaRPr lang="en-US" sz="1200" dirty="0">
              <a:solidFill>
                <a:schemeClr val="tx1"/>
              </a:solidFill>
            </a:endParaRPr>
          </a:p>
          <a:p>
            <a:endParaRPr lang="en-US" altLang="zh-CN" sz="1200" b="1" dirty="0">
              <a:solidFill>
                <a:schemeClr val="tx1"/>
              </a:solidFill>
              <a:latin typeface="MiSans" pitchFamily="34" charset="-122"/>
              <a:ea typeface="MiSans" pitchFamily="34" charset="-122"/>
              <a:cs typeface="MiSans" pitchFamily="34" charset="-120"/>
              <a:sym typeface="+mn-ea"/>
            </a:endParaRPr>
          </a:p>
        </p:txBody>
      </p:sp>
      <p:sp>
        <p:nvSpPr>
          <p:cNvPr id="6" name="Shape 7"/>
          <p:cNvSpPr/>
          <p:nvPr/>
        </p:nvSpPr>
        <p:spPr>
          <a:xfrm>
            <a:off x="3225165" y="1519555"/>
            <a:ext cx="2764155" cy="1243965"/>
          </a:xfrm>
          <a:custGeom>
            <a:avLst/>
            <a:gdLst/>
            <a:ahLst/>
            <a:cxnLst/>
            <a:rect l="l" t="t" r="r" b="b"/>
            <a:pathLst>
              <a:path w="3242407" h="1582734">
                <a:moveTo>
                  <a:pt x="43965" y="0"/>
                </a:moveTo>
                <a:lnTo>
                  <a:pt x="3154470" y="0"/>
                </a:lnTo>
                <a:cubicBezTo>
                  <a:pt x="3203036" y="0"/>
                  <a:pt x="3242407" y="39371"/>
                  <a:pt x="3242407" y="87937"/>
                </a:cubicBezTo>
                <a:lnTo>
                  <a:pt x="3242407" y="1494798"/>
                </a:lnTo>
                <a:cubicBezTo>
                  <a:pt x="3242407" y="1543364"/>
                  <a:pt x="3203036" y="1582734"/>
                  <a:pt x="3154470" y="1582734"/>
                </a:cubicBezTo>
                <a:lnTo>
                  <a:pt x="43965" y="1582734"/>
                </a:lnTo>
                <a:cubicBezTo>
                  <a:pt x="19684" y="1582734"/>
                  <a:pt x="0" y="1563051"/>
                  <a:pt x="0" y="1538769"/>
                </a:cubicBezTo>
                <a:lnTo>
                  <a:pt x="0" y="43965"/>
                </a:lnTo>
                <a:cubicBezTo>
                  <a:pt x="0" y="19684"/>
                  <a:pt x="19684" y="0"/>
                  <a:pt x="43965" y="0"/>
                </a:cubicBezTo>
                <a:close/>
              </a:path>
            </a:pathLst>
          </a:custGeom>
          <a:solidFill>
            <a:srgbClr val="6ED3CF">
              <a:alpha val="10196"/>
            </a:srgbClr>
          </a:solidFill>
        </p:spPr>
        <p:txBody>
          <a:bodyPr/>
          <a:p>
            <a:r>
              <a:rPr lang="en-US" altLang="zh-CN"/>
              <a:t>     </a:t>
            </a:r>
            <a:r>
              <a:rPr lang="en-US" b="1" dirty="0">
                <a:solidFill>
                  <a:schemeClr val="tx1"/>
                </a:solidFill>
                <a:latin typeface="MiSans" pitchFamily="34" charset="-122"/>
                <a:ea typeface="MiSans" pitchFamily="34" charset="-122"/>
                <a:cs typeface="MiSans" pitchFamily="34" charset="-120"/>
                <a:sym typeface="+mn-ea"/>
              </a:rPr>
              <a:t>模型压缩</a:t>
            </a:r>
            <a:endParaRPr lang="en-US" b="1" dirty="0">
              <a:solidFill>
                <a:schemeClr val="tx1"/>
              </a:solidFill>
              <a:latin typeface="MiSans" pitchFamily="34" charset="-122"/>
              <a:ea typeface="MiSans" pitchFamily="34" charset="-122"/>
              <a:cs typeface="MiSans" pitchFamily="34" charset="-120"/>
              <a:sym typeface="+mn-ea"/>
            </a:endParaRPr>
          </a:p>
          <a:p>
            <a:r>
              <a:rPr lang="en-US" sz="1200" dirty="0">
                <a:solidFill>
                  <a:schemeClr val="tx1"/>
                </a:solidFill>
                <a:latin typeface="MiSans" pitchFamily="34" charset="-122"/>
                <a:ea typeface="MiSans" pitchFamily="34" charset="-122"/>
                <a:cs typeface="MiSans" pitchFamily="34" charset="-120"/>
                <a:sym typeface="+mn-ea"/>
              </a:rPr>
              <a:t>采用剪枝和量化技术减少模型大小，便于部署</a:t>
            </a:r>
            <a:endParaRPr lang="en-US" sz="1200" dirty="0">
              <a:solidFill>
                <a:schemeClr val="tx1"/>
              </a:solidFill>
              <a:latin typeface="MiSans" pitchFamily="34" charset="-122"/>
              <a:ea typeface="MiSans" pitchFamily="34" charset="-122"/>
              <a:cs typeface="MiSans" pitchFamily="34" charset="-120"/>
              <a:sym typeface="+mn-ea"/>
            </a:endParaRPr>
          </a:p>
          <a:p>
            <a:endParaRPr lang="en-US" altLang="zh-CN" sz="1200" b="1" dirty="0">
              <a:solidFill>
                <a:schemeClr val="tx1"/>
              </a:solidFill>
              <a:latin typeface="MiSans" pitchFamily="34" charset="-122"/>
              <a:ea typeface="MiSans" pitchFamily="34" charset="-122"/>
              <a:cs typeface="MiSans" pitchFamily="34" charset="-120"/>
              <a:sym typeface="+mn-ea"/>
            </a:endParaRPr>
          </a:p>
          <a:p>
            <a:r>
              <a:rPr lang="en-US" sz="1200" dirty="0">
                <a:solidFill>
                  <a:srgbClr val="0070C0"/>
                </a:solidFill>
                <a:latin typeface="MiSans" pitchFamily="34" charset="-122"/>
                <a:ea typeface="MiSans" pitchFamily="34" charset="-122"/>
                <a:cs typeface="MiSans" pitchFamily="34" charset="-120"/>
                <a:sym typeface="+mn-ea"/>
              </a:rPr>
              <a:t>体积减少: 60%</a:t>
            </a:r>
            <a:endParaRPr lang="en-US" sz="1200" dirty="0"/>
          </a:p>
          <a:p>
            <a:endParaRPr lang="en-US" altLang="zh-CN" sz="1200" b="1" dirty="0">
              <a:solidFill>
                <a:schemeClr val="tx1"/>
              </a:solidFill>
              <a:latin typeface="MiSans" pitchFamily="34" charset="-122"/>
              <a:ea typeface="MiSans" pitchFamily="34" charset="-122"/>
              <a:cs typeface="MiSans" pitchFamily="34" charset="-120"/>
              <a:sym typeface="+mn-ea"/>
            </a:endParaRPr>
          </a:p>
        </p:txBody>
      </p:sp>
      <p:sp>
        <p:nvSpPr>
          <p:cNvPr id="7" name="Shape 0"/>
          <p:cNvSpPr/>
          <p:nvPr/>
        </p:nvSpPr>
        <p:spPr>
          <a:xfrm>
            <a:off x="6870700" y="4445"/>
            <a:ext cx="5321300" cy="6854190"/>
          </a:xfrm>
          <a:custGeom>
            <a:avLst/>
            <a:gdLst/>
            <a:ahLst/>
            <a:cxnLst/>
            <a:rect l="l" t="t" r="r" b="b"/>
            <a:pathLst>
              <a:path w="5321300" h="6854190">
                <a:moveTo>
                  <a:pt x="853585" y="0"/>
                </a:moveTo>
                <a:lnTo>
                  <a:pt x="5321300" y="0"/>
                </a:lnTo>
                <a:lnTo>
                  <a:pt x="5321300" y="6854190"/>
                </a:lnTo>
                <a:lnTo>
                  <a:pt x="916820" y="6854190"/>
                </a:lnTo>
                <a:lnTo>
                  <a:pt x="813147" y="6679520"/>
                </a:lnTo>
                <a:cubicBezTo>
                  <a:pt x="305157" y="5781193"/>
                  <a:pt x="0" y="4629518"/>
                  <a:pt x="0" y="3373826"/>
                </a:cubicBezTo>
                <a:cubicBezTo>
                  <a:pt x="0" y="2118134"/>
                  <a:pt x="305157" y="966458"/>
                  <a:pt x="813146" y="68131"/>
                </a:cubicBezTo>
                <a:close/>
              </a:path>
            </a:pathLst>
          </a:custGeom>
          <a:solidFill>
            <a:srgbClr val="015DBB"/>
          </a:solidFill>
        </p:spPr>
        <p:txBody>
          <a:bodyPr/>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r>
              <a:rPr lang="en-US" altLang="zh-CN"/>
              <a:t>                </a:t>
            </a:r>
            <a:r>
              <a:rPr lang="en-US" dirty="0">
                <a:solidFill>
                  <a:srgbClr val="FFFF00"/>
                </a:solidFill>
                <a:latin typeface="MiSans" pitchFamily="34" charset="-122"/>
                <a:ea typeface="MiSans" pitchFamily="34" charset="-122"/>
                <a:cs typeface="MiSans" pitchFamily="34" charset="-120"/>
                <a:sym typeface="+mn-ea"/>
              </a:rPr>
              <a:t>使用Gradio框架构建用户友好的Web界面</a:t>
            </a:r>
            <a:endParaRPr lang="en-US" dirty="0"/>
          </a:p>
          <a:p>
            <a:endParaRPr lang="en-US" altLang="zh-CN"/>
          </a:p>
        </p:txBody>
      </p:sp>
      <p:pic>
        <p:nvPicPr>
          <p:cNvPr id="8" name="Image 0" descr="https://kimi-web-img.moonshot.cn/img/pic4.zhimg.com/19440c21dc5017505833dcfcd5428e63f58d73dd.jpg"/>
          <p:cNvPicPr>
            <a:picLocks noChangeAspect="1"/>
          </p:cNvPicPr>
          <p:nvPr/>
        </p:nvPicPr>
        <p:blipFill>
          <a:blip r:embed="rId2"/>
          <a:srcRect t="19" b="19"/>
          <a:stretch>
            <a:fillRect/>
          </a:stretch>
        </p:blipFill>
        <p:spPr>
          <a:xfrm>
            <a:off x="7706120" y="1445882"/>
            <a:ext cx="4154677" cy="2813750"/>
          </a:xfrm>
          <a:prstGeom prst="roundRect">
            <a:avLst>
              <a:gd name="adj" fmla="val 3125"/>
            </a:avLst>
          </a:prstGeom>
        </p:spPr>
      </p:pic>
      <p:sp>
        <p:nvSpPr>
          <p:cNvPr id="11" name="Shape 9"/>
          <p:cNvSpPr/>
          <p:nvPr/>
        </p:nvSpPr>
        <p:spPr>
          <a:xfrm>
            <a:off x="209217" y="1577580"/>
            <a:ext cx="192346" cy="219824"/>
          </a:xfrm>
          <a:custGeom>
            <a:avLst/>
            <a:gdLst/>
            <a:ahLst/>
            <a:cxnLst/>
            <a:rect l="l" t="t" r="r" b="b"/>
            <a:pathLst>
              <a:path w="192346" h="219824">
                <a:moveTo>
                  <a:pt x="13739" y="13739"/>
                </a:moveTo>
                <a:cubicBezTo>
                  <a:pt x="6140" y="13739"/>
                  <a:pt x="0" y="19879"/>
                  <a:pt x="0" y="27478"/>
                </a:cubicBezTo>
                <a:lnTo>
                  <a:pt x="0" y="68695"/>
                </a:lnTo>
                <a:cubicBezTo>
                  <a:pt x="0" y="76294"/>
                  <a:pt x="6140" y="82434"/>
                  <a:pt x="13739" y="82434"/>
                </a:cubicBezTo>
                <a:cubicBezTo>
                  <a:pt x="21338" y="82434"/>
                  <a:pt x="27478" y="76294"/>
                  <a:pt x="27478" y="68695"/>
                </a:cubicBezTo>
                <a:lnTo>
                  <a:pt x="27478" y="41217"/>
                </a:lnTo>
                <a:lnTo>
                  <a:pt x="54956" y="41217"/>
                </a:lnTo>
                <a:cubicBezTo>
                  <a:pt x="62555" y="41217"/>
                  <a:pt x="68695" y="35077"/>
                  <a:pt x="68695" y="27478"/>
                </a:cubicBezTo>
                <a:cubicBezTo>
                  <a:pt x="68695" y="19879"/>
                  <a:pt x="62555" y="13739"/>
                  <a:pt x="54956" y="13739"/>
                </a:cubicBezTo>
                <a:lnTo>
                  <a:pt x="13739" y="13739"/>
                </a:lnTo>
                <a:close/>
                <a:moveTo>
                  <a:pt x="27478" y="151129"/>
                </a:moveTo>
                <a:cubicBezTo>
                  <a:pt x="27478" y="143530"/>
                  <a:pt x="21338" y="137390"/>
                  <a:pt x="13739" y="137390"/>
                </a:cubicBezTo>
                <a:cubicBezTo>
                  <a:pt x="6140" y="137390"/>
                  <a:pt x="0" y="143530"/>
                  <a:pt x="0" y="151129"/>
                </a:cubicBezTo>
                <a:lnTo>
                  <a:pt x="0" y="192346"/>
                </a:lnTo>
                <a:cubicBezTo>
                  <a:pt x="0" y="199946"/>
                  <a:pt x="6140" y="206085"/>
                  <a:pt x="13739" y="206085"/>
                </a:cubicBezTo>
                <a:lnTo>
                  <a:pt x="54956" y="206085"/>
                </a:lnTo>
                <a:cubicBezTo>
                  <a:pt x="62555" y="206085"/>
                  <a:pt x="68695" y="199946"/>
                  <a:pt x="68695" y="192346"/>
                </a:cubicBezTo>
                <a:cubicBezTo>
                  <a:pt x="68695" y="184747"/>
                  <a:pt x="62555" y="178607"/>
                  <a:pt x="54956" y="178607"/>
                </a:cubicBezTo>
                <a:lnTo>
                  <a:pt x="27478" y="178607"/>
                </a:lnTo>
                <a:lnTo>
                  <a:pt x="27478" y="151129"/>
                </a:lnTo>
                <a:close/>
                <a:moveTo>
                  <a:pt x="137390" y="13739"/>
                </a:moveTo>
                <a:cubicBezTo>
                  <a:pt x="129791" y="13739"/>
                  <a:pt x="123651" y="19879"/>
                  <a:pt x="123651" y="27478"/>
                </a:cubicBezTo>
                <a:cubicBezTo>
                  <a:pt x="123651" y="35077"/>
                  <a:pt x="129791" y="41217"/>
                  <a:pt x="137390" y="41217"/>
                </a:cubicBezTo>
                <a:lnTo>
                  <a:pt x="164868" y="41217"/>
                </a:lnTo>
                <a:lnTo>
                  <a:pt x="164868" y="68695"/>
                </a:lnTo>
                <a:cubicBezTo>
                  <a:pt x="164868" y="76294"/>
                  <a:pt x="171008" y="82434"/>
                  <a:pt x="178607" y="82434"/>
                </a:cubicBezTo>
                <a:cubicBezTo>
                  <a:pt x="186207" y="82434"/>
                  <a:pt x="192346" y="76294"/>
                  <a:pt x="192346" y="68695"/>
                </a:cubicBezTo>
                <a:lnTo>
                  <a:pt x="192346" y="27478"/>
                </a:lnTo>
                <a:cubicBezTo>
                  <a:pt x="192346" y="19879"/>
                  <a:pt x="186207" y="13739"/>
                  <a:pt x="178607" y="13739"/>
                </a:cubicBezTo>
                <a:lnTo>
                  <a:pt x="137390" y="13739"/>
                </a:lnTo>
                <a:close/>
                <a:moveTo>
                  <a:pt x="192346" y="151129"/>
                </a:moveTo>
                <a:cubicBezTo>
                  <a:pt x="192346" y="143530"/>
                  <a:pt x="186207" y="137390"/>
                  <a:pt x="178607" y="137390"/>
                </a:cubicBezTo>
                <a:cubicBezTo>
                  <a:pt x="171008" y="137390"/>
                  <a:pt x="164868" y="143530"/>
                  <a:pt x="164868" y="151129"/>
                </a:cubicBezTo>
                <a:lnTo>
                  <a:pt x="164868" y="178607"/>
                </a:lnTo>
                <a:lnTo>
                  <a:pt x="137390" y="178607"/>
                </a:lnTo>
                <a:cubicBezTo>
                  <a:pt x="129791" y="178607"/>
                  <a:pt x="123651" y="184747"/>
                  <a:pt x="123651" y="192346"/>
                </a:cubicBezTo>
                <a:cubicBezTo>
                  <a:pt x="123651" y="199946"/>
                  <a:pt x="129791" y="206085"/>
                  <a:pt x="137390" y="206085"/>
                </a:cubicBezTo>
                <a:lnTo>
                  <a:pt x="178607" y="206085"/>
                </a:lnTo>
                <a:cubicBezTo>
                  <a:pt x="186207" y="206085"/>
                  <a:pt x="192346" y="199946"/>
                  <a:pt x="192346" y="192346"/>
                </a:cubicBezTo>
                <a:lnTo>
                  <a:pt x="192346" y="151129"/>
                </a:lnTo>
                <a:close/>
              </a:path>
            </a:pathLst>
          </a:custGeom>
          <a:solidFill>
            <a:schemeClr val="accent3">
              <a:lumMod val="75000"/>
            </a:schemeClr>
          </a:solidFill>
        </p:spPr>
      </p:sp>
      <p:sp>
        <p:nvSpPr>
          <p:cNvPr id="17" name="Shape 15"/>
          <p:cNvSpPr/>
          <p:nvPr/>
        </p:nvSpPr>
        <p:spPr>
          <a:xfrm>
            <a:off x="3350046" y="1578215"/>
            <a:ext cx="219824" cy="219824"/>
          </a:xfrm>
          <a:custGeom>
            <a:avLst/>
            <a:gdLst/>
            <a:ahLst/>
            <a:cxnLst/>
            <a:rect l="l" t="t" r="r" b="b"/>
            <a:pathLst>
              <a:path w="219824" h="219824">
                <a:moveTo>
                  <a:pt x="82434" y="109912"/>
                </a:moveTo>
                <a:lnTo>
                  <a:pt x="65475" y="126871"/>
                </a:lnTo>
                <a:cubicBezTo>
                  <a:pt x="60065" y="124767"/>
                  <a:pt x="54226" y="123651"/>
                  <a:pt x="48087" y="123651"/>
                </a:cubicBezTo>
                <a:cubicBezTo>
                  <a:pt x="21510" y="123651"/>
                  <a:pt x="0" y="145161"/>
                  <a:pt x="0" y="171738"/>
                </a:cubicBezTo>
                <a:cubicBezTo>
                  <a:pt x="0" y="198314"/>
                  <a:pt x="21510" y="219824"/>
                  <a:pt x="48087" y="219824"/>
                </a:cubicBezTo>
                <a:cubicBezTo>
                  <a:pt x="74663" y="219824"/>
                  <a:pt x="96173" y="198314"/>
                  <a:pt x="96173" y="171738"/>
                </a:cubicBezTo>
                <a:cubicBezTo>
                  <a:pt x="96173" y="165598"/>
                  <a:pt x="95014" y="159759"/>
                  <a:pt x="92953" y="154349"/>
                </a:cubicBezTo>
                <a:lnTo>
                  <a:pt x="214329" y="32974"/>
                </a:lnTo>
                <a:cubicBezTo>
                  <a:pt x="217377" y="29925"/>
                  <a:pt x="217377" y="25031"/>
                  <a:pt x="214329" y="21982"/>
                </a:cubicBezTo>
                <a:cubicBezTo>
                  <a:pt x="202178" y="9832"/>
                  <a:pt x="182514" y="9832"/>
                  <a:pt x="170364" y="21982"/>
                </a:cubicBezTo>
                <a:lnTo>
                  <a:pt x="109912" y="82434"/>
                </a:lnTo>
                <a:lnTo>
                  <a:pt x="92953" y="65475"/>
                </a:lnTo>
                <a:cubicBezTo>
                  <a:pt x="95057" y="60065"/>
                  <a:pt x="96173" y="54226"/>
                  <a:pt x="96173" y="48087"/>
                </a:cubicBezTo>
                <a:cubicBezTo>
                  <a:pt x="96173" y="21510"/>
                  <a:pt x="74663" y="0"/>
                  <a:pt x="48087" y="0"/>
                </a:cubicBezTo>
                <a:cubicBezTo>
                  <a:pt x="21510" y="0"/>
                  <a:pt x="0" y="21510"/>
                  <a:pt x="0" y="48087"/>
                </a:cubicBezTo>
                <a:cubicBezTo>
                  <a:pt x="0" y="74663"/>
                  <a:pt x="21510" y="96173"/>
                  <a:pt x="48087" y="96173"/>
                </a:cubicBezTo>
                <a:cubicBezTo>
                  <a:pt x="54226" y="96173"/>
                  <a:pt x="60065" y="95014"/>
                  <a:pt x="65475" y="92953"/>
                </a:cubicBezTo>
                <a:lnTo>
                  <a:pt x="82434" y="109912"/>
                </a:lnTo>
                <a:close/>
                <a:moveTo>
                  <a:pt x="124467" y="151945"/>
                </a:moveTo>
                <a:lnTo>
                  <a:pt x="170364" y="197842"/>
                </a:lnTo>
                <a:cubicBezTo>
                  <a:pt x="182514" y="209992"/>
                  <a:pt x="202178" y="209992"/>
                  <a:pt x="214329" y="197842"/>
                </a:cubicBezTo>
                <a:cubicBezTo>
                  <a:pt x="217377" y="194793"/>
                  <a:pt x="217377" y="189899"/>
                  <a:pt x="214329" y="186851"/>
                </a:cubicBezTo>
                <a:lnTo>
                  <a:pt x="151945" y="124467"/>
                </a:lnTo>
                <a:lnTo>
                  <a:pt x="124467" y="151945"/>
                </a:lnTo>
                <a:close/>
                <a:moveTo>
                  <a:pt x="27478" y="48087"/>
                </a:moveTo>
                <a:cubicBezTo>
                  <a:pt x="27478" y="36712"/>
                  <a:pt x="36712" y="27478"/>
                  <a:pt x="48087" y="27478"/>
                </a:cubicBezTo>
                <a:cubicBezTo>
                  <a:pt x="59461" y="27478"/>
                  <a:pt x="68695" y="36712"/>
                  <a:pt x="68695" y="48087"/>
                </a:cubicBezTo>
                <a:cubicBezTo>
                  <a:pt x="68695" y="59461"/>
                  <a:pt x="59461" y="68695"/>
                  <a:pt x="48087" y="68695"/>
                </a:cubicBezTo>
                <a:cubicBezTo>
                  <a:pt x="36712" y="68695"/>
                  <a:pt x="27478" y="59461"/>
                  <a:pt x="27478" y="48087"/>
                </a:cubicBezTo>
                <a:close/>
                <a:moveTo>
                  <a:pt x="48087" y="151129"/>
                </a:moveTo>
                <a:cubicBezTo>
                  <a:pt x="59461" y="151129"/>
                  <a:pt x="68695" y="160364"/>
                  <a:pt x="68695" y="171738"/>
                </a:cubicBezTo>
                <a:cubicBezTo>
                  <a:pt x="68695" y="183112"/>
                  <a:pt x="59461" y="192346"/>
                  <a:pt x="48087" y="192346"/>
                </a:cubicBezTo>
                <a:cubicBezTo>
                  <a:pt x="36712" y="192346"/>
                  <a:pt x="27478" y="183112"/>
                  <a:pt x="27478" y="171738"/>
                </a:cubicBezTo>
                <a:cubicBezTo>
                  <a:pt x="27478" y="160364"/>
                  <a:pt x="36712" y="151129"/>
                  <a:pt x="48087" y="151129"/>
                </a:cubicBezTo>
                <a:close/>
              </a:path>
            </a:pathLst>
          </a:custGeom>
          <a:solidFill>
            <a:schemeClr val="accent3">
              <a:lumMod val="75000"/>
            </a:schemeClr>
          </a:solidFill>
        </p:spPr>
      </p:sp>
      <p:sp>
        <p:nvSpPr>
          <p:cNvPr id="23" name="Shape 21"/>
          <p:cNvSpPr/>
          <p:nvPr/>
        </p:nvSpPr>
        <p:spPr>
          <a:xfrm>
            <a:off x="208993" y="3747375"/>
            <a:ext cx="192346" cy="219824"/>
          </a:xfrm>
          <a:custGeom>
            <a:avLst/>
            <a:gdLst/>
            <a:ahLst/>
            <a:cxnLst/>
            <a:rect l="l" t="t" r="r" b="b"/>
            <a:pathLst>
              <a:path w="192346" h="219824">
                <a:moveTo>
                  <a:pt x="145462" y="-4251"/>
                </a:moveTo>
                <a:cubicBezTo>
                  <a:pt x="150571" y="-558"/>
                  <a:pt x="152460" y="6140"/>
                  <a:pt x="150142" y="11979"/>
                </a:cubicBezTo>
                <a:lnTo>
                  <a:pt x="116481" y="96173"/>
                </a:lnTo>
                <a:lnTo>
                  <a:pt x="178607" y="96173"/>
                </a:lnTo>
                <a:cubicBezTo>
                  <a:pt x="184403" y="96173"/>
                  <a:pt x="189555" y="99780"/>
                  <a:pt x="191530" y="105232"/>
                </a:cubicBezTo>
                <a:cubicBezTo>
                  <a:pt x="193505" y="110685"/>
                  <a:pt x="191831" y="116782"/>
                  <a:pt x="187409" y="120474"/>
                </a:cubicBezTo>
                <a:lnTo>
                  <a:pt x="63758" y="223517"/>
                </a:lnTo>
                <a:cubicBezTo>
                  <a:pt x="58906" y="227552"/>
                  <a:pt x="51994" y="227767"/>
                  <a:pt x="46884" y="224075"/>
                </a:cubicBezTo>
                <a:cubicBezTo>
                  <a:pt x="41775" y="220382"/>
                  <a:pt x="39886" y="213685"/>
                  <a:pt x="42205" y="207846"/>
                </a:cubicBezTo>
                <a:lnTo>
                  <a:pt x="75865" y="123651"/>
                </a:lnTo>
                <a:lnTo>
                  <a:pt x="13739" y="123651"/>
                </a:lnTo>
                <a:cubicBezTo>
                  <a:pt x="7943" y="123651"/>
                  <a:pt x="2791" y="120045"/>
                  <a:pt x="816" y="114592"/>
                </a:cubicBezTo>
                <a:cubicBezTo>
                  <a:pt x="-1159" y="109139"/>
                  <a:pt x="515" y="103043"/>
                  <a:pt x="4937" y="99350"/>
                </a:cubicBezTo>
                <a:lnTo>
                  <a:pt x="128589" y="-3692"/>
                </a:lnTo>
                <a:cubicBezTo>
                  <a:pt x="133440" y="-7728"/>
                  <a:pt x="140353" y="-7943"/>
                  <a:pt x="145462" y="-4251"/>
                </a:cubicBezTo>
                <a:close/>
              </a:path>
            </a:pathLst>
          </a:custGeom>
          <a:solidFill>
            <a:schemeClr val="accent3">
              <a:lumMod val="75000"/>
            </a:schemeClr>
          </a:solidFill>
        </p:spPr>
        <p:txBody>
          <a:bodyPr/>
          <a:p>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8-12:55:41-d2v63jdnfo2stf9dk4q0.png"/>
          <p:cNvPicPr>
            <a:picLocks noChangeAspect="1"/>
          </p:cNvPicPr>
          <p:nvPr/>
        </p:nvPicPr>
        <p:blipFill>
          <a:blip r:embed="rId1"/>
          <a:stretch>
            <a:fillRect/>
          </a:stretch>
        </p:blipFill>
        <p:spPr>
          <a:xfrm>
            <a:off x="0" y="4660265"/>
            <a:ext cx="12192635" cy="2197735"/>
          </a:xfrm>
          <a:prstGeom prst="rect">
            <a:avLst/>
          </a:prstGeom>
        </p:spPr>
      </p:pic>
      <p:sp>
        <p:nvSpPr>
          <p:cNvPr id="3" name="Text 0"/>
          <p:cNvSpPr/>
          <p:nvPr/>
        </p:nvSpPr>
        <p:spPr>
          <a:xfrm>
            <a:off x="3332163" y="3239770"/>
            <a:ext cx="5956935" cy="736600"/>
          </a:xfrm>
          <a:prstGeom prst="rect">
            <a:avLst/>
          </a:prstGeom>
          <a:noFill/>
        </p:spPr>
        <p:txBody>
          <a:bodyPr wrap="square" lIns="91440" tIns="45720" rIns="91440" bIns="45720" rtlCol="0" anchor="t">
            <a:spAutoFit/>
          </a:bodyPr>
          <a:lstStyle/>
          <a:p>
            <a:pPr algn="ctr">
              <a:lnSpc>
                <a:spcPct val="100000"/>
              </a:lnSpc>
            </a:pPr>
            <a:r>
              <a:rPr lang="en-US" sz="4800" b="1" dirty="0">
                <a:solidFill>
                  <a:srgbClr val="015DBB"/>
                </a:solidFill>
                <a:latin typeface="MiSans" pitchFamily="34" charset="-122"/>
                <a:ea typeface="MiSans" pitchFamily="34" charset="-122"/>
                <a:cs typeface="MiSans" pitchFamily="34" charset="-120"/>
              </a:rPr>
              <a:t>总结与展望</a:t>
            </a:r>
            <a:endParaRPr lang="en-US" sz="1600" dirty="0"/>
          </a:p>
        </p:txBody>
      </p:sp>
      <p:sp>
        <p:nvSpPr>
          <p:cNvPr id="4" name="Text 1"/>
          <p:cNvSpPr/>
          <p:nvPr/>
        </p:nvSpPr>
        <p:spPr>
          <a:xfrm>
            <a:off x="3332163" y="1433195"/>
            <a:ext cx="5956935" cy="1568450"/>
          </a:xfrm>
          <a:prstGeom prst="rect">
            <a:avLst/>
          </a:prstGeom>
          <a:noFill/>
        </p:spPr>
        <p:txBody>
          <a:bodyPr wrap="square" lIns="91440" tIns="45720" rIns="91440" bIns="45720" rtlCol="0" anchor="t">
            <a:spAutoFit/>
          </a:bodyPr>
          <a:lstStyle/>
          <a:p>
            <a:pPr algn="ctr">
              <a:lnSpc>
                <a:spcPct val="100000"/>
              </a:lnSpc>
            </a:pPr>
            <a:r>
              <a:rPr lang="en-US" sz="9600" b="1" dirty="0">
                <a:solidFill>
                  <a:srgbClr val="015DBB"/>
                </a:solidFill>
                <a:latin typeface="MiSans" pitchFamily="34" charset="-122"/>
                <a:ea typeface="MiSans" pitchFamily="34" charset="-122"/>
                <a:cs typeface="MiSans" pitchFamily="34" charset="-120"/>
              </a:rPr>
              <a:t>04</a:t>
            </a:r>
            <a:endParaRPr lang="en-US" sz="1600" dirty="0"/>
          </a:p>
        </p:txBody>
      </p:sp>
      <p:pic>
        <p:nvPicPr>
          <p:cNvPr id="5" name="Image 1" descr="https://kimi-img.moonshot.cn/pub/slides/slides_tmpl/image/25-09-08-12:55:40-d2v63j5nfo2stf9dk4mg.png"/>
          <p:cNvPicPr>
            <a:picLocks noChangeAspect="1"/>
          </p:cNvPicPr>
          <p:nvPr/>
        </p:nvPicPr>
        <p:blipFill>
          <a:blip r:embed="rId2"/>
          <a:srcRect t="1192" b="1192"/>
          <a:stretch>
            <a:fillRect/>
          </a:stretch>
        </p:blipFill>
        <p:spPr>
          <a:xfrm>
            <a:off x="5251133" y="1950720"/>
            <a:ext cx="2118995" cy="1132205"/>
          </a:xfrm>
          <a:prstGeom prst="rect">
            <a:avLst/>
          </a:prstGeom>
        </p:spPr>
      </p:pic>
      <p:pic>
        <p:nvPicPr>
          <p:cNvPr id="6" name="Image 2" descr="https://kimi-img.moonshot.cn/pub/slides/slides_tmpl/image/25-09-08-12:55:57-d2v63ndnfo2stf9dk540.png"/>
          <p:cNvPicPr>
            <a:picLocks noChangeAspect="1"/>
          </p:cNvPicPr>
          <p:nvPr/>
        </p:nvPicPr>
        <p:blipFill>
          <a:blip r:embed="rId3"/>
          <a:srcRect t="22162"/>
          <a:stretch>
            <a:fillRect/>
          </a:stretch>
        </p:blipFill>
        <p:spPr>
          <a:xfrm>
            <a:off x="533400" y="1191895"/>
            <a:ext cx="3402965" cy="2649220"/>
          </a:xfrm>
          <a:prstGeom prst="rect">
            <a:avLst/>
          </a:prstGeom>
        </p:spPr>
      </p:pic>
      <p:pic>
        <p:nvPicPr>
          <p:cNvPr id="7" name="Image 3" descr="https://kimi-img.moonshot.cn/pub/slides/slides_tmpl/image/25-09-08-12:55:57-d2v63ndnfo2stf9dk540.png"/>
          <p:cNvPicPr>
            <a:picLocks noChangeAspect="1"/>
          </p:cNvPicPr>
          <p:nvPr/>
        </p:nvPicPr>
        <p:blipFill>
          <a:blip r:embed="rId3">
            <a:alphaModFix amt="30000"/>
          </a:blip>
          <a:srcRect t="22162"/>
          <a:stretch>
            <a:fillRect/>
          </a:stretch>
        </p:blipFill>
        <p:spPr>
          <a:xfrm flipH="1">
            <a:off x="8581390" y="779780"/>
            <a:ext cx="3402965" cy="2649220"/>
          </a:xfrm>
          <a:prstGeom prst="rect">
            <a:avLst/>
          </a:prstGeom>
        </p:spPr>
      </p:pic>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1031240" y="1827530"/>
            <a:ext cx="19050" cy="4343400"/>
          </a:xfrm>
          <a:prstGeom prst="line">
            <a:avLst/>
          </a:prstGeom>
          <a:noFill/>
          <a:ln w="12700">
            <a:solidFill>
              <a:srgbClr val="404040"/>
            </a:solidFill>
            <a:prstDash val="dash"/>
            <a:headEnd type="none"/>
            <a:tailEnd type="none"/>
          </a:ln>
        </p:spPr>
      </p:sp>
      <p:sp>
        <p:nvSpPr>
          <p:cNvPr id="4" name="Shape 1"/>
          <p:cNvSpPr/>
          <p:nvPr>
            <p:custDataLst>
              <p:tags r:id="rId2"/>
            </p:custDataLst>
          </p:nvPr>
        </p:nvSpPr>
        <p:spPr>
          <a:xfrm>
            <a:off x="897890" y="1560830"/>
            <a:ext cx="266700" cy="266700"/>
          </a:xfrm>
          <a:prstGeom prst="ellipse">
            <a:avLst/>
          </a:prstGeom>
          <a:solidFill>
            <a:srgbClr val="015DBB"/>
          </a:solidFill>
        </p:spPr>
      </p:sp>
      <p:sp>
        <p:nvSpPr>
          <p:cNvPr id="5" name="Text 2"/>
          <p:cNvSpPr/>
          <p:nvPr/>
        </p:nvSpPr>
        <p:spPr>
          <a:xfrm>
            <a:off x="897890" y="1560830"/>
            <a:ext cx="266700" cy="266700"/>
          </a:xfrm>
          <a:prstGeom prst="rect">
            <a:avLst/>
          </a:prstGeom>
          <a:noFill/>
        </p:spPr>
        <p:txBody>
          <a:bodyPr wrap="square" lIns="45720" tIns="91440" rIns="91440" bIns="45720" rtlCol="0" anchor="ctr"/>
          <a:lstStyle/>
          <a:p>
            <a:pPr>
              <a:lnSpc>
                <a:spcPct val="100000"/>
              </a:lnSpc>
            </a:pPr>
            <a:endParaRPr lang="en-US" sz="1600" dirty="0"/>
          </a:p>
        </p:txBody>
      </p:sp>
      <p:sp>
        <p:nvSpPr>
          <p:cNvPr id="6" name="Shape 3"/>
          <p:cNvSpPr/>
          <p:nvPr>
            <p:custDataLst>
              <p:tags r:id="rId3"/>
            </p:custDataLst>
          </p:nvPr>
        </p:nvSpPr>
        <p:spPr>
          <a:xfrm>
            <a:off x="897890" y="3202305"/>
            <a:ext cx="266700" cy="266700"/>
          </a:xfrm>
          <a:prstGeom prst="ellipse">
            <a:avLst/>
          </a:prstGeom>
          <a:solidFill>
            <a:srgbClr val="015DBB"/>
          </a:solidFill>
        </p:spPr>
      </p:sp>
      <p:sp>
        <p:nvSpPr>
          <p:cNvPr id="7" name="Text 4"/>
          <p:cNvSpPr/>
          <p:nvPr/>
        </p:nvSpPr>
        <p:spPr>
          <a:xfrm>
            <a:off x="897890" y="3202305"/>
            <a:ext cx="266700" cy="266700"/>
          </a:xfrm>
          <a:prstGeom prst="rect">
            <a:avLst/>
          </a:prstGeom>
          <a:noFill/>
        </p:spPr>
        <p:txBody>
          <a:bodyPr wrap="square" lIns="45720" tIns="91440" rIns="91440" bIns="45720" rtlCol="0" anchor="ctr"/>
          <a:lstStyle/>
          <a:p>
            <a:pPr>
              <a:lnSpc>
                <a:spcPct val="100000"/>
              </a:lnSpc>
            </a:pPr>
            <a:endParaRPr lang="en-US" sz="1600" dirty="0"/>
          </a:p>
        </p:txBody>
      </p:sp>
      <p:sp>
        <p:nvSpPr>
          <p:cNvPr id="8" name="Shape 5"/>
          <p:cNvSpPr/>
          <p:nvPr>
            <p:custDataLst>
              <p:tags r:id="rId4"/>
            </p:custDataLst>
          </p:nvPr>
        </p:nvSpPr>
        <p:spPr>
          <a:xfrm>
            <a:off x="897890" y="4843780"/>
            <a:ext cx="266700" cy="266700"/>
          </a:xfrm>
          <a:prstGeom prst="ellipse">
            <a:avLst/>
          </a:prstGeom>
          <a:solidFill>
            <a:srgbClr val="015DBB"/>
          </a:solidFill>
        </p:spPr>
      </p:sp>
      <p:sp>
        <p:nvSpPr>
          <p:cNvPr id="9" name="Text 6"/>
          <p:cNvSpPr/>
          <p:nvPr/>
        </p:nvSpPr>
        <p:spPr>
          <a:xfrm>
            <a:off x="897890" y="4843780"/>
            <a:ext cx="266700" cy="266700"/>
          </a:xfrm>
          <a:prstGeom prst="rect">
            <a:avLst/>
          </a:prstGeom>
          <a:noFill/>
        </p:spPr>
        <p:txBody>
          <a:bodyPr wrap="square" lIns="45720" tIns="91440" rIns="91440" bIns="45720" rtlCol="0" anchor="ctr"/>
          <a:lstStyle/>
          <a:p>
            <a:pPr>
              <a:lnSpc>
                <a:spcPct val="100000"/>
              </a:lnSpc>
            </a:pPr>
            <a:endParaRPr lang="en-US" sz="1600" dirty="0"/>
          </a:p>
        </p:txBody>
      </p:sp>
      <p:sp>
        <p:nvSpPr>
          <p:cNvPr id="10" name="Text 7"/>
          <p:cNvSpPr/>
          <p:nvPr/>
        </p:nvSpPr>
        <p:spPr>
          <a:xfrm>
            <a:off x="595630" y="525145"/>
            <a:ext cx="7004685" cy="562570"/>
          </a:xfrm>
          <a:prstGeom prst="rect">
            <a:avLst/>
          </a:prstGeom>
          <a:noFill/>
        </p:spPr>
        <p:txBody>
          <a:bodyPr wrap="square" lIns="91440" tIns="45720" rIns="91440" bIns="45720" rtlCol="0" anchor="t">
            <a:spAutoFit/>
          </a:bodyPr>
          <a:lstStyle/>
          <a:p>
            <a:pPr>
              <a:lnSpc>
                <a:spcPct val="100000"/>
              </a:lnSpc>
            </a:pPr>
            <a:r>
              <a:rPr lang="en-US" sz="3600" b="1" dirty="0">
                <a:solidFill>
                  <a:srgbClr val="015DBB"/>
                </a:solidFill>
                <a:latin typeface="MiSans" pitchFamily="34" charset="-122"/>
                <a:ea typeface="MiSans" pitchFamily="34" charset="-122"/>
                <a:cs typeface="MiSans" pitchFamily="34" charset="-120"/>
              </a:rPr>
              <a:t>项目成果回顾</a:t>
            </a:r>
            <a:endParaRPr lang="en-US" sz="1600" dirty="0"/>
          </a:p>
        </p:txBody>
      </p:sp>
      <p:pic>
        <p:nvPicPr>
          <p:cNvPr id="11" name="Image 1" descr="https://kimi-img.moonshot.cn/pub/slides/slides_tmpl/image/25-09-08-12:55:42-d2v63jlnfo2stf9dk4rg.png"/>
          <p:cNvPicPr>
            <a:picLocks noChangeAspect="1"/>
          </p:cNvPicPr>
          <p:nvPr/>
        </p:nvPicPr>
        <p:blipFill>
          <a:blip r:embed="rId5"/>
          <a:stretch>
            <a:fillRect/>
          </a:stretch>
        </p:blipFill>
        <p:spPr>
          <a:xfrm>
            <a:off x="15240" y="487045"/>
            <a:ext cx="579755" cy="652145"/>
          </a:xfrm>
          <a:prstGeom prst="rect">
            <a:avLst/>
          </a:prstGeom>
        </p:spPr>
      </p:pic>
      <p:sp>
        <p:nvSpPr>
          <p:cNvPr id="12" name="Text 8"/>
          <p:cNvSpPr/>
          <p:nvPr>
            <p:custDataLst>
              <p:tags r:id="rId6"/>
            </p:custDataLst>
          </p:nvPr>
        </p:nvSpPr>
        <p:spPr>
          <a:xfrm>
            <a:off x="1296670" y="1524635"/>
            <a:ext cx="5775960" cy="276225"/>
          </a:xfrm>
          <a:prstGeom prst="rect">
            <a:avLst/>
          </a:prstGeom>
          <a:noFill/>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122"/>
                <a:ea typeface="MiSans" pitchFamily="34" charset="-122"/>
                <a:cs typeface="MiSans" pitchFamily="34" charset="-120"/>
              </a:rPr>
              <a:t>风格迁移成果</a:t>
            </a:r>
            <a:endParaRPr lang="en-US" sz="1600" dirty="0"/>
          </a:p>
        </p:txBody>
      </p:sp>
      <p:sp>
        <p:nvSpPr>
          <p:cNvPr id="13" name="Text 9"/>
          <p:cNvSpPr/>
          <p:nvPr>
            <p:custDataLst>
              <p:tags r:id="rId7"/>
            </p:custDataLst>
          </p:nvPr>
        </p:nvSpPr>
        <p:spPr>
          <a:xfrm>
            <a:off x="1296670" y="1859915"/>
            <a:ext cx="5775960" cy="506016"/>
          </a:xfrm>
          <a:prstGeom prst="rect">
            <a:avLst/>
          </a:prstGeom>
          <a:noFill/>
        </p:spPr>
        <p:txBody>
          <a:bodyPr wrap="square" lIns="91440" tIns="45720" rIns="91440" bIns="45720" rtlCol="0" anchor="t">
            <a:spAutoFit/>
          </a:bodyPr>
          <a:lstStyle/>
          <a:p>
            <a:pPr algn="just">
              <a:lnSpc>
                <a:spcPct val="100000"/>
              </a:lnSpc>
            </a:pPr>
            <a:r>
              <a:rPr lang="en-US" sz="1400" dirty="0">
                <a:solidFill>
                  <a:schemeClr val="tx1"/>
                </a:solidFill>
                <a:latin typeface="MiSans" pitchFamily="34" charset="-122"/>
                <a:ea typeface="MiSans" pitchFamily="34" charset="-122"/>
                <a:cs typeface="MiSans" pitchFamily="34" charset="-120"/>
              </a:rPr>
              <a:t>完成基于VGG19和三项损失函数的神经艺术风格迁移，实现内容与风格的有效融合，并上线可交互的WebDemo</a:t>
            </a:r>
            <a:r>
              <a:rPr lang="en-US" sz="1400" dirty="0">
                <a:solidFill>
                  <a:srgbClr val="404040"/>
                </a:solidFill>
                <a:latin typeface="MiSans" pitchFamily="34" charset="-122"/>
                <a:ea typeface="MiSans" pitchFamily="34" charset="-122"/>
                <a:cs typeface="MiSans" pitchFamily="34" charset="-120"/>
              </a:rPr>
              <a:t>。</a:t>
            </a:r>
            <a:endParaRPr lang="en-US" sz="1600" dirty="0"/>
          </a:p>
        </p:txBody>
      </p:sp>
      <p:sp>
        <p:nvSpPr>
          <p:cNvPr id="14" name="Text 10"/>
          <p:cNvSpPr/>
          <p:nvPr>
            <p:custDataLst>
              <p:tags r:id="rId8"/>
            </p:custDataLst>
          </p:nvPr>
        </p:nvSpPr>
        <p:spPr>
          <a:xfrm>
            <a:off x="1296670" y="3166110"/>
            <a:ext cx="5775960" cy="276225"/>
          </a:xfrm>
          <a:prstGeom prst="rect">
            <a:avLst/>
          </a:prstGeom>
          <a:noFill/>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122"/>
                <a:ea typeface="MiSans" pitchFamily="34" charset="-122"/>
                <a:cs typeface="MiSans" pitchFamily="34" charset="-120"/>
              </a:rPr>
              <a:t>时序预测成果</a:t>
            </a:r>
            <a:endParaRPr lang="en-US" sz="1600" dirty="0"/>
          </a:p>
        </p:txBody>
      </p:sp>
      <p:sp>
        <p:nvSpPr>
          <p:cNvPr id="15" name="Text 11"/>
          <p:cNvSpPr/>
          <p:nvPr>
            <p:custDataLst>
              <p:tags r:id="rId9"/>
            </p:custDataLst>
          </p:nvPr>
        </p:nvSpPr>
        <p:spPr>
          <a:xfrm>
            <a:off x="1296670" y="3501390"/>
            <a:ext cx="5775960" cy="506016"/>
          </a:xfrm>
          <a:prstGeom prst="rect">
            <a:avLst/>
          </a:prstGeom>
          <a:noFill/>
        </p:spPr>
        <p:txBody>
          <a:bodyPr wrap="square" lIns="91440" tIns="45720" rIns="91440" bIns="45720" rtlCol="0" anchor="t">
            <a:spAutoFit/>
          </a:bodyPr>
          <a:lstStyle/>
          <a:p>
            <a:pPr algn="just">
              <a:lnSpc>
                <a:spcPct val="100000"/>
              </a:lnSpc>
            </a:pPr>
            <a:r>
              <a:rPr lang="en-US" sz="1400" dirty="0">
                <a:solidFill>
                  <a:schemeClr val="tx1"/>
                </a:solidFill>
                <a:latin typeface="MiSans" pitchFamily="34" charset="-122"/>
                <a:ea typeface="MiSans" pitchFamily="34" charset="-122"/>
                <a:cs typeface="MiSans" pitchFamily="34" charset="-120"/>
              </a:rPr>
              <a:t>构建LSTM与Transformer双轨预测模型，在零滞后特征条件下取得Kaggle竞赛Top15%的成绩</a:t>
            </a:r>
            <a:r>
              <a:rPr lang="en-US" sz="1400" dirty="0">
                <a:solidFill>
                  <a:srgbClr val="404040"/>
                </a:solidFill>
                <a:latin typeface="MiSans" pitchFamily="34" charset="-122"/>
                <a:ea typeface="MiSans" pitchFamily="34" charset="-122"/>
                <a:cs typeface="MiSans" pitchFamily="34" charset="-120"/>
              </a:rPr>
              <a:t>。</a:t>
            </a:r>
            <a:endParaRPr lang="en-US" sz="1600" dirty="0"/>
          </a:p>
        </p:txBody>
      </p:sp>
      <p:sp>
        <p:nvSpPr>
          <p:cNvPr id="16" name="Text 12"/>
          <p:cNvSpPr/>
          <p:nvPr>
            <p:custDataLst>
              <p:tags r:id="rId10"/>
            </p:custDataLst>
          </p:nvPr>
        </p:nvSpPr>
        <p:spPr>
          <a:xfrm>
            <a:off x="1296670" y="4807585"/>
            <a:ext cx="5775960" cy="368300"/>
          </a:xfrm>
          <a:prstGeom prst="rect">
            <a:avLst/>
          </a:prstGeom>
          <a:noFill/>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122"/>
                <a:ea typeface="MiSans" pitchFamily="34" charset="-122"/>
                <a:cs typeface="MiSans" pitchFamily="34" charset="-120"/>
              </a:rPr>
              <a:t>cyclegan成果</a:t>
            </a:r>
            <a:endParaRPr lang="en-US" sz="1600" dirty="0"/>
          </a:p>
        </p:txBody>
      </p:sp>
      <p:sp>
        <p:nvSpPr>
          <p:cNvPr id="17" name="Text 13"/>
          <p:cNvSpPr/>
          <p:nvPr>
            <p:custDataLst>
              <p:tags r:id="rId11"/>
            </p:custDataLst>
          </p:nvPr>
        </p:nvSpPr>
        <p:spPr>
          <a:xfrm>
            <a:off x="1296670" y="5142865"/>
            <a:ext cx="5775960" cy="521970"/>
          </a:xfrm>
          <a:prstGeom prst="rect">
            <a:avLst/>
          </a:prstGeom>
          <a:noFill/>
        </p:spPr>
        <p:txBody>
          <a:bodyPr wrap="square" lIns="91440" tIns="45720" rIns="91440" bIns="45720" rtlCol="0" anchor="t">
            <a:spAutoFit/>
          </a:bodyPr>
          <a:lstStyle/>
          <a:p>
            <a:pPr algn="just">
              <a:lnSpc>
                <a:spcPct val="100000"/>
              </a:lnSpc>
            </a:pPr>
            <a:r>
              <a:rPr lang="en-US" sz="1400" dirty="0">
                <a:solidFill>
                  <a:schemeClr val="tx1"/>
                </a:solidFill>
                <a:latin typeface="MiSans" pitchFamily="34" charset="-122"/>
                <a:ea typeface="MiSans" pitchFamily="34" charset="-122"/>
                <a:cs typeface="MiSans" pitchFamily="34" charset="-120"/>
                <a:sym typeface="+mn-ea"/>
              </a:rPr>
              <a:t>从数据处理到模型部署的完整深度学习系统 ,支持莫奈、吉卜力、新海诚三种艺术风格转换</a:t>
            </a:r>
            <a:r>
              <a:rPr lang="en-US" sz="1400" dirty="0">
                <a:solidFill>
                  <a:schemeClr val="tx1"/>
                </a:solidFill>
                <a:latin typeface="MiSans" pitchFamily="34" charset="-122"/>
                <a:ea typeface="MiSans" pitchFamily="34" charset="-122"/>
                <a:cs typeface="MiSans" pitchFamily="34" charset="-120"/>
              </a:rPr>
              <a:t>。</a:t>
            </a:r>
            <a:endParaRPr lang="en-US" sz="1400" dirty="0">
              <a:solidFill>
                <a:schemeClr val="tx1"/>
              </a:solidFill>
              <a:latin typeface="MiSans" pitchFamily="34" charset="-122"/>
              <a:ea typeface="MiSans" pitchFamily="34" charset="-122"/>
              <a:cs typeface="MiSans" pitchFamily="34" charset="-120"/>
            </a:endParaRPr>
          </a:p>
        </p:txBody>
      </p:sp>
      <p:pic>
        <p:nvPicPr>
          <p:cNvPr id="18" name="Image 2" descr="https://kimi-img.moonshot.cn/pub/slides/slides_tmpl/image/25-09-08-12:55:57-d2v63ndnfo2stf9dk540.png"/>
          <p:cNvPicPr>
            <a:picLocks noChangeAspect="1"/>
          </p:cNvPicPr>
          <p:nvPr/>
        </p:nvPicPr>
        <p:blipFill>
          <a:blip r:embed="rId12"/>
          <a:srcRect t="22162"/>
          <a:stretch>
            <a:fillRect/>
          </a:stretch>
        </p:blipFill>
        <p:spPr>
          <a:xfrm>
            <a:off x="7449820" y="1800860"/>
            <a:ext cx="3402965" cy="2649220"/>
          </a:xfrm>
          <a:prstGeom prst="rect">
            <a:avLst/>
          </a:prstGeom>
        </p:spPr>
      </p:pic>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8-12:55:50-d2v63llnfo2stf9dk520.png"/>
          <p:cNvPicPr>
            <a:picLocks noChangeAspect="1"/>
          </p:cNvPicPr>
          <p:nvPr>
            <p:custDataLst>
              <p:tags r:id="rId1"/>
            </p:custDataLst>
          </p:nvPr>
        </p:nvPicPr>
        <p:blipFill>
          <a:blip r:embed="rId2"/>
          <a:stretch>
            <a:fillRect/>
          </a:stretch>
        </p:blipFill>
        <p:spPr>
          <a:xfrm>
            <a:off x="15240" y="1807210"/>
            <a:ext cx="3752215" cy="3234690"/>
          </a:xfrm>
          <a:prstGeom prst="rect">
            <a:avLst/>
          </a:prstGeom>
        </p:spPr>
      </p:pic>
      <p:sp>
        <p:nvSpPr>
          <p:cNvPr id="3" name="Text 0"/>
          <p:cNvSpPr/>
          <p:nvPr/>
        </p:nvSpPr>
        <p:spPr>
          <a:xfrm>
            <a:off x="595630" y="525145"/>
            <a:ext cx="7004685" cy="562570"/>
          </a:xfrm>
          <a:prstGeom prst="rect">
            <a:avLst/>
          </a:prstGeom>
          <a:noFill/>
        </p:spPr>
        <p:txBody>
          <a:bodyPr wrap="square" lIns="91440" tIns="45720" rIns="91440" bIns="45720" rtlCol="0" anchor="t">
            <a:spAutoFit/>
          </a:bodyPr>
          <a:lstStyle/>
          <a:p>
            <a:pPr>
              <a:lnSpc>
                <a:spcPct val="100000"/>
              </a:lnSpc>
            </a:pPr>
            <a:r>
              <a:rPr lang="en-US" sz="3600" b="1" dirty="0">
                <a:solidFill>
                  <a:srgbClr val="015DBB"/>
                </a:solidFill>
                <a:latin typeface="MiSans" pitchFamily="34" charset="-122"/>
                <a:ea typeface="MiSans" pitchFamily="34" charset="-122"/>
                <a:cs typeface="MiSans" pitchFamily="34" charset="-120"/>
              </a:rPr>
              <a:t>未来迭代方向</a:t>
            </a:r>
            <a:endParaRPr lang="en-US" sz="1600" dirty="0"/>
          </a:p>
        </p:txBody>
      </p:sp>
      <p:pic>
        <p:nvPicPr>
          <p:cNvPr id="4" name="Image 1" descr="https://kimi-img.moonshot.cn/pub/slides/slides_tmpl/image/25-09-08-12:55:42-d2v63jlnfo2stf9dk4rg.png"/>
          <p:cNvPicPr>
            <a:picLocks noChangeAspect="1"/>
          </p:cNvPicPr>
          <p:nvPr/>
        </p:nvPicPr>
        <p:blipFill>
          <a:blip r:embed="rId3"/>
          <a:stretch>
            <a:fillRect/>
          </a:stretch>
        </p:blipFill>
        <p:spPr>
          <a:xfrm>
            <a:off x="15240" y="487045"/>
            <a:ext cx="579755" cy="652145"/>
          </a:xfrm>
          <a:prstGeom prst="rect">
            <a:avLst/>
          </a:prstGeom>
        </p:spPr>
      </p:pic>
      <p:pic>
        <p:nvPicPr>
          <p:cNvPr id="5" name="Image 2" descr="https://kimi-img.moonshot.cn/pub/slides/slides_tmpl/image/25-09-08-12:55:50-d2v63llnfo2stf9dk520.png"/>
          <p:cNvPicPr>
            <a:picLocks noChangeAspect="1"/>
          </p:cNvPicPr>
          <p:nvPr>
            <p:custDataLst>
              <p:tags r:id="rId4"/>
            </p:custDataLst>
          </p:nvPr>
        </p:nvPicPr>
        <p:blipFill>
          <a:blip r:embed="rId2"/>
          <a:stretch>
            <a:fillRect/>
          </a:stretch>
        </p:blipFill>
        <p:spPr>
          <a:xfrm>
            <a:off x="4117340" y="1819910"/>
            <a:ext cx="3737610" cy="3221990"/>
          </a:xfrm>
          <a:prstGeom prst="rect">
            <a:avLst/>
          </a:prstGeom>
        </p:spPr>
      </p:pic>
      <p:sp>
        <p:nvSpPr>
          <p:cNvPr id="6" name="Text 1"/>
          <p:cNvSpPr/>
          <p:nvPr>
            <p:custDataLst>
              <p:tags r:id="rId5"/>
            </p:custDataLst>
          </p:nvPr>
        </p:nvSpPr>
        <p:spPr>
          <a:xfrm>
            <a:off x="-329565" y="2190115"/>
            <a:ext cx="4243070" cy="460375"/>
          </a:xfrm>
          <a:prstGeom prst="rect">
            <a:avLst/>
          </a:prstGeom>
          <a:noFill/>
        </p:spPr>
        <p:txBody>
          <a:bodyPr wrap="square" lIns="91440" tIns="45720" rIns="91440" bIns="45720" rtlCol="0" anchor="t">
            <a:spAutoFit/>
          </a:bodyPr>
          <a:lstStyle/>
          <a:p>
            <a:pPr algn="ctr">
              <a:lnSpc>
                <a:spcPct val="100000"/>
              </a:lnSpc>
            </a:pPr>
            <a:r>
              <a:rPr lang="en-US" sz="2400" b="1" dirty="0">
                <a:solidFill>
                  <a:srgbClr val="000000"/>
                </a:solidFill>
                <a:latin typeface="MiSans" pitchFamily="34" charset="-122"/>
                <a:ea typeface="MiSans" pitchFamily="34" charset="-122"/>
                <a:cs typeface="MiSans" pitchFamily="34" charset="-120"/>
              </a:rPr>
              <a:t>风格迁移改进</a:t>
            </a:r>
            <a:endParaRPr lang="en-US" sz="1600" dirty="0"/>
          </a:p>
        </p:txBody>
      </p:sp>
      <p:sp>
        <p:nvSpPr>
          <p:cNvPr id="7" name="Text 2"/>
          <p:cNvSpPr/>
          <p:nvPr>
            <p:custDataLst>
              <p:tags r:id="rId6"/>
            </p:custDataLst>
          </p:nvPr>
        </p:nvSpPr>
        <p:spPr>
          <a:xfrm>
            <a:off x="241935" y="3057525"/>
            <a:ext cx="3300730" cy="1177925"/>
          </a:xfrm>
          <a:prstGeom prst="rect">
            <a:avLst/>
          </a:prstGeom>
          <a:noFill/>
        </p:spPr>
        <p:txBody>
          <a:bodyPr wrap="square" lIns="91440" tIns="45720" rIns="91440" bIns="45720" rtlCol="0" anchor="t">
            <a:noAutofit/>
          </a:bodyPr>
          <a:lstStyle/>
          <a:p>
            <a:pPr algn="just">
              <a:lnSpc>
                <a:spcPct val="150000"/>
              </a:lnSpc>
            </a:pPr>
            <a:r>
              <a:rPr lang="en-US" sz="1600" dirty="0">
                <a:solidFill>
                  <a:srgbClr val="404040"/>
                </a:solidFill>
                <a:latin typeface="MiSans" pitchFamily="34" charset="-122"/>
                <a:ea typeface="MiSans" pitchFamily="34" charset="-122"/>
                <a:cs typeface="MiSans" pitchFamily="34" charset="-120"/>
              </a:rPr>
              <a:t>引入前馈网络实现视频风格化，加入语义分割掩码保持人脸等关键区域不漂移，提升风格迁移的实用性和稳定性。</a:t>
            </a:r>
            <a:endParaRPr lang="en-US" sz="1600" dirty="0"/>
          </a:p>
        </p:txBody>
      </p:sp>
      <p:sp>
        <p:nvSpPr>
          <p:cNvPr id="8" name="Text 3"/>
          <p:cNvSpPr/>
          <p:nvPr>
            <p:custDataLst>
              <p:tags r:id="rId7"/>
            </p:custDataLst>
          </p:nvPr>
        </p:nvSpPr>
        <p:spPr>
          <a:xfrm>
            <a:off x="3898900" y="2190115"/>
            <a:ext cx="3955415" cy="460375"/>
          </a:xfrm>
          <a:prstGeom prst="rect">
            <a:avLst/>
          </a:prstGeom>
          <a:noFill/>
        </p:spPr>
        <p:txBody>
          <a:bodyPr wrap="square" lIns="91440" tIns="45720" rIns="91440" bIns="45720" rtlCol="0" anchor="t">
            <a:spAutoFit/>
          </a:bodyPr>
          <a:lstStyle/>
          <a:p>
            <a:pPr algn="ctr">
              <a:lnSpc>
                <a:spcPct val="100000"/>
              </a:lnSpc>
            </a:pPr>
            <a:r>
              <a:rPr lang="en-US" sz="2400" b="1" dirty="0">
                <a:solidFill>
                  <a:srgbClr val="000000"/>
                </a:solidFill>
                <a:latin typeface="MiSans" pitchFamily="34" charset="-122"/>
                <a:ea typeface="MiSans" pitchFamily="34" charset="-122"/>
                <a:cs typeface="MiSans" pitchFamily="34" charset="-120"/>
              </a:rPr>
              <a:t>时序预测改进</a:t>
            </a:r>
            <a:endParaRPr lang="en-US" sz="1600" dirty="0"/>
          </a:p>
        </p:txBody>
      </p:sp>
      <p:sp>
        <p:nvSpPr>
          <p:cNvPr id="9" name="Text 4"/>
          <p:cNvSpPr/>
          <p:nvPr>
            <p:custDataLst>
              <p:tags r:id="rId8"/>
            </p:custDataLst>
          </p:nvPr>
        </p:nvSpPr>
        <p:spPr>
          <a:xfrm>
            <a:off x="4291330" y="3057525"/>
            <a:ext cx="3323590" cy="1347470"/>
          </a:xfrm>
          <a:prstGeom prst="rect">
            <a:avLst/>
          </a:prstGeom>
          <a:noFill/>
        </p:spPr>
        <p:txBody>
          <a:bodyPr wrap="square" lIns="91440" tIns="45720" rIns="91440" bIns="45720" rtlCol="0" anchor="t">
            <a:noAutofit/>
          </a:bodyPr>
          <a:lstStyle/>
          <a:p>
            <a:pPr algn="just">
              <a:lnSpc>
                <a:spcPct val="150000"/>
              </a:lnSpc>
            </a:pPr>
            <a:r>
              <a:rPr lang="en-US" sz="1600" dirty="0">
                <a:solidFill>
                  <a:srgbClr val="404040"/>
                </a:solidFill>
                <a:latin typeface="MiSans" pitchFamily="34" charset="-122"/>
                <a:ea typeface="MiSans" pitchFamily="34" charset="-122"/>
                <a:cs typeface="MiSans" pitchFamily="34" charset="-120"/>
              </a:rPr>
              <a:t>引入PatchTST或TimeMixer等新型Transformer变体，接入更多外生变量，提升模型在长程依赖建模和复杂场景下的预测能力。</a:t>
            </a:r>
            <a:endParaRPr lang="en-US" sz="1600" dirty="0"/>
          </a:p>
        </p:txBody>
      </p:sp>
      <p:pic>
        <p:nvPicPr>
          <p:cNvPr id="10" name="Image 2" descr="https://kimi-img.moonshot.cn/pub/slides/slides_tmpl/image/25-09-08-12:55:50-d2v63llnfo2stf9dk520.png"/>
          <p:cNvPicPr>
            <a:picLocks noChangeAspect="1"/>
          </p:cNvPicPr>
          <p:nvPr>
            <p:custDataLst>
              <p:tags r:id="rId9"/>
            </p:custDataLst>
          </p:nvPr>
        </p:nvPicPr>
        <p:blipFill>
          <a:blip r:embed="rId2"/>
          <a:stretch>
            <a:fillRect/>
          </a:stretch>
        </p:blipFill>
        <p:spPr>
          <a:xfrm>
            <a:off x="8192135" y="1819910"/>
            <a:ext cx="3750945" cy="3234055"/>
          </a:xfrm>
          <a:prstGeom prst="rect">
            <a:avLst/>
          </a:prstGeom>
        </p:spPr>
      </p:pic>
      <p:sp>
        <p:nvSpPr>
          <p:cNvPr id="11" name="文本框 10"/>
          <p:cNvSpPr txBox="1"/>
          <p:nvPr/>
        </p:nvSpPr>
        <p:spPr>
          <a:xfrm>
            <a:off x="8964295" y="2190115"/>
            <a:ext cx="5587365" cy="460375"/>
          </a:xfrm>
          <a:prstGeom prst="rect">
            <a:avLst/>
          </a:prstGeom>
          <a:noFill/>
        </p:spPr>
        <p:txBody>
          <a:bodyPr wrap="square" rtlCol="0" anchor="t">
            <a:spAutoFit/>
          </a:bodyPr>
          <a:p>
            <a:pPr algn="l"/>
            <a:r>
              <a:rPr lang="en-US" sz="2400" b="1" dirty="0">
                <a:solidFill>
                  <a:srgbClr val="000000"/>
                </a:solidFill>
                <a:latin typeface="MiSans" pitchFamily="34" charset="-122"/>
                <a:ea typeface="MiSans" pitchFamily="34" charset="-122"/>
                <a:cs typeface="MiSans" pitchFamily="34" charset="-120"/>
                <a:sym typeface="+mn-ea"/>
              </a:rPr>
              <a:t>cyclegan改进</a:t>
            </a:r>
            <a:endParaRPr lang="en-US" altLang="en-US" sz="2400" b="1" dirty="0">
              <a:solidFill>
                <a:srgbClr val="000000"/>
              </a:solidFill>
              <a:latin typeface="MiSans" pitchFamily="34" charset="-122"/>
              <a:ea typeface="MiSans" pitchFamily="34" charset="-122"/>
              <a:cs typeface="MiSans" pitchFamily="34" charset="-120"/>
              <a:sym typeface="+mn-ea"/>
            </a:endParaRPr>
          </a:p>
        </p:txBody>
      </p:sp>
      <p:sp>
        <p:nvSpPr>
          <p:cNvPr id="12" name="文本框 11"/>
          <p:cNvSpPr txBox="1"/>
          <p:nvPr/>
        </p:nvSpPr>
        <p:spPr>
          <a:xfrm>
            <a:off x="8429625" y="3123565"/>
            <a:ext cx="3350895" cy="1513205"/>
          </a:xfrm>
          <a:prstGeom prst="rect">
            <a:avLst/>
          </a:prstGeom>
          <a:noFill/>
        </p:spPr>
        <p:txBody>
          <a:bodyPr wrap="square" rtlCol="0" anchor="t">
            <a:noAutofit/>
          </a:bodyPr>
          <a:p>
            <a:pPr algn="just">
              <a:lnSpc>
                <a:spcPct val="140000"/>
              </a:lnSpc>
            </a:pPr>
            <a:r>
              <a:rPr lang="zh-CN" altLang="en-US" sz="1600" dirty="0">
                <a:solidFill>
                  <a:schemeClr val="tx1"/>
                </a:solidFill>
                <a:latin typeface="MiSans" pitchFamily="34" charset="-122"/>
                <a:ea typeface="MiSans" pitchFamily="34" charset="-122"/>
                <a:cs typeface="MiSans" pitchFamily="34" charset="-120"/>
                <a:sym typeface="+mn-ea"/>
              </a:rPr>
              <a:t>引入</a:t>
            </a:r>
            <a:r>
              <a:rPr lang="en-US" sz="1600" dirty="0">
                <a:solidFill>
                  <a:schemeClr val="tx1"/>
                </a:solidFill>
                <a:latin typeface="MiSans" pitchFamily="34" charset="-122"/>
                <a:ea typeface="MiSans" pitchFamily="34" charset="-122"/>
                <a:cs typeface="MiSans" pitchFamily="34" charset="-120"/>
                <a:sym typeface="+mn-ea"/>
              </a:rPr>
              <a:t>高分辨率生成技术，优化图像细节质量</a:t>
            </a:r>
            <a:r>
              <a:rPr lang="zh-CN" altLang="en-US" sz="1600" dirty="0">
                <a:solidFill>
                  <a:schemeClr val="tx1"/>
                </a:solidFill>
                <a:latin typeface="MiSans" pitchFamily="34" charset="-122"/>
                <a:ea typeface="MiSans" pitchFamily="34" charset="-122"/>
                <a:cs typeface="MiSans" pitchFamily="34" charset="-120"/>
                <a:sym typeface="+mn-ea"/>
              </a:rPr>
              <a:t>，</a:t>
            </a:r>
            <a:r>
              <a:rPr lang="en-US" sz="1600" dirty="0">
                <a:solidFill>
                  <a:schemeClr val="tx1"/>
                </a:solidFill>
                <a:latin typeface="MiSans" pitchFamily="34" charset="-122"/>
                <a:ea typeface="MiSans" pitchFamily="34" charset="-122"/>
                <a:cs typeface="MiSans" pitchFamily="34" charset="-120"/>
                <a:sym typeface="+mn-ea"/>
              </a:rPr>
              <a:t>将技术拓展到视频领域，实现动态风格转换</a:t>
            </a:r>
            <a:r>
              <a:rPr lang="zh-CN" altLang="en-US" sz="1600" dirty="0">
                <a:solidFill>
                  <a:schemeClr val="tx1"/>
                </a:solidFill>
                <a:latin typeface="MiSans" pitchFamily="34" charset="-122"/>
                <a:ea typeface="MiSans" pitchFamily="34" charset="-122"/>
                <a:cs typeface="MiSans" pitchFamily="34" charset="-120"/>
                <a:sym typeface="+mn-ea"/>
              </a:rPr>
              <a:t>。</a:t>
            </a:r>
            <a:endParaRPr lang="en-US" sz="1600" dirty="0"/>
          </a:p>
          <a:p>
            <a:pPr algn="just"/>
            <a:endParaRPr lang="zh-CN" altLang="en-US" sz="1600" dirty="0">
              <a:solidFill>
                <a:schemeClr val="tx1"/>
              </a:solidFill>
              <a:latin typeface="MiSans" pitchFamily="34" charset="-122"/>
              <a:ea typeface="MiSans" pitchFamily="34" charset="-122"/>
              <a:cs typeface="MiSans" pitchFamily="34" charset="-120"/>
              <a:sym typeface="+mn-ea"/>
            </a:endParaRP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8-12:55:42-d2v63jlnfo2stf9dk4s0.jpg"/>
          <p:cNvPicPr>
            <a:picLocks noChangeAspect="1"/>
          </p:cNvPicPr>
          <p:nvPr/>
        </p:nvPicPr>
        <p:blipFill>
          <a:blip r:embed="rId1"/>
          <a:srcRect l="6625" t="8858" r="11055" b="15857"/>
          <a:stretch>
            <a:fillRect/>
          </a:stretch>
        </p:blipFill>
        <p:spPr>
          <a:xfrm rot="21600000">
            <a:off x="-21590" y="0"/>
            <a:ext cx="12213590" cy="6870700"/>
          </a:xfrm>
          <a:prstGeom prst="rect">
            <a:avLst/>
          </a:prstGeom>
        </p:spPr>
      </p:pic>
      <p:sp>
        <p:nvSpPr>
          <p:cNvPr id="3" name="Text 0"/>
          <p:cNvSpPr/>
          <p:nvPr/>
        </p:nvSpPr>
        <p:spPr>
          <a:xfrm>
            <a:off x="613410" y="2195830"/>
            <a:ext cx="7026275" cy="1353741"/>
          </a:xfrm>
          <a:prstGeom prst="rect">
            <a:avLst/>
          </a:prstGeom>
          <a:noFill/>
        </p:spPr>
        <p:txBody>
          <a:bodyPr wrap="square" lIns="91440" tIns="45720" rIns="91440" bIns="45720" rtlCol="0" anchor="t">
            <a:spAutoFit/>
          </a:bodyPr>
          <a:lstStyle/>
          <a:p>
            <a:pPr algn="just">
              <a:lnSpc>
                <a:spcPct val="100000"/>
              </a:lnSpc>
            </a:pPr>
            <a:r>
              <a:rPr lang="en-US" sz="8800" dirty="0">
                <a:solidFill>
                  <a:srgbClr val="015DBB"/>
                </a:solidFill>
                <a:latin typeface="MiSans" pitchFamily="34" charset="-122"/>
                <a:ea typeface="MiSans" pitchFamily="34" charset="-122"/>
                <a:cs typeface="MiSans" pitchFamily="34" charset="-120"/>
              </a:rPr>
              <a:t>感谢您的观看</a:t>
            </a:r>
            <a:endParaRPr lang="en-US" sz="1600" dirty="0"/>
          </a:p>
        </p:txBody>
      </p:sp>
      <p:sp>
        <p:nvSpPr>
          <p:cNvPr id="4" name="Text 1"/>
          <p:cNvSpPr/>
          <p:nvPr/>
        </p:nvSpPr>
        <p:spPr>
          <a:xfrm>
            <a:off x="770890" y="3501390"/>
            <a:ext cx="4716780" cy="368300"/>
          </a:xfrm>
          <a:prstGeom prst="rect">
            <a:avLst/>
          </a:prstGeom>
          <a:noFill/>
        </p:spPr>
        <p:txBody>
          <a:bodyPr wrap="square" lIns="91440" tIns="45720" rIns="91440" bIns="45720" rtlCol="0" anchor="t">
            <a:spAutoFit/>
          </a:bodyPr>
          <a:lstStyle/>
          <a:p>
            <a:pPr algn="just">
              <a:lnSpc>
                <a:spcPct val="100000"/>
              </a:lnSpc>
            </a:pPr>
            <a:r>
              <a:rPr lang="en-US" sz="2400" dirty="0">
                <a:solidFill>
                  <a:srgbClr val="015DBB"/>
                </a:solidFill>
                <a:latin typeface="MiSans" pitchFamily="34" charset="-122"/>
                <a:ea typeface="MiSans" pitchFamily="34" charset="-122"/>
                <a:cs typeface="MiSans" pitchFamily="34" charset="-120"/>
              </a:rPr>
              <a:t>THANK YOU FOR WATCHING</a:t>
            </a:r>
            <a:endParaRPr lang="en-US" sz="1600" dirty="0"/>
          </a:p>
        </p:txBody>
      </p:sp>
      <p:pic>
        <p:nvPicPr>
          <p:cNvPr id="5" name="Image 1" descr="https://kimi-img.moonshot.cn/pub/slides/slides_tmpl/image/25-09-08-12:55:40-d2v63j5nfo2stf9dk4m0.png"/>
          <p:cNvPicPr>
            <a:picLocks noChangeAspect="1"/>
          </p:cNvPicPr>
          <p:nvPr/>
        </p:nvPicPr>
        <p:blipFill>
          <a:blip r:embed="rId2"/>
          <a:stretch>
            <a:fillRect/>
          </a:stretch>
        </p:blipFill>
        <p:spPr>
          <a:xfrm>
            <a:off x="758190" y="1730375"/>
            <a:ext cx="6468110" cy="298450"/>
          </a:xfrm>
          <a:prstGeom prst="rect">
            <a:avLst/>
          </a:prstGeom>
        </p:spPr>
      </p:pic>
      <p:sp>
        <p:nvSpPr>
          <p:cNvPr id="6" name="Shape 2"/>
          <p:cNvSpPr/>
          <p:nvPr/>
        </p:nvSpPr>
        <p:spPr>
          <a:xfrm>
            <a:off x="863600" y="4795520"/>
            <a:ext cx="2179320" cy="502920"/>
          </a:xfrm>
          <a:prstGeom prst="roundRect">
            <a:avLst>
              <a:gd name="adj" fmla="val 50000"/>
            </a:avLst>
          </a:prstGeom>
          <a:solidFill>
            <a:srgbClr val="015DBB"/>
          </a:solidFill>
        </p:spPr>
      </p:sp>
      <p:sp>
        <p:nvSpPr>
          <p:cNvPr id="7" name="Text 3"/>
          <p:cNvSpPr/>
          <p:nvPr/>
        </p:nvSpPr>
        <p:spPr>
          <a:xfrm>
            <a:off x="863600" y="4795520"/>
            <a:ext cx="2179320" cy="502920"/>
          </a:xfrm>
          <a:prstGeom prst="rect">
            <a:avLst/>
          </a:prstGeom>
          <a:noFill/>
        </p:spPr>
        <p:txBody>
          <a:bodyPr wrap="square" lIns="45720" tIns="91440" rIns="91440" bIns="45720" rtlCol="0" anchor="ctr"/>
          <a:lstStyle/>
          <a:p>
            <a:pPr>
              <a:lnSpc>
                <a:spcPct val="100000"/>
              </a:lnSpc>
            </a:pPr>
            <a:endParaRPr lang="en-US" sz="1600" dirty="0"/>
          </a:p>
        </p:txBody>
      </p:sp>
      <p:sp>
        <p:nvSpPr>
          <p:cNvPr id="8" name="Text 4"/>
          <p:cNvSpPr/>
          <p:nvPr/>
        </p:nvSpPr>
        <p:spPr>
          <a:xfrm>
            <a:off x="828675" y="4847590"/>
            <a:ext cx="2249805" cy="398780"/>
          </a:xfrm>
          <a:prstGeom prst="rect">
            <a:avLst/>
          </a:prstGeom>
          <a:noFill/>
        </p:spPr>
        <p:txBody>
          <a:bodyPr wrap="square" lIns="91440" tIns="45720" rIns="91440" bIns="45720" rtlCol="0" anchor="t">
            <a:spAutoFit/>
          </a:bodyPr>
          <a:lstStyle/>
          <a:p>
            <a:pPr algn="ctr">
              <a:lnSpc>
                <a:spcPct val="100000"/>
              </a:lnSpc>
            </a:pPr>
            <a:r>
              <a:rPr lang="en-US" sz="2000" b="1" dirty="0">
                <a:solidFill>
                  <a:srgbClr val="FFFFFF"/>
                </a:solidFill>
                <a:latin typeface="MiSans" pitchFamily="34" charset="-122"/>
                <a:ea typeface="MiSans" pitchFamily="34" charset="-122"/>
                <a:cs typeface="MiSans" pitchFamily="34" charset="-120"/>
              </a:rPr>
              <a:t>汇报人:</a:t>
            </a:r>
            <a:r>
              <a:rPr lang="zh-CN" altLang="en-US" sz="2000" b="1" dirty="0">
                <a:solidFill>
                  <a:srgbClr val="FFFFFF"/>
                </a:solidFill>
                <a:latin typeface="MiSans" pitchFamily="34" charset="-122"/>
                <a:ea typeface="MiSans" pitchFamily="34" charset="-122"/>
                <a:cs typeface="MiSans" pitchFamily="34" charset="-120"/>
              </a:rPr>
              <a:t>郑林郁</a:t>
            </a:r>
            <a:endParaRPr lang="zh-CN" altLang="en-US" sz="2000" b="1" dirty="0">
              <a:solidFill>
                <a:srgbClr val="FFFFFF"/>
              </a:solidFill>
              <a:latin typeface="MiSans" pitchFamily="34" charset="-122"/>
              <a:ea typeface="MiSans" pitchFamily="34" charset="-122"/>
              <a:cs typeface="MiSans" pitchFamily="34" charset="-120"/>
            </a:endParaRPr>
          </a:p>
        </p:txBody>
      </p:sp>
      <p:sp>
        <p:nvSpPr>
          <p:cNvPr id="9" name="Shape 5"/>
          <p:cNvSpPr/>
          <p:nvPr/>
        </p:nvSpPr>
        <p:spPr>
          <a:xfrm>
            <a:off x="3519170" y="4795520"/>
            <a:ext cx="2179320" cy="502920"/>
          </a:xfrm>
          <a:prstGeom prst="roundRect">
            <a:avLst>
              <a:gd name="adj" fmla="val 50000"/>
            </a:avLst>
          </a:prstGeom>
          <a:solidFill>
            <a:srgbClr val="015DBB"/>
          </a:solidFill>
        </p:spPr>
      </p:sp>
      <p:sp>
        <p:nvSpPr>
          <p:cNvPr id="10" name="Text 6"/>
          <p:cNvSpPr/>
          <p:nvPr/>
        </p:nvSpPr>
        <p:spPr>
          <a:xfrm>
            <a:off x="3519170" y="4795520"/>
            <a:ext cx="2179320" cy="502920"/>
          </a:xfrm>
          <a:prstGeom prst="rect">
            <a:avLst/>
          </a:prstGeom>
          <a:noFill/>
        </p:spPr>
        <p:txBody>
          <a:bodyPr wrap="square" lIns="45720" tIns="91440" rIns="91440" bIns="45720" rtlCol="0" anchor="ctr"/>
          <a:lstStyle/>
          <a:p>
            <a:pPr>
              <a:lnSpc>
                <a:spcPct val="100000"/>
              </a:lnSpc>
            </a:pPr>
            <a:endParaRPr lang="en-US" sz="1600" dirty="0"/>
          </a:p>
        </p:txBody>
      </p:sp>
      <p:sp>
        <p:nvSpPr>
          <p:cNvPr id="11" name="Text 7"/>
          <p:cNvSpPr/>
          <p:nvPr/>
        </p:nvSpPr>
        <p:spPr>
          <a:xfrm>
            <a:off x="3484245" y="4847590"/>
            <a:ext cx="2249805" cy="398780"/>
          </a:xfrm>
          <a:prstGeom prst="rect">
            <a:avLst/>
          </a:prstGeom>
          <a:noFill/>
        </p:spPr>
        <p:txBody>
          <a:bodyPr wrap="square" lIns="91440" tIns="45720" rIns="91440" bIns="45720" rtlCol="0" anchor="t">
            <a:spAutoFit/>
          </a:bodyPr>
          <a:lstStyle/>
          <a:p>
            <a:pPr algn="ctr">
              <a:lnSpc>
                <a:spcPct val="100000"/>
              </a:lnSpc>
            </a:pPr>
            <a:r>
              <a:rPr lang="en-US" sz="2000" b="1" dirty="0">
                <a:solidFill>
                  <a:srgbClr val="FFFFFF"/>
                </a:solidFill>
                <a:latin typeface="MiSans" pitchFamily="34" charset="-122"/>
                <a:ea typeface="MiSans" pitchFamily="34" charset="-122"/>
                <a:cs typeface="MiSans" pitchFamily="34" charset="-120"/>
              </a:rPr>
              <a:t>时间:2025/12/27</a:t>
            </a:r>
            <a:endParaRPr lang="en-US" sz="1600" dirty="0"/>
          </a:p>
        </p:txBody>
      </p:sp>
      <p:pic>
        <p:nvPicPr>
          <p:cNvPr id="12" name="Image 2" descr="https://kimi-img.moonshot.cn/pub/slides/slides_tmpl/image/25-09-08-12:55:57-d2v63ndnfo2stf9dk540.png"/>
          <p:cNvPicPr>
            <a:picLocks noChangeAspect="1"/>
          </p:cNvPicPr>
          <p:nvPr/>
        </p:nvPicPr>
        <p:blipFill>
          <a:blip r:embed="rId3"/>
          <a:srcRect t="22162"/>
          <a:stretch>
            <a:fillRect/>
          </a:stretch>
        </p:blipFill>
        <p:spPr>
          <a:xfrm>
            <a:off x="7364095" y="1974850"/>
            <a:ext cx="4268470" cy="3323590"/>
          </a:xfrm>
          <a:prstGeom prst="rect">
            <a:avLst/>
          </a:prstGeom>
        </p:spPr>
      </p:pic>
    </p:spTree>
  </p:cSld>
  <p:clrMapOvr>
    <a:masterClrMapping/>
  </p:clrMapOvr>
  <p:transition>
    <p:fade/>
  </p:transition>
</p:sld>
</file>

<file path=ppt/tags/tag1.xml><?xml version="1.0" encoding="utf-8"?>
<p:tagLst xmlns:p="http://schemas.openxmlformats.org/presentationml/2006/main">
  <p:tag name="KSO_WM_DIAGRAM_VIRTUALLY_FRAME" val="{&quot;height&quot;:39.6,&quot;left&quot;:272.1,&quot;top&quot;:348.35,&quot;width&quot;:396.95}"/>
</p:tagLst>
</file>

<file path=ppt/tags/tag2.xml><?xml version="1.0" encoding="utf-8"?>
<p:tagLst xmlns:p="http://schemas.openxmlformats.org/presentationml/2006/main">
  <p:tag name="KSO_WM_DIAGRAM_VIRTUALLY_FRAME" val="{&quot;height&quot;:39.6,&quot;left&quot;:272.1,&quot;top&quot;:348.35,&quot;width&quot;:396.95}"/>
</p:tagLst>
</file>

<file path=ppt/tags/tag3.xml><?xml version="1.0" encoding="utf-8"?>
<p:tagLst xmlns:p="http://schemas.openxmlformats.org/presentationml/2006/main">
  <p:tag name="KSO_WM_DIAGRAM_VIRTUALLY_FRAME" val="{&quot;height&quot;:39.6,&quot;left&quot;:272.1,&quot;top&quot;:348.35,&quot;width&quot;:396.95}"/>
</p:tagLst>
</file>

<file path=ppt/tags/tag4.xml><?xml version="1.0" encoding="utf-8"?>
<p:tagLst xmlns:p="http://schemas.openxmlformats.org/presentationml/2006/main">
  <p:tag name="KSO_WM_DIAGRAM_VIRTUALLY_FRAME" val="{&quot;height&quot;:39.6,&quot;left&quot;:272.1,&quot;top&quot;:348.35,&quot;width&quot;:396.95}"/>
</p:tagLst>
</file>

<file path=ppt/tags/tag5.xml><?xml version="1.0" encoding="utf-8"?>
<p:tagLst xmlns:p="http://schemas.openxmlformats.org/presentationml/2006/main">
  <p:tag name="KSO_WM_DIAGRAM_VIRTUALLY_FRAME" val="{&quot;height&quot;:381.3,&quot;left&quot;:155.9,&quot;top&quot;:147.35,&quot;width&quot;:629.5}"/>
</p:tagLst>
</file>

<file path=ppt/tags/tag6.xml><?xml version="1.0" encoding="utf-8"?>
<p:tagLst xmlns:p="http://schemas.openxmlformats.org/presentationml/2006/main">
  <p:tag name="KSO_WM_DIAGRAM_VIRTUALLY_FRAME" val="{&quot;height&quot;:381.3,&quot;left&quot;:155.9,&quot;top&quot;:147.35,&quot;width&quot;:629.5}"/>
</p:tagLst>
</file>

<file path=ppt/tags/tag7.xml><?xml version="1.0" encoding="utf-8"?>
<p:tagLst xmlns:p="http://schemas.openxmlformats.org/presentationml/2006/main">
  <p:tag name="KSO_WM_DIAGRAM_VIRTUALLY_FRAME" val="{&quot;height&quot;:381.3,&quot;left&quot;:155.9,&quot;top&quot;:147.35,&quot;width&quot;:629.5}"/>
</p:tagLst>
</file>

<file path=ppt/tags/tag8.xml><?xml version="1.0" encoding="utf-8"?>
<p:tagLst xmlns:p="http://schemas.openxmlformats.org/presentationml/2006/main">
  <p:tag name="KSO_WM_DIAGRAM_VIRTUALLY_FRAME" val="{&quot;height&quot;:381.3,&quot;left&quot;:155.9,&quot;top&quot;:147.35,&quot;width&quot;:629.5}"/>
</p:tagLst>
</file>

<file path=ppt/tags/tag9.xml><?xml version="1.0" encoding="utf-8"?>
<p:tagLst xmlns:p="http://schemas.openxmlformats.org/presentationml/2006/main">
  <p:tag name="KSO_WM_DIAGRAM_VIRTUALLY_FRAME" val="{&quot;height&quot;:381.3,&quot;left&quot;:155.9,&quot;top&quot;:147.35,&quot;width&quot;:629.5}"/>
</p:tagLst>
</file>

<file path=ppt/tags/tag10.xml><?xml version="1.0" encoding="utf-8"?>
<p:tagLst xmlns:p="http://schemas.openxmlformats.org/presentationml/2006/main">
  <p:tag name="KSO_WM_DIAGRAM_VIRTUALLY_FRAME" val="{&quot;height&quot;:381.3,&quot;left&quot;:155.9,&quot;top&quot;:147.35,&quot;width&quot;:629.5}"/>
</p:tagLst>
</file>

<file path=ppt/tags/tag11.xml><?xml version="1.0" encoding="utf-8"?>
<p:tagLst xmlns:p="http://schemas.openxmlformats.org/presentationml/2006/main">
  <p:tag name="KSO_WM_DIAGRAM_VIRTUALLY_FRAME" val="{&quot;height&quot;:381.3,&quot;left&quot;:155.9,&quot;top&quot;:147.35,&quot;width&quot;:629.5}"/>
</p:tagLst>
</file>

<file path=ppt/tags/tag12.xml><?xml version="1.0" encoding="utf-8"?>
<p:tagLst xmlns:p="http://schemas.openxmlformats.org/presentationml/2006/main">
  <p:tag name="KSO_WM_DIAGRAM_VIRTUALLY_FRAME" val="{&quot;height&quot;:381.3,&quot;left&quot;:155.9,&quot;top&quot;:147.35,&quot;width&quot;:629.5}"/>
</p:tagLst>
</file>

<file path=ppt/tags/tag13.xml><?xml version="1.0" encoding="utf-8"?>
<p:tagLst xmlns:p="http://schemas.openxmlformats.org/presentationml/2006/main">
  <p:tag name="KSO_WM_DIAGRAM_VIRTUALLY_FRAME" val="{&quot;height&quot;:381.3,&quot;left&quot;:155.9,&quot;top&quot;:147.35,&quot;width&quot;:629.5}"/>
</p:tagLst>
</file>

<file path=ppt/tags/tag14.xml><?xml version="1.0" encoding="utf-8"?>
<p:tagLst xmlns:p="http://schemas.openxmlformats.org/presentationml/2006/main">
  <p:tag name="KSO_WM_DIAGRAM_VIRTUALLY_FRAME" val="{&quot;height&quot;:381.3,&quot;left&quot;:155.9,&quot;top&quot;:147.35,&quot;width&quot;:629.5}"/>
</p:tagLst>
</file>

<file path=ppt/tags/tag15.xml><?xml version="1.0" encoding="utf-8"?>
<p:tagLst xmlns:p="http://schemas.openxmlformats.org/presentationml/2006/main">
  <p:tag name="wpp_generatetext" val="1"/>
</p:tagLst>
</file>

<file path=ppt/tags/tag16.xml><?xml version="1.0" encoding="utf-8"?>
<p:tagLst xmlns:p="http://schemas.openxmlformats.org/presentationml/2006/main">
  <p:tag name="wpp_generatetext" val="1"/>
</p:tagLst>
</file>

<file path=ppt/tags/tag17.xml><?xml version="1.0" encoding="utf-8"?>
<p:tagLst xmlns:p="http://schemas.openxmlformats.org/presentationml/2006/main">
  <p:tag name="wpp_generatetext" val="1"/>
</p:tagLst>
</file>

<file path=ppt/tags/tag18.xml><?xml version="1.0" encoding="utf-8"?>
<p:tagLst xmlns:p="http://schemas.openxmlformats.org/presentationml/2006/main">
  <p:tag name="wpp_generatetext" val="1"/>
</p:tagLst>
</file>

<file path=ppt/tags/tag19.xml><?xml version="1.0" encoding="utf-8"?>
<p:tagLst xmlns:p="http://schemas.openxmlformats.org/presentationml/2006/main">
  <p:tag name="wpp_generatetext" val="1"/>
</p:tagLst>
</file>

<file path=ppt/tags/tag20.xml><?xml version="1.0" encoding="utf-8"?>
<p:tagLst xmlns:p="http://schemas.openxmlformats.org/presentationml/2006/main">
  <p:tag name="KSO_WM_DIAGRAM_VIRTUALLY_FRAME" val="{&quot;height&quot;:447.01535433070865,&quot;left&quot;:29.55385826771653,&quot;top&quot;:272.98464566929135,&quot;width&quot;:482.4461417322835}"/>
</p:tagLst>
</file>

<file path=ppt/tags/tag21.xml><?xml version="1.0" encoding="utf-8"?>
<p:tagLst xmlns:p="http://schemas.openxmlformats.org/presentationml/2006/main">
  <p:tag name="KSO_WM_DIAGRAM_VIRTUALLY_FRAME" val="{&quot;height&quot;:447.01535433070865,&quot;left&quot;:29.55385826771653,&quot;top&quot;:272.98464566929135,&quot;width&quot;:482.4461417322835}"/>
</p:tagLst>
</file>

<file path=ppt/tags/tag22.xml><?xml version="1.0" encoding="utf-8"?>
<p:tagLst xmlns:p="http://schemas.openxmlformats.org/presentationml/2006/main">
  <p:tag name="KSO_WM_DIAGRAM_VIRTUALLY_FRAME" val="{&quot;height&quot;:447.01535433070865,&quot;left&quot;:29.55385826771653,&quot;top&quot;:272.98464566929135,&quot;width&quot;:482.4461417322835}"/>
</p:tagLst>
</file>

<file path=ppt/tags/tag23.xml><?xml version="1.0" encoding="utf-8"?>
<p:tagLst xmlns:p="http://schemas.openxmlformats.org/presentationml/2006/main">
  <p:tag name="KSO_WM_DIAGRAM_VIRTUALLY_FRAME" val="{&quot;height&quot;:447.01535433070865,&quot;left&quot;:29.55385826771653,&quot;top&quot;:272.98464566929135,&quot;width&quot;:482.4461417322835}"/>
</p:tagLst>
</file>

<file path=ppt/tags/tag24.xml><?xml version="1.0" encoding="utf-8"?>
<p:tagLst xmlns:p="http://schemas.openxmlformats.org/presentationml/2006/main">
  <p:tag name="KSO_WM_DIAGRAM_VIRTUALLY_FRAME" val="{&quot;height&quot;:447.01535433070865,&quot;left&quot;:29.55385826771653,&quot;top&quot;:272.98464566929135,&quot;width&quot;:482.4461417322835}"/>
</p:tagLst>
</file>

<file path=ppt/tags/tag25.xml><?xml version="1.0" encoding="utf-8"?>
<p:tagLst xmlns:p="http://schemas.openxmlformats.org/presentationml/2006/main">
  <p:tag name="KSO_WM_DIAGRAM_VIRTUALLY_FRAME" val="{&quot;height&quot;:447.01535433070865,&quot;left&quot;:29.55385826771653,&quot;top&quot;:272.98464566929135,&quot;width&quot;:482.4461417322835}"/>
</p:tagLst>
</file>

<file path=ppt/tags/tag26.xml><?xml version="1.0" encoding="utf-8"?>
<p:tagLst xmlns:p="http://schemas.openxmlformats.org/presentationml/2006/main">
  <p:tag name="KSO_WM_DIAGRAM_VIRTUALLY_FRAME" val="{&quot;height&quot;:447.01535433070865,&quot;left&quot;:29.55385826771653,&quot;top&quot;:272.98464566929135,&quot;width&quot;:482.4461417322835}"/>
</p:tagLst>
</file>

<file path=ppt/tags/tag27.xml><?xml version="1.0" encoding="utf-8"?>
<p:tagLst xmlns:p="http://schemas.openxmlformats.org/presentationml/2006/main">
  <p:tag name="KSO_WM_DIAGRAM_VIRTUALLY_FRAME" val="{&quot;height&quot;:447.01535433070865,&quot;left&quot;:29.55385826771653,&quot;top&quot;:272.98464566929135,&quot;width&quot;:482.4461417322835}"/>
</p:tagLst>
</file>

<file path=ppt/tags/tag28.xml><?xml version="1.0" encoding="utf-8"?>
<p:tagLst xmlns:p="http://schemas.openxmlformats.org/presentationml/2006/main">
  <p:tag name="KSO_WM_DIAGRAM_VIRTUALLY_FRAME" val="{&quot;height&quot;:447.01535433070865,&quot;left&quot;:29.55385826771653,&quot;top&quot;:272.98464566929135,&quot;width&quot;:482.4461417322835}"/>
</p:tagLst>
</file>

<file path=ppt/tags/tag29.xml><?xml version="1.0" encoding="utf-8"?>
<p:tagLst xmlns:p="http://schemas.openxmlformats.org/presentationml/2006/main">
  <p:tag name="KSO_WM_DIAGRAM_VIRTUALLY_FRAME" val="{&quot;height&quot;:392.92228346456693,&quot;left&quot;:36.03220472440945,&quot;top&quot;:171.58173228346456,&quot;width&quot;:1209.4584251968504}"/>
</p:tagLst>
</file>

<file path=ppt/tags/tag30.xml><?xml version="1.0" encoding="utf-8"?>
<p:tagLst xmlns:p="http://schemas.openxmlformats.org/presentationml/2006/main">
  <p:tag name="KSO_WM_DIAGRAM_VIRTUALLY_FRAME" val="{&quot;height&quot;:392.92228346456693,&quot;left&quot;:36.03220472440945,&quot;top&quot;:171.58173228346456,&quot;width&quot;:1209.4584251968504}"/>
</p:tagLst>
</file>

<file path=ppt/tags/tag31.xml><?xml version="1.0" encoding="utf-8"?>
<p:tagLst xmlns:p="http://schemas.openxmlformats.org/presentationml/2006/main">
  <p:tag name="KSO_WM_DIAGRAM_VIRTUALLY_FRAME" val="{&quot;height&quot;:392.92228346456693,&quot;left&quot;:36.03220472440945,&quot;top&quot;:171.58173228346456,&quot;width&quot;:1209.4584251968504}"/>
</p:tagLst>
</file>

<file path=ppt/tags/tag32.xml><?xml version="1.0" encoding="utf-8"?>
<p:tagLst xmlns:p="http://schemas.openxmlformats.org/presentationml/2006/main">
  <p:tag name="KSO_WM_DIAGRAM_VIRTUALLY_FRAME" val="{&quot;height&quot;:392.92228346456693,&quot;left&quot;:36.03220472440945,&quot;top&quot;:171.58173228346456,&quot;width&quot;:1209.4584251968504}"/>
</p:tagLst>
</file>

<file path=ppt/tags/tag33.xml><?xml version="1.0" encoding="utf-8"?>
<p:tagLst xmlns:p="http://schemas.openxmlformats.org/presentationml/2006/main">
  <p:tag name="KSO_WM_DIAGRAM_VIRTUALLY_FRAME" val="{&quot;height&quot;:392.92228346456693,&quot;left&quot;:36.03220472440945,&quot;top&quot;:171.58173228346456,&quot;width&quot;:1209.4584251968504}"/>
</p:tagLst>
</file>

<file path=ppt/tags/tag34.xml><?xml version="1.0" encoding="utf-8"?>
<p:tagLst xmlns:p="http://schemas.openxmlformats.org/presentationml/2006/main">
  <p:tag name="KSO_WM_DIAGRAM_VIRTUALLY_FRAME" val="{&quot;height&quot;:392.92228346456693,&quot;left&quot;:36.03220472440945,&quot;top&quot;:171.58173228346456,&quot;width&quot;:1209.4584251968504}"/>
</p:tagLst>
</file>

<file path=ppt/tags/tag35.xml><?xml version="1.0" encoding="utf-8"?>
<p:tagLst xmlns:p="http://schemas.openxmlformats.org/presentationml/2006/main">
  <p:tag name="KSO_WM_DIAGRAM_VIRTUALLY_FRAME" val="{&quot;height&quot;:392.92228346456693,&quot;left&quot;:36.03220472440945,&quot;top&quot;:171.58173228346456,&quot;width&quot;:1209.4584251968504}"/>
</p:tagLst>
</file>

<file path=ppt/tags/tag36.xml><?xml version="1.0" encoding="utf-8"?>
<p:tagLst xmlns:p="http://schemas.openxmlformats.org/presentationml/2006/main">
  <p:tag name="KSO_WM_DIAGRAM_VIRTUALLY_FRAME" val="{&quot;height&quot;:392.92228346456693,&quot;left&quot;:36.03220472440945,&quot;top&quot;:171.58173228346456,&quot;width&quot;:1209.4584251968504}"/>
</p:tagLst>
</file>

<file path=ppt/tags/tag37.xml><?xml version="1.0" encoding="utf-8"?>
<p:tagLst xmlns:p="http://schemas.openxmlformats.org/presentationml/2006/main">
  <p:tag name="KSO_WM_DIAGRAM_VIRTUALLY_FRAME" val="{&quot;height&quot;:365.85,&quot;left&quot;:70.7,&quot;top&quot;:120.05,&quot;width&quot;:486.2}"/>
</p:tagLst>
</file>

<file path=ppt/tags/tag38.xml><?xml version="1.0" encoding="utf-8"?>
<p:tagLst xmlns:p="http://schemas.openxmlformats.org/presentationml/2006/main">
  <p:tag name="KSO_WM_DIAGRAM_VIRTUALLY_FRAME" val="{&quot;height&quot;:365.85,&quot;left&quot;:70.7,&quot;top&quot;:120.05,&quot;width&quot;:486.2}"/>
</p:tagLst>
</file>

<file path=ppt/tags/tag39.xml><?xml version="1.0" encoding="utf-8"?>
<p:tagLst xmlns:p="http://schemas.openxmlformats.org/presentationml/2006/main">
  <p:tag name="KSO_WM_DIAGRAM_VIRTUALLY_FRAME" val="{&quot;height&quot;:365.85,&quot;left&quot;:70.7,&quot;top&quot;:120.05,&quot;width&quot;:486.2}"/>
</p:tagLst>
</file>

<file path=ppt/tags/tag40.xml><?xml version="1.0" encoding="utf-8"?>
<p:tagLst xmlns:p="http://schemas.openxmlformats.org/presentationml/2006/main">
  <p:tag name="KSO_WM_DIAGRAM_VIRTUALLY_FRAME" val="{&quot;height&quot;:365.85,&quot;left&quot;:70.7,&quot;top&quot;:120.05,&quot;width&quot;:486.2}"/>
</p:tagLst>
</file>

<file path=ppt/tags/tag41.xml><?xml version="1.0" encoding="utf-8"?>
<p:tagLst xmlns:p="http://schemas.openxmlformats.org/presentationml/2006/main">
  <p:tag name="KSO_WM_DIAGRAM_VIRTUALLY_FRAME" val="{&quot;height&quot;:365.85,&quot;left&quot;:70.7,&quot;top&quot;:120.05,&quot;width&quot;:486.2}"/>
</p:tagLst>
</file>

<file path=ppt/tags/tag42.xml><?xml version="1.0" encoding="utf-8"?>
<p:tagLst xmlns:p="http://schemas.openxmlformats.org/presentationml/2006/main">
  <p:tag name="KSO_WM_DIAGRAM_VIRTUALLY_FRAME" val="{&quot;height&quot;:365.85,&quot;left&quot;:70.7,&quot;top&quot;:120.05,&quot;width&quot;:486.2}"/>
</p:tagLst>
</file>

<file path=ppt/tags/tag43.xml><?xml version="1.0" encoding="utf-8"?>
<p:tagLst xmlns:p="http://schemas.openxmlformats.org/presentationml/2006/main">
  <p:tag name="KSO_WM_DIAGRAM_VIRTUALLY_FRAME" val="{&quot;height&quot;:365.85,&quot;left&quot;:70.7,&quot;top&quot;:120.05,&quot;width&quot;:486.2}"/>
</p:tagLst>
</file>

<file path=ppt/tags/tag44.xml><?xml version="1.0" encoding="utf-8"?>
<p:tagLst xmlns:p="http://schemas.openxmlformats.org/presentationml/2006/main">
  <p:tag name="KSO_WM_DIAGRAM_VIRTUALLY_FRAME" val="{&quot;height&quot;:365.85,&quot;left&quot;:70.7,&quot;top&quot;:120.05,&quot;width&quot;:486.2}"/>
</p:tagLst>
</file>

<file path=ppt/tags/tag45.xml><?xml version="1.0" encoding="utf-8"?>
<p:tagLst xmlns:p="http://schemas.openxmlformats.org/presentationml/2006/main">
  <p:tag name="KSO_WM_DIAGRAM_VIRTUALLY_FRAME" val="{&quot;height&quot;:365.85,&quot;left&quot;:70.7,&quot;top&quot;:120.05,&quot;width&quot;:486.2}"/>
</p:tagLst>
</file>

<file path=ppt/tags/tag46.xml><?xml version="1.0" encoding="utf-8"?>
<p:tagLst xmlns:p="http://schemas.openxmlformats.org/presentationml/2006/main">
  <p:tag name="KSO_WM_DIAGRAM_VIRTUALLY_FRAME" val="{&quot;height&quot;:365.85,&quot;left&quot;:70.7,&quot;top&quot;:120.05,&quot;width&quot;:486.2}"/>
</p:tagLst>
</file>

<file path=ppt/tags/tag47.xml><?xml version="1.0" encoding="utf-8"?>
<p:tagLst xmlns:p="http://schemas.openxmlformats.org/presentationml/2006/main">
  <p:tag name="KSO_WM_DIAGRAM_VIRTUALLY_FRAME" val="{&quot;height&quot;:332.65,&quot;left&quot;:-25.95,&quot;top&quot;:142.3,&quot;width&quot;:908.55}"/>
</p:tagLst>
</file>

<file path=ppt/tags/tag48.xml><?xml version="1.0" encoding="utf-8"?>
<p:tagLst xmlns:p="http://schemas.openxmlformats.org/presentationml/2006/main">
  <p:tag name="KSO_WM_DIAGRAM_VIRTUALLY_FRAME" val="{&quot;height&quot;:332.65,&quot;left&quot;:-25.95,&quot;top&quot;:142.3,&quot;width&quot;:908.55}"/>
</p:tagLst>
</file>

<file path=ppt/tags/tag49.xml><?xml version="1.0" encoding="utf-8"?>
<p:tagLst xmlns:p="http://schemas.openxmlformats.org/presentationml/2006/main">
  <p:tag name="KSO_WM_DIAGRAM_VIRTUALLY_FRAME" val="{&quot;height&quot;:332.65,&quot;left&quot;:-25.95,&quot;top&quot;:142.3,&quot;width&quot;:908.55}"/>
</p:tagLst>
</file>

<file path=ppt/tags/tag50.xml><?xml version="1.0" encoding="utf-8"?>
<p:tagLst xmlns:p="http://schemas.openxmlformats.org/presentationml/2006/main">
  <p:tag name="KSO_WM_DIAGRAM_VIRTUALLY_FRAME" val="{&quot;height&quot;:332.65,&quot;left&quot;:-25.95,&quot;top&quot;:142.3,&quot;width&quot;:908.55}"/>
</p:tagLst>
</file>

<file path=ppt/tags/tag51.xml><?xml version="1.0" encoding="utf-8"?>
<p:tagLst xmlns:p="http://schemas.openxmlformats.org/presentationml/2006/main">
  <p:tag name="KSO_WM_DIAGRAM_VIRTUALLY_FRAME" val="{&quot;height&quot;:332.65,&quot;left&quot;:-25.95,&quot;top&quot;:142.3,&quot;width&quot;:908.55}"/>
</p:tagLst>
</file>

<file path=ppt/tags/tag52.xml><?xml version="1.0" encoding="utf-8"?>
<p:tagLst xmlns:p="http://schemas.openxmlformats.org/presentationml/2006/main">
  <p:tag name="KSO_WM_DIAGRAM_VIRTUALLY_FRAME" val="{&quot;height&quot;:332.65,&quot;left&quot;:-25.95,&quot;top&quot;:142.3,&quot;width&quot;:908.55}"/>
</p:tagLst>
</file>

<file path=ppt/tags/tag53.xml><?xml version="1.0" encoding="utf-8"?>
<p:tagLst xmlns:p="http://schemas.openxmlformats.org/presentationml/2006/main">
  <p:tag name="KSO_WM_DIAGRAM_VIRTUALLY_FRAME" val="{&quot;height&quot;:332.65,&quot;left&quot;:1.2,&quot;top&quot;:142.3,&quot;width&quot;:881.4}"/>
</p:tagLst>
</file>

<file path=ppt/theme/theme1.xml><?xml version="1.0" encoding="utf-8"?>
<a:theme xmlns:a="http://schemas.openxmlformats.org/drawingml/2006/main" name="Custom Theme">
  <a:themeElements>
    <a:clrScheme name="Custom">
      <a:dk1>
        <a:srgbClr val="000000"/>
      </a:dk1>
      <a:lt1>
        <a:srgbClr val="FFFFFF"/>
      </a:lt1>
      <a:dk2>
        <a:srgbClr val="44546A"/>
      </a:dk2>
      <a:lt2>
        <a:srgbClr val="E7E6E6"/>
      </a:lt2>
      <a:accent1>
        <a:srgbClr val="1E46EB"/>
      </a:accent1>
      <a:accent2>
        <a:srgbClr val="1CA97E"/>
      </a:accent2>
      <a:accent3>
        <a:srgbClr val="5D91F0"/>
      </a:accent3>
      <a:accent4>
        <a:srgbClr val="000000"/>
      </a:accent4>
      <a:accent5>
        <a:srgbClr val="FFFFFF"/>
      </a:accent5>
      <a:accent6>
        <a:srgbClr val="FF9202"/>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Theme">
  <a:themeElements>
    <a:clrScheme name="Custom">
      <a:dk1>
        <a:srgbClr val="000000"/>
      </a:dk1>
      <a:lt1>
        <a:srgbClr val="FFFFFF"/>
      </a:lt1>
      <a:dk2>
        <a:srgbClr val="44546A"/>
      </a:dk2>
      <a:lt2>
        <a:srgbClr val="E7E6E6"/>
      </a:lt2>
      <a:accent1>
        <a:srgbClr val="1E46EB"/>
      </a:accent1>
      <a:accent2>
        <a:srgbClr val="1CA97E"/>
      </a:accent2>
      <a:accent3>
        <a:srgbClr val="5D91F0"/>
      </a:accent3>
      <a:accent4>
        <a:srgbClr val="000000"/>
      </a:accent4>
      <a:accent5>
        <a:srgbClr val="FFFFFF"/>
      </a:accent5>
      <a:accent6>
        <a:srgbClr val="FF9202"/>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Theme">
  <a:themeElements>
    <a:clrScheme name="Custom">
      <a:dk1>
        <a:srgbClr val="000000"/>
      </a:dk1>
      <a:lt1>
        <a:srgbClr val="FFFFFF"/>
      </a:lt1>
      <a:dk2>
        <a:srgbClr val="44546A"/>
      </a:dk2>
      <a:lt2>
        <a:srgbClr val="E7E6E6"/>
      </a:lt2>
      <a:accent1>
        <a:srgbClr val="1E46EB"/>
      </a:accent1>
      <a:accent2>
        <a:srgbClr val="1CA97E"/>
      </a:accent2>
      <a:accent3>
        <a:srgbClr val="5D91F0"/>
      </a:accent3>
      <a:accent4>
        <a:srgbClr val="000000"/>
      </a:accent4>
      <a:accent5>
        <a:srgbClr val="FFFFFF"/>
      </a:accent5>
      <a:accent6>
        <a:srgbClr val="FF9202"/>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3394</Words>
  <Application>WPS 演示</Application>
  <PresentationFormat>On-screen Show (16:9)</PresentationFormat>
  <Paragraphs>309</Paragraphs>
  <Slides>23</Slides>
  <Notes>18</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23</vt:i4>
      </vt:variant>
    </vt:vector>
  </HeadingPairs>
  <TitlesOfParts>
    <vt:vector size="39" baseType="lpstr">
      <vt:lpstr>Arial</vt:lpstr>
      <vt:lpstr>宋体</vt:lpstr>
      <vt:lpstr>Wingdings</vt:lpstr>
      <vt:lpstr>MiSans</vt:lpstr>
      <vt:lpstr>MiSans</vt:lpstr>
      <vt:lpstr>Calibri</vt:lpstr>
      <vt:lpstr>微软雅黑</vt:lpstr>
      <vt:lpstr>Arial Unicode MS</vt:lpstr>
      <vt:lpstr>等线</vt:lpstr>
      <vt:lpstr>汉仪正圆-75W</vt:lpstr>
      <vt:lpstr>Noto Sans SC</vt:lpstr>
      <vt:lpstr>Noto Sans SC</vt:lpstr>
      <vt:lpstr>BatangChe</vt:lpstr>
      <vt:lpstr>SWAstro</vt:lpstr>
      <vt:lpstr>Custom Theme</vt:lpstr>
      <vt:lpstr>1_Custom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深度学习实战：风格迁移×时序预测</dc:title>
  <dc:creator>Kimi</dc:creator>
  <dc:subject>深度学习实战：风格迁移×时序预测</dc:subject>
  <cp:lastModifiedBy>对方正在输入。。。</cp:lastModifiedBy>
  <cp:revision>6</cp:revision>
  <dcterms:created xsi:type="dcterms:W3CDTF">2025-12-18T06:42:00Z</dcterms:created>
  <dcterms:modified xsi:type="dcterms:W3CDTF">2025-12-25T12:49:05Z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{"Label":"深度学习实战：风格迁移×时序预测","ContentProducer":"001191110108MACG2KBH8F10000","ProduceID":"d51q3t2misdth3e8tp8g","ReservedCode1":"","ContentPropagator":"001191110108MACG2KBH8F20000","PropagateID":"d51q3t2misdth3e8tp8g","ReservedCode2":""}</vt:lpwstr>
  </property>
  <property fmtid="{D5CDD505-2E9C-101B-9397-08002B2CF9AE}" pid="3" name="KSOProductBuildVer">
    <vt:lpwstr>2052-12.1.0.24034</vt:lpwstr>
  </property>
  <property fmtid="{D5CDD505-2E9C-101B-9397-08002B2CF9AE}" pid="4" name="ICV">
    <vt:lpwstr>0DB42F255AA9492B95E3A0B1AA18249D_13</vt:lpwstr>
  </property>
</Properties>
</file>